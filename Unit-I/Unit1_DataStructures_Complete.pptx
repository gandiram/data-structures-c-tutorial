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302" r:id="rId3"/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1" r:id="rId4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4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</p:spPr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</p:spPr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</p:spPr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1650683"/>
            <a:ext cx="6172200" cy="769620"/>
          </a:xfrm>
        </p:spPr>
        <p:txBody>
          <a:bodyPr>
            <a:normAutofit/>
          </a:bodyPr>
          <a:lstStyle/>
          <a:p>
            <a:pPr algn="ctr"/>
            <a:r>
              <a:rPr lang="en-US" sz="222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UNIT1:Structures and Union Types</a:t>
            </a:r>
            <a:endParaRPr lang="en-US" sz="222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2423160"/>
            <a:ext cx="6172200" cy="2507933"/>
          </a:xfrm>
        </p:spPr>
        <p:txBody>
          <a:bodyPr/>
          <a:lstStyle/>
          <a:p>
            <a:pPr marL="0" indent="457200" algn="ctr">
              <a:buNone/>
            </a:pPr>
            <a:r>
              <a: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SUB:</a:t>
            </a: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ata Structures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ctr">
              <a:buNone/>
            </a:pP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Prepared by: G. Ramakrishna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ctr">
              <a:buNone/>
            </a:pP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Dept: CSE (AI &amp; ML)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ctr">
              <a:buNone/>
            </a:pP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AY: 2025–</a:t>
            </a:r>
            <a:r>
              <a: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20</a:t>
            </a: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26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 descr="GCET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0"/>
            <a:ext cx="6858476" cy="1315403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891B2"/>
          </a:solidFill>
        </p:spPr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365760"/>
            <a:ext cx="2560320" cy="2560320"/>
          </a:xfrm>
          <a:prstGeom prst="ellipse">
            <a:avLst/>
          </a:prstGeom>
          <a:solidFill>
            <a:srgbClr val="0D9488">
              <a:alpha val="18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286000"/>
            <a:ext cx="1645920" cy="1645920"/>
          </a:xfrm>
          <a:prstGeom prst="ellipse">
            <a:avLst/>
          </a:prstGeom>
          <a:solidFill>
            <a:srgbClr val="F59E0B">
              <a:alpha val="18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2651760"/>
            <a:ext cx="1097280" cy="1097280"/>
          </a:xfrm>
          <a:prstGeom prst="ellipse">
            <a:avLst/>
          </a:prstGeom>
          <a:solidFill>
            <a:srgbClr val="7C3AED">
              <a:alpha val="18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148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14B8A6"/>
                </a:solidFill>
              </a:rPr>
              <a:t>DATA STRUCTURES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25CS12001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5486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</a:rPr>
              <a:t>UNIT – 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59436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Structure &amp;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Union Types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B.Tech CSE (AIML) · I Year, II Semester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Geethanjali College of Engineering &amp; Technology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243B5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279392"/>
            <a:ext cx="80467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Topics: Structures · Unions · typedef · Enumerations · Bit Fields · Self-Referential Structures · Complex Numbers · Pointers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 I – Roadmap of Topics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What you will learn in this unit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" y="1024128"/>
            <a:ext cx="4297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1024128"/>
            <a:ext cx="50292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" y="1188720"/>
            <a:ext cx="4663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069848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User-Defined Structure Types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408176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struct keyword, members, declaration, initialization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36008" y="1024128"/>
            <a:ext cx="4297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36008" y="1024128"/>
            <a:ext cx="50292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4296" y="1188720"/>
            <a:ext cx="4663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30368" y="1069848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Structures as I/O Parameters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30368" y="1408176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Passing structs to functions, returning structs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37160" y="1828800"/>
            <a:ext cx="4297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37160" y="1828800"/>
            <a:ext cx="50292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" y="1993392"/>
            <a:ext cx="4663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1874520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Complex Structures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2212848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Nested structs, arrays of structures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36008" y="1828800"/>
            <a:ext cx="4297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36008" y="1828800"/>
            <a:ext cx="50292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54296" y="1993392"/>
            <a:ext cx="4663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30368" y="1874520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Complex Number Problems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30368" y="2212848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Add, subtract, multiply using struct – full example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37160" y="2633472"/>
            <a:ext cx="4297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37160" y="2633472"/>
            <a:ext cx="50292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448" y="2798064"/>
            <a:ext cx="4663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31520" y="2679192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Self-Referential Structures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301752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Pointer to same type – basis of linked lists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36008" y="2633472"/>
            <a:ext cx="4297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36008" y="2633472"/>
            <a:ext cx="50292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54296" y="2798064"/>
            <a:ext cx="4663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230368" y="2679192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Bit Fields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30368" y="301752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Memory-efficient packing of data into bits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37160" y="3438144"/>
            <a:ext cx="4297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37160" y="3438144"/>
            <a:ext cx="50292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5448" y="3602736"/>
            <a:ext cx="4663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07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31520" y="3483864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Union Types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1520" y="3822192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Shared memory location, memory savings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36008" y="3438144"/>
            <a:ext cx="4297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36008" y="3438144"/>
            <a:ext cx="50292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54296" y="3602736"/>
            <a:ext cx="4663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08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230368" y="3483864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typedef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30368" y="3822192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Creating clean aliases for readability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37160" y="4242816"/>
            <a:ext cx="4297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37160" y="4242816"/>
            <a:ext cx="50292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55448" y="4407408"/>
            <a:ext cx="4663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09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731520" y="4288536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Enumeration (enum)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31520" y="4626864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Named integer constants for clarity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36008" y="4242816"/>
            <a:ext cx="4297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36008" y="4242816"/>
            <a:ext cx="50292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54296" y="4407408"/>
            <a:ext cx="4663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10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5230368" y="4288536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Pointers to Structures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230368" y="4626864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dot vs arrow, dynamic allocation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 Structures Solve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Why do we need user-defined data types?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024128"/>
            <a:ext cx="4114800" cy="3931920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24128"/>
            <a:ext cx="411480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42416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WITHOUT Structures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1481328"/>
            <a:ext cx="3968496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481328"/>
            <a:ext cx="3968496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99616"/>
            <a:ext cx="378561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Messy – 5 students need 25 variables!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865376"/>
            <a:ext cx="3785616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char name1[30], name2[30], name3[30];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 roll1, roll2, roll3;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float cgpa1, cgpa2, cgpa3;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char branch1[20], branch2[20];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Hard to pass to functions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Hard to scale to 100 students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Very error-prone!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3840480"/>
            <a:ext cx="3968496" cy="914400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3913632"/>
            <a:ext cx="3785616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Problems:
</a:t>
            </a:r>
            <a:r>
              <a:rPr lang="en-US" sz="1050" dirty="0">
                <a:solidFill>
                  <a:srgbClr val="991B1B"/>
                </a:solidFill>
              </a:rPr>
              <a:t>No logical grouping · Hard to scale · Difficult to pass around · Error-prone index tracking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1024128"/>
            <a:ext cx="4343400" cy="3931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024128"/>
            <a:ext cx="43434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042416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WITH Structures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45152" y="1481328"/>
            <a:ext cx="4197096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5152" y="1481328"/>
            <a:ext cx="4197096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499616"/>
            <a:ext cx="401421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Clean – one type for all students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865376"/>
            <a:ext cx="4014216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Student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char  name[30];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int   rollno;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float cgpa;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char  branch[20];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One struct = one student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Student class[100];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Easily pass/return from functions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Scale to any number!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45152" y="3840480"/>
            <a:ext cx="4197096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3913632"/>
            <a:ext cx="4014216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Benefits:
</a:t>
            </a:r>
            <a:r>
              <a:rPr lang="en-US" sz="1050" dirty="0">
                <a:solidFill>
                  <a:srgbClr val="166534"/>
                </a:solidFill>
              </a:rPr>
              <a:t>Logical grouping · Easy to scale · Single argument to functions · Clean indexing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70585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Defining a Structure – Syntax &amp; Declaration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57531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The struct keyword and its three usage patterns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926973"/>
            <a:ext cx="877824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247"/>
            <a:ext cx="8503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</a:rPr>
              <a:t>Syntax: </a:t>
            </a:r>
            <a:r>
              <a:rPr lang="en-US" sz="1250" b="1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 </a:t>
            </a:r>
            <a:r>
              <a:rPr lang="en-US" sz="125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TagName</a:t>
            </a:r>
            <a:r>
              <a:rPr lang="en-US" sz="125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{  member declarations  };</a:t>
            </a:r>
            <a:r>
              <a:rPr lang="en-US" sz="1250" b="1" dirty="0">
                <a:solidFill>
                  <a:srgbClr val="1E293B"/>
                </a:solidFill>
              </a:rPr>
              <a:t>   then:  </a:t>
            </a:r>
            <a:r>
              <a:rPr lang="en-US" sz="125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TagName variableName;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82880" y="1449070"/>
            <a:ext cx="4206240" cy="2087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459865"/>
            <a:ext cx="4206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467358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Pattern 1 – Declare struct, then variable separately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1984248"/>
            <a:ext cx="402336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Point {       // struct keyword  TagName=Point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int x;             // member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int y;             // member 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                   // ← semicolon MANDATORY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Point p1;     // declare variable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Point p2;     // another variable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416685"/>
            <a:ext cx="4343400" cy="2194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438275"/>
            <a:ext cx="43434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499743"/>
            <a:ext cx="4160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Pattern 2 – Declare variable at definition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1941068"/>
            <a:ext cx="416052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Rectangle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float length;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float width;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rect1, rect2;      // variables declared here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rect1 and rect2 are struct Rectangle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You can ALSO declare more later: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Rectangle rect3;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886200"/>
            <a:ext cx="4206240" cy="1161288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3551555"/>
            <a:ext cx="42062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548253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Pattern 3 – Anonymous struct (no tag name)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193" y="4110228"/>
            <a:ext cx="4023360" cy="704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int hours;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int minutes;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int seconds;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time1, time2;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No tag name = can't declare more later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Good for one-time use only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3896995"/>
            <a:ext cx="434340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3594735"/>
            <a:ext cx="4343400" cy="329184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623818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Rules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4014470"/>
            <a:ext cx="4160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1. </a:t>
            </a:r>
            <a:r>
              <a:rPr lang="en-US" sz="1000" dirty="0">
                <a:solidFill>
                  <a:srgbClr val="1E293B"/>
                </a:solidFill>
              </a:rPr>
              <a:t>struct definition ends with  ;  (semicolon!)
</a:t>
            </a:r>
            <a:r>
              <a:rPr lang="en-US" sz="1000" b="1" dirty="0">
                <a:solidFill>
                  <a:srgbClr val="0D9488"/>
                </a:solidFill>
              </a:rPr>
              <a:t>2. </a:t>
            </a:r>
            <a:r>
              <a:rPr lang="en-US" sz="1000" dirty="0">
                <a:solidFill>
                  <a:srgbClr val="1E293B"/>
                </a:solidFill>
              </a:rPr>
              <a:t>Members can be any valid C type
</a:t>
            </a:r>
            <a:r>
              <a:rPr lang="en-US" sz="1000" b="1" dirty="0">
                <a:solidFill>
                  <a:srgbClr val="0D9488"/>
                </a:solidFill>
              </a:rPr>
              <a:t>3. </a:t>
            </a:r>
            <a:r>
              <a:rPr lang="en-US" sz="1000" dirty="0">
                <a:solidFill>
                  <a:srgbClr val="1E293B"/>
                </a:solidFill>
              </a:rPr>
              <a:t>No memory is allocated until a variable is declared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Initializing &amp; Accessing Structure Members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Three ways to set values, two ways to access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877824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51560"/>
            <a:ext cx="8778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069848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Method 1 – Initialize at declaration (like array)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435608"/>
            <a:ext cx="8595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Student s1 = {"Priya", 101, 9.5, "CS-AIML"};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Values must be in the SAME ORDER as members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name="Priya", rollno=101, cgpa=9.5, branch="CS-AIML"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2331720"/>
            <a:ext cx="877824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2331720"/>
            <a:ext cx="87782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350008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Method 2 – Member-by-member assignment using dot ( . ) operator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" y="2715768"/>
            <a:ext cx="85953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Student s2;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strcpy(s2.name, "Arjun");   // s2.name  accesses name member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s2.rollno = 102;             // s2.rollno accesses rollno member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s2.cgpa   = 8.8;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strcpy(s2.branch, "ECE");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3730752"/>
            <a:ext cx="877824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3730752"/>
            <a:ext cx="87782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3749040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Method 3 – Using arrow ( -&gt; ) operator via pointer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" y="4114800"/>
            <a:ext cx="8595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Student *ptr = &amp;s2;  // ptr points to s2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printf("%s",  ptr-&gt;name);   // ptr-&gt;name  ≡  (*ptr).name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printf("%d",  ptr-&gt;rollno); // ptr-&gt;rollno ≡  (*ptr).rollno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ptr-&gt;cgpa = 9.0;             // modifies s2.cgpa directly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5001768"/>
            <a:ext cx="8778240" cy="118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5001768"/>
            <a:ext cx="8595360" cy="118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Rule: Use  .  for direct struct variable  |  Use  -&gt;  for pointer to struct  |  (*ptr).member  ≡  ptr-&gt;member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3368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 as Function Parameter – Display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46736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Passing a struct to a function (pass by value)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754253"/>
            <a:ext cx="8778240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90372"/>
            <a:ext cx="8503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93B"/>
                </a:solidFill>
              </a:rPr>
              <a:t>Pass by Value: </a:t>
            </a:r>
            <a:r>
              <a:rPr lang="en-US" sz="1300" i="1" dirty="0">
                <a:solidFill>
                  <a:srgbClr val="1E293B"/>
                </a:solidFill>
              </a:rPr>
              <a:t>A COPY of the struct is sent. The original is NOT modified inside the function.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203960"/>
            <a:ext cx="8778240" cy="3619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989838"/>
            <a:ext cx="8778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943356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Complete Example – Reading and Displaying a Student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1621536"/>
            <a:ext cx="8595360" cy="2944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&lt;string.h&gt;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Student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 name[50];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  rollno;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float cgpa;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 branch[20];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Function receives a COPY of the struct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displayStudent(struct Student s)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printf("\n========= Student Record =========\n");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printf("Name   : %s\n",  s.name);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printf("Roll No: %d\n",  s.rollno);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printf("CGPA   : %.2f\n", s.cgpa);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printf("Branch : %s\n",  s.branch);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printf("==================================\n");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struct Student s1 = {"Kavya", 201, 9.7, "CS-AIML"};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displayStudent(s1);          // pass struct to function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s1 is UNCHANGED after the call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4816475"/>
            <a:ext cx="8778240" cy="18224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763135"/>
            <a:ext cx="8503920" cy="2533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Output: ========= Student Record =========  Name: Kavya  Roll No: 201  CGPA: 9.70  Branch: CS-AIML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-9017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 as Function Parameter – Modify with Pointer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478155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Pass by pointer so the function CAN change the original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786638"/>
            <a:ext cx="8778240" cy="47548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9117"/>
            <a:ext cx="8503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D9488"/>
                </a:solidFill>
              </a:rPr>
              <a:t>Pass by Pointer: </a:t>
            </a:r>
            <a:r>
              <a:rPr lang="en-US" sz="1300" i="1" dirty="0">
                <a:solidFill>
                  <a:srgbClr val="1E293B"/>
                </a:solidFill>
              </a:rPr>
              <a:t>The ADDRESS of the struct is passed. Changes inside the function AFFECT the original.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605153"/>
            <a:ext cx="8778240" cy="3401568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270508"/>
            <a:ext cx="8778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234821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Pass by Pointer – Update a Student's CGPA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1848866"/>
            <a:ext cx="8595360" cy="2944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Function receives pointer to struct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updateCGPA(struct Student *s, float newCGPA)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printf("Before update: %.2f\n", s-&gt;cgpa);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s-&gt;cgpa = newCGPA;           // modifies ORIGINAL via -&gt;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printf("After update : %.2f\n", s-&gt;cgpa);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Function reads input from keyboard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readStudent(struct Student *s)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printf("Enter Name   : "); scanf("%s",  s-&gt;name);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printf("Enter Roll No: "); scanf("%d", &amp;s-&gt;rollno);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printf("Enter CGPA   : "); scanf("%f", &amp;s-&gt;cgpa);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printf("Enter Branch : "); scanf("%s",  s-&gt;branch);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struct Student s1;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readStudent(&amp;s1);            // &amp; passes ADDRESS to function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updateCGPA(&amp;s1, 9.9);       // s1.cgpa becomes 9.9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displayStudent(s1);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5010912"/>
            <a:ext cx="8778240" cy="11887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55286"/>
            <a:ext cx="8503920" cy="1005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B8A6"/>
                </a:solidFill>
              </a:rPr>
              <a:t>Key: Use  &amp;s1  to pass address  |  Use  -&gt;  inside function to access members via pointer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-52197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Functions with Structured Result Values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31623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A function can RETURN a complete structure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592328"/>
            <a:ext cx="877824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14807"/>
            <a:ext cx="8503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7C3AED"/>
                </a:solidFill>
              </a:rPr>
              <a:t>Returning a struct: </a:t>
            </a:r>
            <a:r>
              <a:rPr lang="en-US" sz="1300" i="1" dirty="0">
                <a:solidFill>
                  <a:srgbClr val="1E293B"/>
                </a:solidFill>
              </a:rPr>
              <a:t>Useful when you need to compute and return multiple values at once — return type = struct type.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326515"/>
            <a:ext cx="8778240" cy="367538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3675" y="989838"/>
            <a:ext cx="87782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008126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Create &amp; Return a Student Record from a Function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1697736"/>
            <a:ext cx="8595360" cy="2971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Student createStudent(char *nm, int roll, float cg, char *br)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struct Student s;             // local struct variable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strcpy(s.name,   nm);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s.rollno = roll;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s.cgpa   = cg;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strcpy(s.branch, br);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s;                     // return the whole struct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Student readAndReturn()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struct Student s;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printf("Name: ");   scanf("%s",  s.name);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printf("Roll: ");   scanf("%d", &amp;s.rollno);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printf("CGPA: ");   scanf("%f", &amp;s.cgpa);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s;           // C copies the struct on return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struct Student s1 = createStudent("Ravi", 301, 9.2, "MECH");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struct Student s2 = readAndReturn();   // receive returned struct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displayStudent(s1);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displayStudent(s2);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4916170"/>
            <a:ext cx="8778240" cy="22288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15535"/>
            <a:ext cx="8503920" cy="2139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Remember: Return type of function must be  struct TypeName  |  C makes a full copy of the struct when returning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Passing Structures: Value vs Pointer – Side-by-Side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Know when to use each approach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182880" y="1024128"/>
          <a:ext cx="8778240" cy="3474720"/>
        </p:xfrm>
        <a:graphic>
          <a:graphicData uri="http://schemas.openxmlformats.org/drawingml/2006/table">
            <a:tbl>
              <a:tblPr/>
              <a:tblGrid>
                <a:gridCol w="2103120"/>
                <a:gridCol w="3337560"/>
                <a:gridCol w="3337560"/>
              </a:tblGrid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Pass by Value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Pass by Pointer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Syntax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func(s1)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func(&amp;s1)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Function param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struct Student s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struct Student *s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Access members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s.rollno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s-&gt;rollno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Modifies original?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NO – works on a copy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YES – changes original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Memory used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Copies entire struct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Only 8 bytes (pointer)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When to use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Read-only, small struct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Modify original, large struct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Performance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Slower (big structs)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Faster (only pointer copied)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82880" y="4572000"/>
            <a:ext cx="4206240" cy="502920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626864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main mem: </a:t>
            </a:r>
            <a:r>
              <a:rPr lang="en-US" sz="1000" dirty="0">
                <a:solidFill>
                  <a:srgbClr val="991B1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[s1:name|roll|cgpa]</a:t>
            </a:r>
            <a:r>
              <a:rPr lang="en-US" sz="1000" dirty="0">
                <a:solidFill>
                  <a:srgbClr val="1E293B"/>
                </a:solidFill>
              </a:rPr>
              <a:t>  func gets </a:t>
            </a:r>
            <a:r>
              <a:rPr lang="en-US" sz="1000" dirty="0">
                <a:solidFill>
                  <a:srgbClr val="991B1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[COPY:name|roll|cgpa]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0" y="4572000"/>
            <a:ext cx="434340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" name="Text 7"/>
          <p:cNvSpPr/>
          <p:nvPr/>
        </p:nvSpPr>
        <p:spPr>
          <a:xfrm>
            <a:off x="4663440" y="4626864"/>
            <a:ext cx="4160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main mem: </a:t>
            </a:r>
            <a:r>
              <a:rPr lang="en-US" sz="1000" dirty="0">
                <a:solidFill>
                  <a:srgbClr val="16653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[s1:name|roll|cgpa]</a:t>
            </a:r>
            <a:r>
              <a:rPr lang="en-US" sz="1000" dirty="0">
                <a:solidFill>
                  <a:srgbClr val="1E293B"/>
                </a:solidFill>
              </a:rPr>
              <a:t>  func gets </a:t>
            </a:r>
            <a:r>
              <a:rPr lang="en-US" sz="1000" dirty="0">
                <a:solidFill>
                  <a:srgbClr val="0D94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[ptr→s1]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-52197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Complex Structures – Nested Structs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348615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A structure can contain another structure as a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613918"/>
            <a:ext cx="8778240" cy="45720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647192"/>
            <a:ext cx="8503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93B"/>
                </a:solidFill>
              </a:rPr>
              <a:t>Nested Structure: When one struct is used as a member inside another struct. Access uses dot-chain: e.employee.doj.year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82880" y="1417955"/>
            <a:ext cx="5303520" cy="3705225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133475"/>
            <a:ext cx="53035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119378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Example: Employee with Date of Joining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1798193"/>
            <a:ext cx="5120640" cy="2999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Date {              // inner struct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day, month, year;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Employee {          // outer struct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 name[50];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  empId;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float salary;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struct Date doj;       // nested struct as a MEMBER!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Employee e1;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e1.empId        = 1001;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strcpy(e1.name, "Sunita");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e1.salary       = 75000.0;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e1.doj.day      = 15;     // dot-chain access: e1 . doj . day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e1.doj.month    = 8;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e1.doj.year     = 2022;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printf("%s joined on %d/%d/%d\n",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e1.name, e1.doj.day, e1.doj.month, e1.doj.year);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Output: Sunita joined on 15/8/2022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1554480"/>
            <a:ext cx="329184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1554480"/>
            <a:ext cx="32918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157276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Memory Layout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60720" y="1993392"/>
            <a:ext cx="3108960" cy="2743200"/>
          </a:xfrm>
          <a:prstGeom prst="rect">
            <a:avLst/>
          </a:prstGeom>
          <a:solidFill>
            <a:srgbClr val="0D9488">
              <a:alpha val="1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2011680"/>
            <a:ext cx="3017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struct Employee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33872" y="2304288"/>
            <a:ext cx="2907792" cy="347472"/>
          </a:xfrm>
          <a:prstGeom prst="rect">
            <a:avLst/>
          </a:prstGeom>
          <a:solidFill>
            <a:srgbClr val="243B5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0448" y="234086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name[50]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33872" y="2651760"/>
            <a:ext cx="2907792" cy="292608"/>
          </a:xfrm>
          <a:prstGeom prst="rect">
            <a:avLst/>
          </a:prstGeom>
          <a:solidFill>
            <a:srgbClr val="243B5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70448" y="268833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empId  (4 bytes)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33872" y="2944368"/>
            <a:ext cx="2907792" cy="292608"/>
          </a:xfrm>
          <a:prstGeom prst="rect">
            <a:avLst/>
          </a:prstGeom>
          <a:solidFill>
            <a:srgbClr val="243B5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0448" y="2980944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salary  (4 bytes)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33872" y="3236976"/>
            <a:ext cx="2907792" cy="841248"/>
          </a:xfrm>
          <a:prstGeom prst="rect">
            <a:avLst/>
          </a:prstGeom>
          <a:solidFill>
            <a:srgbClr val="F59E0B">
              <a:alpha val="2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70448" y="3273552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struct Date (nested)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70448" y="3547872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day | month | year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70448" y="3803904"/>
            <a:ext cx="2834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(4 + 4 + 4 = 12 bytes)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-106172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Arrays of Structures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29464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Managing multiple records of the same type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592328"/>
            <a:ext cx="877824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616458"/>
            <a:ext cx="8503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</a:rPr>
              <a:t>An array of structures stores multiple entities of the same struct type. Like a table in a database.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191895"/>
            <a:ext cx="5120640" cy="3952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942467"/>
            <a:ext cx="51206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895985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Array of Structures – Class of Students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1704340"/>
            <a:ext cx="493776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Student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 name[30];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  rollno;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float cgpa;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Array of 3 structs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Student class[3] =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{"Alice",  101, 9.5},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{"Bob",    102, 8.8},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{"Carol",  103, 9.2}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Access: class[index].member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printf("%s: %.1f\n", class[0].name, class[0].cgpa); // Alice: 9.5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Loop through all students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(int i = 0; i &lt; 3; i++)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printf("Roll %d: %-12s CGPA: %.1f\n",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class[i].rollno, class[i].name, class[i].cgpa);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Output: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Roll 101: Alice        CGPA: 9.5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Roll 102: Bob          CGPA: 8.8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Roll 103: Carol        CGPA: 9.2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1536192"/>
            <a:ext cx="34747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0" y="1536192"/>
            <a:ext cx="34747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55448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Array Memory Layout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0" y="1956816"/>
            <a:ext cx="54864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0408" y="2020824"/>
            <a:ext cx="51206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Index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956816"/>
            <a:ext cx="91440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9048" y="2020824"/>
            <a:ext cx="8778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name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95160" y="1956816"/>
            <a:ext cx="91440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13448" y="2020824"/>
            <a:ext cx="8778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rollno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09560" y="1956816"/>
            <a:ext cx="91440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27848" y="2020824"/>
            <a:ext cx="8778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cgpa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32120" y="2432304"/>
            <a:ext cx="54864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50408" y="2496312"/>
            <a:ext cx="51206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[0]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2432304"/>
            <a:ext cx="9144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99048" y="2496312"/>
            <a:ext cx="8778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Alice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95160" y="2432304"/>
            <a:ext cx="9144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13448" y="2496312"/>
            <a:ext cx="8778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101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09560" y="2432304"/>
            <a:ext cx="9144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27848" y="2496312"/>
            <a:ext cx="8778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9.5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32120" y="2907792"/>
            <a:ext cx="548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50408" y="2971800"/>
            <a:ext cx="51206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[1]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80760" y="2907792"/>
            <a:ext cx="914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99048" y="2971800"/>
            <a:ext cx="8778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Bob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95160" y="2907792"/>
            <a:ext cx="914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13448" y="2971800"/>
            <a:ext cx="8778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102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909560" y="2907792"/>
            <a:ext cx="914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27848" y="2971800"/>
            <a:ext cx="8778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8.8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532120" y="3383280"/>
            <a:ext cx="54864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50408" y="3447288"/>
            <a:ext cx="51206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[2]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80760" y="3383280"/>
            <a:ext cx="9144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99048" y="3447288"/>
            <a:ext cx="8778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Carol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95160" y="3383280"/>
            <a:ext cx="9144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13448" y="3447288"/>
            <a:ext cx="8778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103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909560" y="3383280"/>
            <a:ext cx="9144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27848" y="3447288"/>
            <a:ext cx="8778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9.2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32120" y="3931920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class[i].name  → i-th student's name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32120" y="4224528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class[i].cgpa  → i-th student's CGPA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532120" y="4517136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class[i].rollno → i-th student's Roll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2926080" cy="2926080"/>
          </a:xfrm>
          <a:prstGeom prst="ellipse">
            <a:avLst/>
          </a:prstGeom>
          <a:solidFill>
            <a:srgbClr val="7C3AED">
              <a:alpha val="15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560320"/>
            <a:ext cx="1828800" cy="1828800"/>
          </a:xfrm>
          <a:prstGeom prst="ellipse">
            <a:avLst/>
          </a:prstGeom>
          <a:solidFill>
            <a:srgbClr val="0D9488">
              <a:alpha val="15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</a:rPr>
              <a:t>DEEP DIVE EXAMPLE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54864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Complex Numbers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Using Structures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5943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Mathematical concept: 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z = a + bi  where  i = √-1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ect">
            <a:avLst/>
          </a:prstGeom>
          <a:solidFill>
            <a:srgbClr val="243B5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07208"/>
            <a:ext cx="7955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What makes this a great struct example?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154680"/>
            <a:ext cx="7955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A complex number has TWO parts: </a:t>
            </a:r>
            <a:r>
              <a:rPr lang="en-US" sz="1200" dirty="0">
                <a:solidFill>
                  <a:srgbClr val="FFFFFF"/>
                </a:solidFill>
              </a:rPr>
              <a:t>real  and  imaginary. </a:t>
            </a:r>
            <a:r>
              <a:rPr lang="en-US" sz="1200" dirty="0">
                <a:solidFill>
                  <a:srgbClr val="E2E8F0"/>
                </a:solidFill>
              </a:rPr>
              <a:t>These naturally belong together in one unit — exactly what struct is designed for!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547872"/>
            <a:ext cx="7955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We will: define the struct · add two complex numbers · subtract · multiply · display — all with functions!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1E2E4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206240"/>
            <a:ext cx="7955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Formulas: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4498848"/>
            <a:ext cx="7955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Add: (a+bi)+(c+di) = (a+c)+(b+d)i   </a:t>
            </a:r>
            <a:r>
              <a:rPr lang="en-US" sz="110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Sub: (a+bi)−(c+di) = (a−c)+(b−d)i   </a:t>
            </a:r>
            <a:r>
              <a:rPr lang="en-US" sz="11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Mul: (a+bi)×(c+di) = (ac−bd)+(ad+bc)i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6265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-106172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Complex Numbers – Defining the Structure</a:t>
            </a:r>
            <a:endParaRPr 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2082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Step 1: Create the struct to hold a complex number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661670"/>
            <a:ext cx="8778240" cy="219075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419735"/>
            <a:ext cx="8778240" cy="24765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735" y="416560"/>
            <a:ext cx="8595360" cy="269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 – Define the Complex Number Struct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9428" y="620141"/>
            <a:ext cx="85953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&lt;math.h&gt;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 complex number = real part + imaginary part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Perfect candidate for a struct!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Complex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float real;         // real part      e.g.,  3.0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float imag;         // imaginary part e.g.,  4.0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Represents: 3.0 + 4.0i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struct Complex Complex;  // So we can write just "Complex" instead of "struct Complex"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2383155"/>
            <a:ext cx="8778240" cy="2762885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2121535"/>
            <a:ext cx="8778240" cy="23749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3403" y="2064258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 – Creating and Displaying a Complex Number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1018" y="2904998"/>
            <a:ext cx="859536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Function: display a complex number nicely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display(Complex c)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(c.imag &gt;= 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printf("(%.2f + %.2fi)", c.real, c.imag);  // e.g., (3.00 + 4.00i)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else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printf("(%.2f - %.2fi)", c.real, -c.imag); // e.g., (3.00 - 4.00i) for negative imag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Function: return the magnitude |z| = sqrt(a²+b²)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float magnitude(Complex c)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sqrt(c.real * c.real + c.imag * c.imag);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Complex z1 = {3.0, 4.0};    // z1 = 3 + 4i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Complex z2 = {1.0, -2.0};   // z2 = 1 - 2i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printf("z1 = "); display(z1);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  |z1| = %.2f\n", magnitude(z1));  // |z1| = 5.00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printf("z2 = "); display(z2);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  |z2| = %.2f\n", magnitude(z2));  // |z2| = 2.24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5074920"/>
            <a:ext cx="8778240" cy="9144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500" y="4956429"/>
            <a:ext cx="8503920" cy="731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Output: z1 = (3.00 + 4.00i)  |z1| = 5.00     z2 = (1.00 - 2.00i)  |z2| = 2.24</a:t>
            </a:r>
            <a:endParaRPr lang="en-US" sz="9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-73787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Complex Numbers – Addition &amp; Subtraction Functions</a:t>
            </a:r>
            <a:endParaRPr 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22987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Returning a struct from a function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628650"/>
            <a:ext cx="8778240" cy="1701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452120"/>
            <a:ext cx="8778240" cy="16129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340741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Addition: (a+bi) + (c+di) = (a+c) + (b+d)i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3530" y="561340"/>
            <a:ext cx="8595360" cy="1231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addComplex returns a NEW Complex struct (result)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Complex addComplex(Complex a, Complex b)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Complex result;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result.real = a.real + b.real;   // add real parts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result.imag = a.imag + b.imag;   // add imaginary parts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result;                    // return the struct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2085" y="2011045"/>
            <a:ext cx="8778240" cy="1515745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744980"/>
            <a:ext cx="8778240" cy="23495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698498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Subtraction: (a+bi) - (c+di) = (a-c) + (b-d)i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1813" y="2064258"/>
            <a:ext cx="8595360" cy="10789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subComplex returns a NEW Complex struct (result)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Complex subComplex(Complex a, Complex b)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Complex result;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result.real = a.real - b.real;   // subtract real parts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result.imag = a.imag - b.imag;   // subtract imaginary parts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result;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3111500"/>
            <a:ext cx="8778240" cy="196342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4251960"/>
            <a:ext cx="877824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7043" y="3061208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Main – Testing Add and Subtract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" y="3999103"/>
            <a:ext cx="8595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Complex z1 = {5.0,  3.0};   // z1 = 5 + 3i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Complex z2 = {2.0, -1.0};   // z2 = 2 - 1i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Complex sum  = addComplex(z1, z2);   // sum  = 7 + 2i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Complex diff = subComplex(z1, z2);   // diff = 3 + 4i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printf("z1 = ");  display(z1);   printf("\n");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printf("z2 = ");  display(z2);   printf("\n");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printf("Sum  = "); display(sum);  printf("\n");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printf("Diff = "); display(diff); printf("\n");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Output:  z1 = (5.00 + 3.00i)   z2 = (2.00 - 1.00i)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         Sum  = (7.00 + 2.00i)  Diff = (3.00 + 4.00i)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305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-149352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Complex Numbers – Multiplication &amp; Complete Program</a:t>
            </a:r>
            <a:endParaRPr 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75895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(a+bi)×(c+di) = (ac−bd) + (ad+bc)i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687070"/>
            <a:ext cx="8778240" cy="1800225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408940"/>
            <a:ext cx="8778240" cy="25336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351536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Multiplication Formula: (ac−bd) + (ad+bc)i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598551"/>
            <a:ext cx="85953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Complex mulComplex(Complex a, Complex b)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Complex result;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result.real = (a.real * b.real) - (a.imag * b.imag);  // ac - bd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result.imag = (a.real * b.imag) + (a.imag * b.real);  // ad + bc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result;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1652270"/>
            <a:ext cx="8778240" cy="3533775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524000"/>
            <a:ext cx="8778240" cy="19367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735" y="1488440"/>
            <a:ext cx="8595360" cy="259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Complete Program – All Operations Together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" y="2372233"/>
            <a:ext cx="8595360" cy="20299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&lt;math.h&gt;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struct { float real; float imag; } Complex;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   display    (Complex c) { /* as defined before */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float   magnitude  (Complex c) { return sqrt(c.real*c.real + c.imag*c.imag);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Complex addComplex (Complex a, Complex b){ Complex r; r.real=a.real+b.real; r.imag=a.imag+b.imag; return r;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Complex subComplex (Complex a, Complex b){ Complex r; r.real=a.real-b.real; r.imag=a.imag-b.imag; return r;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Complex mulComplex (Complex a, Complex b){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Complex r;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r.real = a.real*b.real - a.imag*b.imag;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r.imag = a.real*b.imag + a.imag*b.real;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r;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Complex z1 = {3.0, 2.0};   // z1 = 3 + 2i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Complex z2 = {1.0, 4.0};   // z2 = 1 + 4i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printf("z1      = "); display(z1);            printf("\n");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printf("z2      = "); display(z2);            printf("\n");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printf("z1 + z2 = "); display(addComplex(z1, z2)); printf("\n"); // 4 + 6i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printf("z1 - z2 = "); display(subComplex(z1, z2)); printf("\n"); // 2 - 2i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printf("z1 * z2 = "); display(mulComplex(z1, z2)); printf("\n"); // -5 + 14i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printf("|z1|    = %.4f\n", magnitude(z1));                        // 3.6056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5093208"/>
            <a:ext cx="8778240" cy="7315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5910" y="4875657"/>
            <a:ext cx="8503920" cy="640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z1+z2=(4+6i)  z1-z2=(2-2i)  z1*z2=(3·1−2·4)+(3·4+2·1)i=(3-8)+(12+2)i=(-5+14i)  |z1|=√(9+4)=√13≈3.6056</a:t>
            </a:r>
            <a:endParaRPr lang="en-US" sz="88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Complex Numbers – Multiplication Step-by-Step Trace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z1 = (3+2i)  z2 = (1+4i)  →  z1 × z2 = 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024128"/>
            <a:ext cx="21031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24128"/>
            <a:ext cx="21031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42416"/>
            <a:ext cx="19568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" y="1463040"/>
            <a:ext cx="195681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Identify a,b,c,d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" y="2029968"/>
            <a:ext cx="1956816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a=3, b=2  (from z1=3+2i)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c=1, d=4  (from z2=1+4i)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2103120"/>
            <a:ext cx="137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423160" y="1024128"/>
            <a:ext cx="21031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1024128"/>
            <a:ext cx="21031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1042416"/>
            <a:ext cx="19568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96312" y="1463040"/>
            <a:ext cx="195681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Real part = ac − bd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96312" y="2029968"/>
            <a:ext cx="1956816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(3×1) − (2×4)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3 − 8 = −5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2103120"/>
            <a:ext cx="137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663440" y="1024128"/>
            <a:ext cx="21031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024128"/>
            <a:ext cx="21031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042416"/>
            <a:ext cx="19568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36592" y="1463040"/>
            <a:ext cx="195681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Imag part = ad + bc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36592" y="2029968"/>
            <a:ext cx="1956816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(3×4) + (2×1)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12 + 2 = 14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2103120"/>
            <a:ext cx="137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903720" y="1024128"/>
            <a:ext cx="21031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03720" y="1024128"/>
            <a:ext cx="21031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76872" y="1042416"/>
            <a:ext cx="19568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76872" y="1463040"/>
            <a:ext cx="195681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Result = −5 + 14i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76872" y="2029968"/>
            <a:ext cx="1956816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result.real = −5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result.imag = 14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82880" y="3858768"/>
            <a:ext cx="877824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82880" y="3858768"/>
            <a:ext cx="87782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877056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Verification – Manual Check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4224528"/>
            <a:ext cx="8595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(3+2i) × (1+4i) = 3·1 + 3·4i + 2i·1 + 2i·4i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= 3   + 12i  + 2i  + 8i²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= 3   + 14i  + 8×(−1)          ← because i² = −1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= 3 − 8  +  14i  =  −5 + 14i   ✓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Self-Referential Structures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A struct that contains a pointer to the SAME struct type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024128"/>
            <a:ext cx="8778240" cy="47548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78992"/>
            <a:ext cx="8503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D9488"/>
                </a:solidFill>
              </a:rPr>
              <a:t>Definition: </a:t>
            </a:r>
            <a:r>
              <a:rPr lang="en-US" sz="1300" i="1" dirty="0">
                <a:solidFill>
                  <a:srgbClr val="1E293B"/>
                </a:solidFill>
              </a:rPr>
              <a:t>A structure that has a member which is a pointer to another structure of the SAME type. Foundation of Linked Lists, Trees, and Graphs!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572768"/>
            <a:ext cx="4754880" cy="3401568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572768"/>
            <a:ext cx="4754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591056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Self-Referential Node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1956816"/>
            <a:ext cx="4572000" cy="2944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Node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data;             // actual data stored in node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struct Node *next;    // pointer to SAME struct type!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        ↑ This makes it self-referential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Node n1, n2, n3;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n1.data = 10;    n2.data = 20;    n3.data = 30;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n1.next = &amp;n2;   // n1 points to n2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n2.next = &amp;n3;   // n2 points to n3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n3.next = NULL;  // n3 is the last node (NULL = end)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Traverse: n1 → n2 → n3 → NULL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Node *ptr = &amp;n1;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while (ptr != NULL)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printf("%d → ", ptr-&gt;data);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ptr = ptr-&gt;next;   // move to next node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Output: 10 → 20 → 30 →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74920" y="1572768"/>
            <a:ext cx="384048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74920" y="1572768"/>
            <a:ext cx="38404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1591056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Linked List Visualization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2240280"/>
            <a:ext cx="640080" cy="594360"/>
          </a:xfrm>
          <a:prstGeom prst="rect">
            <a:avLst/>
          </a:prstGeom>
          <a:solidFill>
            <a:srgbClr val="0D9488">
              <a:alpha val="3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48656" y="2286000"/>
            <a:ext cx="56692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</a:rPr>
              <a:t>10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52160" y="2240280"/>
            <a:ext cx="731520" cy="594360"/>
          </a:xfrm>
          <a:prstGeom prst="rect">
            <a:avLst/>
          </a:prstGeom>
          <a:solidFill>
            <a:srgbClr val="243B5A"/>
          </a:solidFill>
          <a:ln w="25400">
            <a:solidFill>
              <a:srgbClr val="1620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0448" y="2304288"/>
            <a:ext cx="69494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next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230368" y="2880360"/>
            <a:ext cx="62179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data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870448" y="2880360"/>
            <a:ext cx="71323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ptr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583680" y="2537460"/>
            <a:ext cx="54864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2240280"/>
            <a:ext cx="640080" cy="594360"/>
          </a:xfrm>
          <a:prstGeom prst="rect">
            <a:avLst/>
          </a:prstGeom>
          <a:solidFill>
            <a:srgbClr val="0D9488">
              <a:alpha val="3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28816" y="2286000"/>
            <a:ext cx="56692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</a:rPr>
              <a:t>20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132320" y="2240280"/>
            <a:ext cx="731520" cy="594360"/>
          </a:xfrm>
          <a:prstGeom prst="rect">
            <a:avLst/>
          </a:prstGeom>
          <a:solidFill>
            <a:srgbClr val="243B5A"/>
          </a:solidFill>
          <a:ln w="25400">
            <a:solidFill>
              <a:srgbClr val="1620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0608" y="2304288"/>
            <a:ext cx="69494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next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10528" y="2880360"/>
            <a:ext cx="62179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data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150608" y="2880360"/>
            <a:ext cx="71323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ptr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863840" y="2537460"/>
            <a:ext cx="54864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2240280"/>
            <a:ext cx="640080" cy="594360"/>
          </a:xfrm>
          <a:prstGeom prst="rect">
            <a:avLst/>
          </a:prstGeom>
          <a:solidFill>
            <a:srgbClr val="0D9488">
              <a:alpha val="3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08976" y="2286000"/>
            <a:ext cx="56692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</a:rPr>
              <a:t>30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412480" y="2240280"/>
            <a:ext cx="731520" cy="594360"/>
          </a:xfrm>
          <a:prstGeom prst="rect">
            <a:avLst/>
          </a:prstGeom>
          <a:solidFill>
            <a:srgbClr val="243B5A"/>
          </a:solidFill>
          <a:ln w="25400">
            <a:solidFill>
              <a:srgbClr val="1620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30768" y="2304288"/>
            <a:ext cx="69494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NULL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790688" y="2880360"/>
            <a:ext cx="62179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data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430768" y="2880360"/>
            <a:ext cx="71323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ptr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166360" y="3200400"/>
            <a:ext cx="640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n1 →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166360" y="3511296"/>
            <a:ext cx="3657600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7800" y="356616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Why is this powerful?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57800" y="3858768"/>
            <a:ext cx="34747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Dynamic size: </a:t>
            </a:r>
            <a:r>
              <a:rPr lang="en-US" sz="1050" dirty="0">
                <a:solidFill>
                  <a:srgbClr val="1E293B"/>
                </a:solidFill>
              </a:rPr>
              <a:t>Can grow/shrink at runtime
</a:t>
            </a:r>
            <a:r>
              <a:rPr lang="en-US" sz="1050" b="1" dirty="0">
                <a:solidFill>
                  <a:srgbClr val="0D9488"/>
                </a:solidFill>
              </a:rPr>
              <a:t>No pre-allocation: </a:t>
            </a:r>
            <a:r>
              <a:rPr lang="en-US" sz="1050" dirty="0">
                <a:solidFill>
                  <a:srgbClr val="1E293B"/>
                </a:solidFill>
              </a:rPr>
              <a:t>No fixed size needed
</a:t>
            </a:r>
            <a:r>
              <a:rPr lang="en-US" sz="1050" b="1" dirty="0">
                <a:solidFill>
                  <a:srgbClr val="0D9488"/>
                </a:solidFill>
              </a:rPr>
              <a:t>Basis of: </a:t>
            </a:r>
            <a:r>
              <a:rPr lang="en-US" sz="1050" dirty="0">
                <a:solidFill>
                  <a:srgbClr val="1E293B"/>
                </a:solidFill>
              </a:rPr>
              <a:t>Linked Lists, Trees, Graphs (Unit III, V)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 Fields in Structures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Packing multiple values into individual bits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024128"/>
            <a:ext cx="877824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78992"/>
            <a:ext cx="8503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7C3AED"/>
                </a:solidFill>
              </a:rPr>
              <a:t>Bit Field: </a:t>
            </a:r>
            <a:r>
              <a:rPr lang="en-US" sz="1300" i="1" dirty="0">
                <a:solidFill>
                  <a:srgbClr val="1E293B"/>
                </a:solidFill>
              </a:rPr>
              <a:t>A struct member with a specified number of bits. Saves memory when you only need small values (0/1, 0-7, etc.)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572895"/>
            <a:ext cx="5303520" cy="352425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572895"/>
            <a:ext cx="5303520" cy="24257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526286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Syntax and Example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1935226"/>
            <a:ext cx="5120640" cy="2980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Syntax: type member : number_of_bits;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Flags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unsigned int isRead    : 1;  // 1 bit → values 0 or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unsigned int isWrite   : 1;  // 1 bit → values 0 or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unsigned int isExecute : 1;  // 1 bit → values 0 or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unsigned int priority  : 3;  // 3 bits → values 0 to 7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unsigned int fileType  : 4;  // 4 bits → values 0 to 15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Total: 10 bits, fits in 2 bytes (instead of 5 ints = 20 bytes!)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Flags f;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f.isRead    = 1;  // has read permission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f.isWrite   = 0;  // no write permission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f.isExecute = 1;  // has execute permission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f.priority  = 5;  // priority level 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f.fileType  = 3;  // file type 3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printf("Read:%d Write:%d Execute:%d Priority:%d Type:%d\n",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f.isRead, f.isWrite, f.isExecute, f.priority, f.fileType);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Output: Read:1 Write:0 Execute:1 Priority:5 Type:3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1572768"/>
            <a:ext cx="3291840" cy="3438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1572768"/>
            <a:ext cx="329184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1591056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Memory Comparison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2011680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Without bit fields: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2322576"/>
            <a:ext cx="310896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235000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isRead = 4 bytes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60720" y="2578608"/>
            <a:ext cx="310896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260604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isWrite = 4 bytes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760720" y="2834640"/>
            <a:ext cx="310896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286207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isExecute = 4 bytes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760720" y="3090672"/>
            <a:ext cx="310896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3118104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priority = 4 bytes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60720" y="3346704"/>
            <a:ext cx="310896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3374136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fileType = 4 bytes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760720" y="3639312"/>
            <a:ext cx="31089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Total: 20 bytes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60720" y="4133088"/>
            <a:ext cx="3108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With bit fields: ~2 bytes total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60720" y="4462272"/>
            <a:ext cx="557784" cy="347472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9864" y="4507992"/>
            <a:ext cx="5394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isRead 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318504" y="4462272"/>
            <a:ext cx="557784" cy="347472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27648" y="4507992"/>
            <a:ext cx="5394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isWrite 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876288" y="4462272"/>
            <a:ext cx="557784" cy="347472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85432" y="4507992"/>
            <a:ext cx="5394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isExecute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434072" y="4462272"/>
            <a:ext cx="749808" cy="347472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43216" y="4507992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priority 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8183880" y="4462272"/>
            <a:ext cx="868680" cy="347472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93024" y="4507992"/>
            <a:ext cx="8503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fileType 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760720" y="4846320"/>
            <a:ext cx="31089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0B981"/>
                </a:solidFill>
              </a:rPr>
              <a:t>Saving: 18 bytes (90% reduction!)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Union Types – Shared Memory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All members share the SAME memory location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024128"/>
            <a:ext cx="8778240" cy="47548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78992"/>
            <a:ext cx="8503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D9488"/>
                </a:solidFill>
              </a:rPr>
              <a:t>Union: </a:t>
            </a:r>
            <a:r>
              <a:rPr lang="en-US" sz="1300" i="1" dirty="0">
                <a:solidFill>
                  <a:srgbClr val="1E293B"/>
                </a:solidFill>
              </a:rPr>
              <a:t>Similar to struct BUT all members occupy the SAME memory. Size = size of the LARGEST member. Only ONE member holds valid data at a time.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572895"/>
            <a:ext cx="5120640" cy="3484245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572895"/>
            <a:ext cx="5120640" cy="24257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493901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Declaring and Using a Union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1935226"/>
            <a:ext cx="4937760" cy="2980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union Data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  intVal;   // 4 bytes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float fltVal;   // 4 bytes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 charVal;  // 1 byte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Size of union Data = 4 bytes (largest member)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union Data d;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❶ Store an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d.intVal = 65;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printf("int  = %d\n",  d.intVal);  // 65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printf("char = %c\n",  d.charVal); // A  ← same bytes, different interpretation!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❷ Now store a float (OVERWRITES previous value)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d.fltVal = 3.14;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printf("float = %.2f\n", d.fltVal); // 3.14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d.intVal is now GARBAGE – do NOT read it after storing fltVal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❸ Always read the SAME member you last wrote!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1572768"/>
            <a:ext cx="3474720" cy="3438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0" y="1572768"/>
            <a:ext cx="34747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591056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Memory: struct vs union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77840" y="2011680"/>
            <a:ext cx="3291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032"/>
                </a:solidFill>
              </a:rPr>
              <a:t>struct Data (12 bytes):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77840" y="2304288"/>
            <a:ext cx="3200400" cy="310896"/>
          </a:xfrm>
          <a:prstGeom prst="rect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14416" y="2331720"/>
            <a:ext cx="31272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intVal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2651760"/>
            <a:ext cx="3200400" cy="310896"/>
          </a:xfrm>
          <a:prstGeom prst="rect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14416" y="2679192"/>
            <a:ext cx="31272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fltVal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999232"/>
            <a:ext cx="3200400" cy="310896"/>
          </a:xfrm>
          <a:prstGeom prst="rect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14416" y="3026664"/>
            <a:ext cx="31272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charVal+pad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0" y="3401568"/>
            <a:ext cx="3291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union Data (4 bytes):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77840" y="3694176"/>
            <a:ext cx="3200400" cy="402336"/>
          </a:xfrm>
          <a:prstGeom prst="rect">
            <a:avLst/>
          </a:prstGeom>
          <a:solidFill>
            <a:srgbClr val="0D9488">
              <a:alpha val="45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77840" y="3694176"/>
            <a:ext cx="3200400" cy="402336"/>
          </a:xfrm>
          <a:prstGeom prst="rect">
            <a:avLst/>
          </a:prstGeom>
          <a:solidFill>
            <a:srgbClr val="7C3AED">
              <a:alpha val="20000"/>
            </a:srgbClr>
          </a:solidFill>
          <a:ln w="19050">
            <a:solidFill>
              <a:srgbClr val="7C3AED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614416" y="3767328"/>
            <a:ext cx="31272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intVal / fltVal / charVal  ← all here!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577840" y="4133088"/>
            <a:ext cx="3200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0B981"/>
                </a:solidFill>
              </a:rPr>
              <a:t>All 3 share same 4 bytes!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77840" y="4407408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Saving: 8 bytes vs struct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 vs union – Complete Comparison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Know the difference for exams and real usage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182880" y="1024128"/>
          <a:ext cx="8778240" cy="38862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291840"/>
              </a:tblGrid>
              <a:tr h="431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struct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union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Keyword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struct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union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Memory allocation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Each member gets its OWN memory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All members SHARE same memory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Size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Sum of all members (+ padding)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Size of LARGEST member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Members active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ALL members active simultaneously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Only ONE member valid at a time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Example size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struct{int;float;char} = ~12 bytes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union{int;float;char} = 4 bytes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Use case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Store complete records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Save memory, type conversion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Access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member.field – all valid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Only last-written field is valid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Modify original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With pointer: func(struct *s)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With pointer: func(union *u)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82880" y="4937760"/>
            <a:ext cx="8778240" cy="18288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946904"/>
            <a:ext cx="850392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printf("%lu", sizeof(struct Data)); → 12   |   printf("%lu", sizeof(union Data)); → 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2700"/>
            <a:ext cx="8595360" cy="4038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typedef – Creating Type Aliases</a:t>
            </a:r>
            <a:endParaRPr 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31623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Make code cleaner and more readable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527685"/>
            <a:ext cx="8778240" cy="3429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735" y="474345"/>
            <a:ext cx="8503920" cy="2800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</a:t>
            </a:r>
            <a:r>
              <a:rPr lang="en-US" sz="1300" i="1" dirty="0">
                <a:solidFill>
                  <a:srgbClr val="1E293B"/>
                </a:solidFill>
              </a:rPr>
              <a:t>creates a new NAME (alias) for an existing type. It does NOT create a new type — just a shorter, cleaner name.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101090"/>
            <a:ext cx="4297680" cy="2404745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871220"/>
            <a:ext cx="4297680" cy="26543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803021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typedef with Basic Types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1363091"/>
            <a:ext cx="411480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Without typedef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unsigned int    uAge;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unsigned long   uSalary;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long long int   bigNum;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With typedef – much cleaner!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unsigned int    uint;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unsigned long   ulong;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long long int   lli;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uint  uAge    = 22;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ulong uSalary = 50000;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lli   bigNum  = 9876543210LL;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3470"/>
            <a:ext cx="4297680" cy="2477135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49630"/>
            <a:ext cx="4297680" cy="2311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781431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typedef with struct (most common use)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73168" y="1449451"/>
            <a:ext cx="411480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Without typedef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Student { char name[50]; int rollno; float cgpa;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Student s1;                 // must write "struct Student" everywhere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display(struct Student s);    // verbose!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With typedef – elegant!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struct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 name[50];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  rollno;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float cgpa;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Student;                         // "Student" is now a type alias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Student s1;                        // no need to write "struct"!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Student class[100];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display(Student s);           // clean and readable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3684905"/>
            <a:ext cx="8778240" cy="1390015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3524885"/>
            <a:ext cx="8778240" cy="1600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735" y="3424555"/>
            <a:ext cx="8595360" cy="277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typedef with enum and function pointers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" y="3962908"/>
            <a:ext cx="8595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enum { MALE, FEMALE, OTHER }  Gender;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struct { char name[50]; Gender gender; float cgpa; } Person;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With typedef, usage is elegant: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Person p1 = {"Arjun", MALE, 9.5};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typedef for function pointer (advanced use)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void (*DisplayFunc)(Person);   // alias for a function pointer type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Enumeration (enum) – Named Integer Constants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Replace magic numbers with meaningful names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024128"/>
            <a:ext cx="8778240" cy="47548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78992"/>
            <a:ext cx="8503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D9488"/>
                </a:solidFill>
              </a:rPr>
              <a:t>enum: </a:t>
            </a:r>
            <a:r>
              <a:rPr lang="en-US" sz="1300" i="1" dirty="0">
                <a:solidFill>
                  <a:srgbClr val="1E293B"/>
                </a:solidFill>
              </a:rPr>
              <a:t>Defines a set of named integer constants. Eliminates "magic numbers" and makes programs self-documenting.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572768"/>
            <a:ext cx="5074920" cy="3438144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572768"/>
            <a:ext cx="50749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591056"/>
            <a:ext cx="4892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Basic enum – Days of Week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1956816"/>
            <a:ext cx="4892040" cy="2980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Without enum – confusing!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today = 3;   // What does 3 mean? Monday? Wednesday?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With enum – crystal clear!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enum Day { MON, TUE, WED, THU, FRI, SAT, SUN 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 MON=0, TUE=1, WED=2, THU=3, FRI=4, SAT=5, SUN=6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enum Day today = WED;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printf("%d\n", today);   // 2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(today == WED)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printf("It's Wednesday!\n");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Custom starting value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enum Month { JAN=1, FEB, MAR, APR, MAY, JUN, JUL, AUG, SEP, OCT, NOV, DEC 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          JAN=1, FEB=2, MAR=3,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printf("December = %d\n", DEC);  // 12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40680" y="1572768"/>
            <a:ext cx="3520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40680" y="1572768"/>
            <a:ext cx="352044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591056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Default Numbering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1956816"/>
            <a:ext cx="3520440" cy="237744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1984248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MON = 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40680" y="2194560"/>
            <a:ext cx="3520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2221992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TUE = 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40680" y="2432304"/>
            <a:ext cx="3520440" cy="237744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2459736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WED = 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40680" y="2670048"/>
            <a:ext cx="3520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2697480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THU = 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40680" y="2907792"/>
            <a:ext cx="3520440" cy="237744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2935224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FRI = 4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40680" y="3310128"/>
            <a:ext cx="352044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40680" y="3310128"/>
            <a:ext cx="35204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3328416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Why Use enum?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32120" y="3712464"/>
            <a:ext cx="33375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 </a:t>
            </a:r>
            <a:r>
              <a:rPr lang="en-US" sz="1100" dirty="0">
                <a:solidFill>
                  <a:srgbClr val="1E293B"/>
                </a:solidFill>
              </a:rPr>
              <a:t>Readability: WED not 2
</a:t>
            </a:r>
            <a:r>
              <a:rPr lang="en-US" sz="1100" b="1" dirty="0">
                <a:solidFill>
                  <a:srgbClr val="10B981"/>
                </a:solidFill>
              </a:rPr>
              <a:t>✓ </a:t>
            </a:r>
            <a:r>
              <a:rPr lang="en-US" sz="1100" dirty="0">
                <a:solidFill>
                  <a:srgbClr val="1E293B"/>
                </a:solidFill>
              </a:rPr>
              <a:t>Type safety: only valid values
</a:t>
            </a:r>
            <a:r>
              <a:rPr lang="en-US" sz="1100" b="1" dirty="0">
                <a:solidFill>
                  <a:srgbClr val="10B981"/>
                </a:solidFill>
              </a:rPr>
              <a:t>✓ </a:t>
            </a:r>
            <a:r>
              <a:rPr lang="en-US" sz="1100" dirty="0">
                <a:solidFill>
                  <a:srgbClr val="1E293B"/>
                </a:solidFill>
              </a:rPr>
              <a:t>Easy to maintain &amp; refactor
</a:t>
            </a:r>
            <a:r>
              <a:rPr lang="en-US" sz="1100" b="1" dirty="0">
                <a:solidFill>
                  <a:srgbClr val="10B981"/>
                </a:solidFill>
              </a:rPr>
              <a:t>✓ </a:t>
            </a:r>
            <a:r>
              <a:rPr lang="en-US" sz="1100" dirty="0">
                <a:solidFill>
                  <a:srgbClr val="1E293B"/>
                </a:solidFill>
              </a:rPr>
              <a:t>Works great with switch-case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-149352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enum + struct + typedef – Combined Power</a:t>
            </a:r>
            <a:endParaRPr 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54305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Real-world application: Student management 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537210"/>
            <a:ext cx="8778240" cy="4587875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398145"/>
            <a:ext cx="8778240" cy="12509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308356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Combining typedef + enum + struct for a Clean Student System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1813" y="938911"/>
            <a:ext cx="8595360" cy="3566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&lt;string.h&gt;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enum for branch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enum { CS_AIML, ECE, MECH, CIVIL, EEE } Branch;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enum for grade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enum { OUTSTANDING=10, EXCELLENT=9, GOOD=8, AVERAGE=7, PASS=6 } GradePoint;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struct using both enums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struct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      name[50];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       rollno;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float      cgpa;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Branch     branch;       // using enum inside struct!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GradePoint grade;        // using another enum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Student;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Helper: branch name as string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char* getBranch(Branch b)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const char* names[] = {"CS-AIML", "ECE", "MECH", "CIVIL", "EEE"};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names[b];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printStudent(Student s)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printf("Name  : %-15s Roll: %3d  CGPA: %.1f  Branch: %s\n",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s.name, s.rollno, s.cgpa, getBranch(s.branch));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Student db[4] =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{"Priya",   101, 9.7, CS_AIML, OUTSTANDING},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{"Arjun",   102, 8.8, ECE,     EXCELLENT 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{"Deepika", 103, 9.2, CS_AIML, OUTSTANDING},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{"Rahul",   104, 7.5, MECH,    AVERAGE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(int i = 0; i &lt; 4; i++) printStudent(db[i]);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5093208"/>
            <a:ext cx="8778240" cy="54864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20488"/>
            <a:ext cx="8503920" cy="548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Output: Priya/101/9.7/CS-AIML  Arjun/102/8.8/ECE  Deepika/103/9.2/CS-AIML  Rahul/104/7.5/MECH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40055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-52070"/>
            <a:ext cx="8595360" cy="3111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enum with switch-case – Best Practice</a:t>
            </a:r>
            <a:endParaRPr 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6510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enum + switch = the most readable combination in 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596265"/>
            <a:ext cx="5212080" cy="4505325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419735"/>
            <a:ext cx="5212080" cy="14287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347726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Traffic Light Controller using enum + switch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033526"/>
            <a:ext cx="5029200" cy="3584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enum { RED, YELLOW, GREEN } TrafficLight;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controlLight(TrafficLight signal)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switch (signal)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case RED: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printf("STOP! Red light.\n");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break;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case YELLOW: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printf("CAUTION! Yellow light.\n");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break;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case GREEN: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printf("GO! Green light.\n");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break;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default: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printf("Invalid signal!\n");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TrafficLight current = RED;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controlLight(current);    // STOP! Red light.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current = GREEN;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controlLight(current);    // GO! Green light.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Simulating a traffic cycle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(TrafficLight t = RED; t &lt;= GREEN; t++)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printf("Signal %d: ", t);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controlLight(t);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024128"/>
            <a:ext cx="338328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1024128"/>
            <a:ext cx="33832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042416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Why enum + switch?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23560" y="1444752"/>
            <a:ext cx="3291840" cy="45720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1508760"/>
            <a:ext cx="3200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  </a:t>
            </a:r>
            <a:r>
              <a:rPr lang="en-US" sz="1100" dirty="0">
                <a:solidFill>
                  <a:srgbClr val="1E293B"/>
                </a:solidFill>
              </a:rPr>
              <a:t>Readable: case RED is clear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23560" y="1975104"/>
            <a:ext cx="3291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039112"/>
            <a:ext cx="3200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  </a:t>
            </a:r>
            <a:r>
              <a:rPr lang="en-US" sz="1100" dirty="0">
                <a:solidFill>
                  <a:srgbClr val="1E293B"/>
                </a:solidFill>
              </a:rPr>
              <a:t>Compiler warns if you forget a case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23560" y="2505456"/>
            <a:ext cx="3291840" cy="45720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2569464"/>
            <a:ext cx="3200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  </a:t>
            </a:r>
            <a:r>
              <a:rPr lang="en-US" sz="1100" dirty="0">
                <a:solidFill>
                  <a:srgbClr val="1E293B"/>
                </a:solidFill>
              </a:rPr>
              <a:t>Easy to add new signals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23560" y="3035808"/>
            <a:ext cx="3291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3099816"/>
            <a:ext cx="3200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  </a:t>
            </a:r>
            <a:r>
              <a:rPr lang="en-US" sz="1100" dirty="0">
                <a:solidFill>
                  <a:srgbClr val="1E293B"/>
                </a:solidFill>
              </a:rPr>
              <a:t>No magic numbers (0,1,2)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23560" y="3566160"/>
            <a:ext cx="3291840" cy="45720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3630168"/>
            <a:ext cx="3200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  </a:t>
            </a:r>
            <a:r>
              <a:rPr lang="en-US" sz="1100" dirty="0">
                <a:solidFill>
                  <a:srgbClr val="1E293B"/>
                </a:solidFill>
              </a:rPr>
              <a:t>Works as loop counter too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23560" y="4133088"/>
            <a:ext cx="329184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4178808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Output: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4407408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STOP! Red light.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CAUTION! Yellow light.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GO! Green light.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" y="5102352"/>
            <a:ext cx="8778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-130302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Pointers to Structures – Complete Guide</a:t>
            </a:r>
            <a:endParaRPr 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7145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dot ( . )  vs  arrow ( -&gt; )  and dynamic allocation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395478"/>
            <a:ext cx="877824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735" y="450215"/>
            <a:ext cx="8503920" cy="1143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Rule: </a:t>
            </a:r>
            <a:r>
              <a:rPr lang="en-US" sz="10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  .  for direct struct variable.  Use  -&gt;  for a pointer to struct.  (*ptr).member  ≡  ptr-&gt;member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875030"/>
            <a:ext cx="8778240" cy="2571115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647065"/>
            <a:ext cx="8778240" cy="2260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585216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All Three Access Methods – Same Result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1156716"/>
            <a:ext cx="8595360" cy="1755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Rectangle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float length;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float width;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Rectangle r1 = {10.5, 5.0};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Rectangle *ptr = &amp;r1;    // ptr holds ADDRESS of r1</a:t>
            </a:r>
            <a:endParaRPr lang="en-US" sz="1000" dirty="0">
              <a:solidFill>
                <a:srgbClr val="7DD3FC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3 equivalent ways to access 'length':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printf("%.1f\n", r1.length);        // 1. direct variable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printf("%.1f\n", (*ptr).length);    // 2. dereference then dot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printf("%.1f\n", ptr-&gt;length);      // 3. arrow (PREFERRED with pointers)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Modifying via pointer changes the original: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ptr-&gt;length = 20.0;    // now r1.length is also 20.0!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printf("r1.length = %.1f\n", r1.length); // 20.0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3394075"/>
            <a:ext cx="8778240" cy="169926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3195955"/>
            <a:ext cx="8778240" cy="17970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3168396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Dynamic Memory Allocation with struct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" y="3865626"/>
            <a:ext cx="8595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&lt;stdlib.h&gt;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Allocate on the heap using malloc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Rectangle *p = (struct Rectangle*) malloc(sizeof(struct Rectangle));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(p != NULL)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p-&gt;length = 8.0;      // use -&gt; because p is a pointer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p-&gt;width  = 4.0;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float area = p-&gt;length * p-&gt;width;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printf("Area = %.1f\n", area);  // 32.0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free(p);                          // always free allocated memory!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 = NULL;                         // good practice: null out after free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5120640"/>
            <a:ext cx="87782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-153162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sizeof() Operator &amp; Memory Layout</a:t>
            </a:r>
            <a:endParaRPr 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828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Understanding how much memory your structs use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674370"/>
            <a:ext cx="5212080" cy="2660015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418465"/>
            <a:ext cx="5212080" cy="25590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379476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sizeof() with struct and union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1178" y="722376"/>
            <a:ext cx="5029200" cy="2606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Student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 name[30];   // 30 bytes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  rollno;     //  4 bytes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float cgpa;       //  4 bytes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  // Expected: 38 bytes  BUT  sizeof = 40 bytes! (padding!)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union Data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  i;          // 4 bytes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float f;          // 4 bytes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 c;          // 1 byte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  // sizeof = 4 bytes (size of LARGEST member)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printf("sizeof(struct Student) = %lu\n", sizeof(struct Student)); // 40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printf("sizeof(union Data)     = %lu\n", sizeof(union Data));     // 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printf("sizeof(int)            = %lu\n", sizeof(int));            // 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printf("sizeof(double)         = %lu\n", sizeof(double));         // 8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77840" y="1024128"/>
            <a:ext cx="33832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1024128"/>
            <a:ext cx="338328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042416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Structure Padding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0" y="1444752"/>
            <a:ext cx="32004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Compiler adds padding bytes to ALIGN data on memory boundaries for faster CPU access.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23560" y="2029968"/>
            <a:ext cx="2331720" cy="384048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41848" y="2075688"/>
            <a:ext cx="22951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</a:rPr>
              <a:t>name[30]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955280" y="2029968"/>
            <a:ext cx="155448" cy="384048"/>
          </a:xfrm>
          <a:prstGeom prst="rect">
            <a:avLst/>
          </a:prstGeom>
          <a:solidFill>
            <a:srgbClr val="CCCCCC">
              <a:alpha val="7000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0728" y="2029968"/>
            <a:ext cx="310896" cy="384048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9016" y="207568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</a:rPr>
              <a:t>rollno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421624" y="2029968"/>
            <a:ext cx="310896" cy="38404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9912" y="207568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</a:rPr>
              <a:t>cgpa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669280" y="2450592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40 bytes total (with 2 padding bytes after name)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23560" y="2834640"/>
            <a:ext cx="3246120" cy="106984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2889504"/>
            <a:ext cx="3154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To prevent padding: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3163824"/>
            <a:ext cx="315468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 __attribute__((packed)):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__attribute__((packed)) Student { ... 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Now sizeof = 38 bytes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182880" y="3429000"/>
          <a:ext cx="5212080" cy="941832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2194560"/>
              </a:tblGrid>
              <a:tr h="1569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Range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1569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char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 byte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−128 to 127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int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 bytes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−2.1B to 2.1B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float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 bytes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±3.4×10³⁸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double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8 bytes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±1.7×10³⁰⁸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pointer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8 bytes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Memory address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-84582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Putting It All Together – Complete Example</a:t>
            </a:r>
            <a:endParaRPr 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2971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struct + union + typedef + enum in one program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774065"/>
            <a:ext cx="8778240" cy="437007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555498"/>
            <a:ext cx="877824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459486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 Complete C Program Using All Unit I Concepts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225296"/>
            <a:ext cx="8595360" cy="3611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&lt;string.h&gt;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enum { SAVINGS, CURRENT, FIXED_DEPOSIT } AccountType;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union {          // union for flexible data storage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  intData;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float fltData;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 strData[20];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Data;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struct {         // main struct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        accNo;</a:t>
            </a:r>
            <a:endParaRPr lang="en-US" sz="900" dirty="0">
              <a:solidFill>
                <a:srgbClr val="7DD3FC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       holderName[50];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float       balance;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AccountType accType;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Data        extra;   // union as struct member!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BankAccount;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deposit(BankAccount *acc, float amount)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acc-&gt;balance += amount;   // pointer, use -&gt;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printf("Deposited %.2f. New balance: %.2f\n", amount, acc-&gt;balance);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withdraw(BankAccount *acc, float amount)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(acc-&gt;balance &gt;= amount) { acc-&gt;balance -= amount; printf("Withdrawn. Balance: %.2f\n", acc-&gt;balance);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else printf("Insufficient funds!\n");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display(BankAccount acc) {           // pass by value, use 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char* types[] = {"SAVINGS","CURRENT","FIXED DEPOSIT"};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printf("[%d] %-20s Balance: %10.2f  Type: %s\n",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acc.accNo, acc.holderName, acc.balance, types[acc.accType]);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Box 10"/>
          <p:cNvSpPr txBox="1"/>
          <p:nvPr/>
        </p:nvSpPr>
        <p:spPr>
          <a:xfrm>
            <a:off x="6322695" y="1797050"/>
            <a:ext cx="233426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int main()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BankAccount a1 = {1001, "Priya Sharma", 50000.0, SAVINGS};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deposit (&amp;a1, 10000.0);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withdraw(&amp;a1, 5000.0);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display (a1);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return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}</a:t>
            </a:r>
            <a:endParaRPr lang="en-US" sz="1000" dirty="0"/>
          </a:p>
          <a:p>
            <a:endParaRPr lang="en-US"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Mistakes &amp; How to Fix Them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Learn from errors before making them!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" y="1024128"/>
            <a:ext cx="4343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1024128"/>
            <a:ext cx="4343400" cy="329184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42416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Missing ; after struct definition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" y="1426464"/>
            <a:ext cx="192024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" y="1426464"/>
            <a:ext cx="19202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</a:rPr>
              <a:t>✗ WRONG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6888" y="1682496"/>
            <a:ext cx="1847088" cy="10241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Student { ...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Missing semicolon after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Student s1;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40280" y="1426464"/>
            <a:ext cx="214884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1426464"/>
            <a:ext cx="21488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</a:rPr>
              <a:t>✓ CORRECT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76856" y="1682496"/>
            <a:ext cx="2075688" cy="10241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Student { ...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             ↑ Required!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Student s1;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024128"/>
            <a:ext cx="4343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24128"/>
            <a:ext cx="4343400" cy="329184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42416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Using . instead of -&gt; with pointer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36592" y="1426464"/>
            <a:ext cx="192024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1426464"/>
            <a:ext cx="19202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</a:rPr>
              <a:t>✗ WRONG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73168" y="1682496"/>
            <a:ext cx="1847088" cy="10241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Student s;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Using . on a pointer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printf("%d", ptr.rollno);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66560" y="1426464"/>
            <a:ext cx="214884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426464"/>
            <a:ext cx="21488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</a:rPr>
              <a:t>✓ CORRECT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03136" y="1682496"/>
            <a:ext cx="2075688" cy="10241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Student *ptr = &amp;s;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Use -&gt; for pointers!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printf("%d", ptr-&gt;rollno);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" y="3017520"/>
            <a:ext cx="4343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37160" y="3017520"/>
            <a:ext cx="4343400" cy="329184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035808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Reading wrong union member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0312" y="3419856"/>
            <a:ext cx="192024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0312" y="3419856"/>
            <a:ext cx="19202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</a:rPr>
              <a:t>✗ WRONG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46888" y="3675888"/>
            <a:ext cx="1847088" cy="10241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union Data d;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d.intVal = 65;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d.fltVal = 3.14;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Reading wrong member!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printf("%d", d.intVal); // GARBAGE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40280" y="3419856"/>
            <a:ext cx="214884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40280" y="3419856"/>
            <a:ext cx="21488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</a:rPr>
              <a:t>✓ CORRECT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276856" y="3675888"/>
            <a:ext cx="2075688" cy="10241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union Data d;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d.fltVal = 3.14;  // write float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printf("%.2f", d.fltVal); // read same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Never read different member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3017520"/>
            <a:ext cx="4343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017520"/>
            <a:ext cx="4343400" cy="329184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035808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Magic numbers instead of enum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36592" y="3419856"/>
            <a:ext cx="192024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3419856"/>
            <a:ext cx="19202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</a:rPr>
              <a:t>✗ WRONG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73168" y="3675888"/>
            <a:ext cx="1847088" cy="10241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(day == 3) // What is 3?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printf("Wednesday");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66560" y="3419856"/>
            <a:ext cx="214884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0" y="3419856"/>
            <a:ext cx="21488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</a:rPr>
              <a:t>✓ CORRECT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03136" y="3675888"/>
            <a:ext cx="2075688" cy="10241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enum Day { MON,TUE,WED,...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(day == WED) // Clear!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printf("Wednesday");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-130302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Practice Program 1 – Student Report Card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7145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Nested structs: Marks inside Student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703580"/>
            <a:ext cx="8778240" cy="4490085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429895"/>
            <a:ext cx="8778240" cy="24955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368046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Student Report Card with Nested Marks Structure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053846"/>
            <a:ext cx="8595360" cy="3611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struct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  maths, physics, chemistry, english, cs;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Marks;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struct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 name[50];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  rollno;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Marks marks;        // NESTED struct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Student;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computeReport(Student *s)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total = s-&gt;marks.maths + s-&gt;marks.physics +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s-&gt;marks.chemistry + s-&gt;marks.english + s-&gt;marks.cs;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float avg = total / 5.0;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*grade = avg&gt;=90?"A+": avg&gt;=80?"A": avg&gt;=70?"B": avg&gt;=60?"C":"F";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printf("\n=== Report Card ===\n");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printf("Name  : %s  Roll: %d\n", s-&gt;name, s-&gt;rollno);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printf("Maths : %d  Phy: %d  Chem: %d  Eng: %d  CS: %d\n",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s-&gt;marks.maths, s-&gt;marks.physics, s-&gt;marks.chemistry,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s-&gt;marks.english, s-&gt;marks.cs);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printf("Total : %d / 500  Average: %.1f  Grade: %s\n", total, avg, grade);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Student s1 = {"Kavya", 101, {95, 88, 92, 87, 98}};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computeReport(&amp;s1);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Output: Total: 460/500  Average: 92.0  Grade: A+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5120640"/>
            <a:ext cx="877824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-141732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Practice Program 2 – Library Book System</a:t>
            </a:r>
            <a:endParaRPr 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Structures with functions: search and display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372745"/>
            <a:ext cx="8778240" cy="478282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212725"/>
            <a:ext cx="8778240" cy="2159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50876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Library Management using struct + functions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962406"/>
            <a:ext cx="8595360" cy="3566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&lt;string.h&gt;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enum { AVAILABLE, BORROWED, RESERVED } BookStatus;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struct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       bookId;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      title[80];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      author[50];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float      price;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BookStatus status;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Book;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displayBook(Book b)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*stat[] = {"Available", "Borrowed", "Reserved"};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printf("[%04d] %-30s by %-20s $%6.2f  [%s]\n",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b.bookId, b.title, b.author, b.price, stat[b.status]);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Book* findBook(Book *lib, int n, int id)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(int i = 0; i &lt; n; i++)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 (lib[i].bookId == id) return &amp;lib[i];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NULL;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Book library[3] =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{1001, "Data Structures", "Tanenbaum",  450.0, AVAILABLE},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{1002, "C Programming",   "Kernighan",  550.0, BORROWED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{1003, "Algorithms",      "Cormen",     800.0, AVAILABLE},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(int i = 0; i &lt; 3; i++) displayBook(library[i]);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Book *found = findBook(library, 3, 1002);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(found) { found-&gt;status = AVAILABLE; printf("\nBook 1002 returned!\n");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5084064"/>
            <a:ext cx="8778240" cy="54864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Structures &amp; Functions – All 4 Patterns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Master all ways to use structs with functions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" y="1024128"/>
            <a:ext cx="43434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1024128"/>
            <a:ext cx="43434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60704"/>
            <a:ext cx="4160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Pattern 1: Input: Pass by Value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481328"/>
            <a:ext cx="416052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" y="1517904"/>
            <a:ext cx="40873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func(struct S 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901952"/>
            <a:ext cx="4160520" cy="585216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" y="1938528"/>
            <a:ext cx="408736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s.x = 5;    // copies only!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original UNCHANGED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532888"/>
            <a:ext cx="4160520" cy="27432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" y="2560320"/>
            <a:ext cx="408736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</a:rPr>
              <a:t>→ Use when: Read-only, small structs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024128"/>
            <a:ext cx="43434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24128"/>
            <a:ext cx="43434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60704"/>
            <a:ext cx="4160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Pattern 2: Input: Pass by Pointer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481328"/>
            <a:ext cx="416052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1517904"/>
            <a:ext cx="40873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func(struct S *s)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1901952"/>
            <a:ext cx="4160520" cy="585216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1938528"/>
            <a:ext cx="408736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s-&gt;x = 5;   // changes original!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&amp;s1 passed from main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532888"/>
            <a:ext cx="4160520" cy="27432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2560320"/>
            <a:ext cx="408736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</a:rPr>
              <a:t>→ Use when: Modify original or large struct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37160" y="2990088"/>
            <a:ext cx="43434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37160" y="2990088"/>
            <a:ext cx="43434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026664"/>
            <a:ext cx="4160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Pattern 3: Output: Return struct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" y="3447288"/>
            <a:ext cx="416052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" y="3483864"/>
            <a:ext cx="40873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S func()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28600" y="3867912"/>
            <a:ext cx="4160520" cy="585216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" y="3904488"/>
            <a:ext cx="408736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S r; r.x=5;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return r;  // full copy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8600" y="4498848"/>
            <a:ext cx="4160520" cy="27432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5176" y="4526280"/>
            <a:ext cx="408736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</a:rPr>
              <a:t>→ Use when: Compute and return new struct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990088"/>
            <a:ext cx="43434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990088"/>
            <a:ext cx="43434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026664"/>
            <a:ext cx="4160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Pattern 4: Both: In-ptr + Return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3447288"/>
            <a:ext cx="416052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1456" y="3483864"/>
            <a:ext cx="40873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S func(struct S *in)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3867912"/>
            <a:ext cx="4160520" cy="585216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91456" y="3904488"/>
            <a:ext cx="408736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S out;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out.x = in-&gt;x*2;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return out;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4498848"/>
            <a:ext cx="4160520" cy="27432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91456" y="4526280"/>
            <a:ext cx="408736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</a:rPr>
              <a:t>→ Use when: Transform: read input, return new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Reference – All Unit I Concepts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One-page cheat sheet for exam preparation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182880" y="1024128"/>
          <a:ext cx="8778240" cy="406908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828800"/>
                <a:gridCol w="1371600"/>
                <a:gridCol w="2651760"/>
              </a:tblGrid>
              <a:tr h="5086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Concept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Keyword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Memory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Access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Rule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struct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struct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All members separate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. or -&gt;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Definition ends with ;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union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union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All members shared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. or -&gt;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Only one valid at a time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typedef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typedef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 extra memory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By alias name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Alias, not new type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enum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enum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Stored as int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By name (WED)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Defaults start at 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bit field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: 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 bits only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By member name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Members in struct only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Self-referential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struct *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Pointer = 8 bytes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-&gt;next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Foundation of linked list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Nested struct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struct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Sum including inner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e1.doj.year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Outer.inner.member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82880" y="5120640"/>
            <a:ext cx="877824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Complex Numbers – Exam-Style Trace Questions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Practice solving manually before running code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024128"/>
            <a:ext cx="877824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8503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Given: z1 = (4 + 3i)   z2 = (2 − 5i)   z3 = (−1 + 2i)   Solve ALL operations step by step.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82880" y="1508760"/>
            <a:ext cx="434340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508760"/>
            <a:ext cx="43434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27048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z1 + z2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" y="1929384"/>
            <a:ext cx="4160520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(4+2) + (3+(−5))i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2770632"/>
            <a:ext cx="4160520" cy="292608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2788920"/>
            <a:ext cx="40873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6 − 2i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09160" y="1508760"/>
            <a:ext cx="434340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508760"/>
            <a:ext cx="43434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527048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z1 − z3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0600" y="1929384"/>
            <a:ext cx="4160520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(4−(−1)) + (3−2)i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00600" y="2770632"/>
            <a:ext cx="4160520" cy="292608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176" y="2788920"/>
            <a:ext cx="40873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5 + 1i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82880" y="3246120"/>
            <a:ext cx="434340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3246120"/>
            <a:ext cx="43434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264408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z1 × z2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74320" y="3666744"/>
            <a:ext cx="4160520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(4×2−3×(−5)) + (4×(−5)+3×2)i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=(8+15)+(−20+6)i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74320" y="4507992"/>
            <a:ext cx="4160520" cy="29260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" y="4526280"/>
            <a:ext cx="40873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23 − 14i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09160" y="3246120"/>
            <a:ext cx="434340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246120"/>
            <a:ext cx="43434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264408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|z1|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00600" y="3666744"/>
            <a:ext cx="4160520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√(4² + 3²) = √(16+9)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800600" y="4507992"/>
            <a:ext cx="4160520" cy="292608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37176" y="4526280"/>
            <a:ext cx="40873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= √25 = 5.0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82880" y="5029200"/>
            <a:ext cx="8778240" cy="11887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5047488"/>
            <a:ext cx="8503920" cy="91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4B8A6"/>
                </a:solidFill>
              </a:rPr>
              <a:t>struct Complex keeps real &amp; imag together — each function takes Complex params and returns a Complex result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 Preparation – Short Answer Questions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Unit I questions likely to appear in exams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" y="1024128"/>
            <a:ext cx="4343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1024128"/>
            <a:ext cx="43434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1115568"/>
            <a:ext cx="640080" cy="32004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67328" y="1161288"/>
            <a:ext cx="6035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2M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" y="1152144"/>
            <a:ext cx="347472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Q1. Define structure in C. How is it different from an array?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24128"/>
            <a:ext cx="4343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24128"/>
            <a:ext cx="43434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0" y="1115568"/>
            <a:ext cx="640080" cy="32004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161288"/>
            <a:ext cx="6035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3M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152144"/>
            <a:ext cx="347472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Q2. What is the difference between passing a struct by value vs by pointer?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" y="2029968"/>
            <a:ext cx="4343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37160" y="2029968"/>
            <a:ext cx="43434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2121408"/>
            <a:ext cx="640080" cy="320040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67328" y="2167128"/>
            <a:ext cx="6035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3M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" y="2157984"/>
            <a:ext cx="347472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Q3. What is a union? How does its memory allocation differ from struct?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029968"/>
            <a:ext cx="4343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029968"/>
            <a:ext cx="43434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75320" y="2121408"/>
            <a:ext cx="640080" cy="320040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93608" y="2167128"/>
            <a:ext cx="6035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3M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2157984"/>
            <a:ext cx="347472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Q4. What is typedef? Show how it is used with struct. Why is it useful?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37160" y="3035808"/>
            <a:ext cx="4343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37160" y="3035808"/>
            <a:ext cx="43434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49040" y="3127248"/>
            <a:ext cx="640080" cy="320040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67328" y="3172968"/>
            <a:ext cx="6035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5M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" y="3163824"/>
            <a:ext cx="347472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Q5. What is a self-referential structure? Give an example and explain why it is the foundation of linked lists.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035808"/>
            <a:ext cx="4343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035808"/>
            <a:ext cx="434340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3127248"/>
            <a:ext cx="640080" cy="320040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93608" y="3172968"/>
            <a:ext cx="6035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5M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3163824"/>
            <a:ext cx="347472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Q6. What are bit fields? Write a struct with bit fields for file permissions (read, write, execute).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37160" y="4041648"/>
            <a:ext cx="4343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20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37160" y="4041648"/>
            <a:ext cx="4343400" cy="9144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49040" y="4133088"/>
            <a:ext cx="640080" cy="320040"/>
          </a:xfrm>
          <a:prstGeom prst="rect">
            <a:avLst/>
          </a:prstGeom>
          <a:solidFill>
            <a:srgbClr val="162032">
              <a:alpha val="25000"/>
            </a:srgbClr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67328" y="4178808"/>
            <a:ext cx="6035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4M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28600" y="4169664"/>
            <a:ext cx="347472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Q7. Define enumeration. Show an enum for seasons and use it in a switch-case.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4041648"/>
            <a:ext cx="4343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4041648"/>
            <a:ext cx="43434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75320" y="4133088"/>
            <a:ext cx="640080" cy="320040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93608" y="4178808"/>
            <a:ext cx="6035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7M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54880" y="4169664"/>
            <a:ext cx="347472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Q8. Write a C program using struct Complex to perform addition and multiplication of two complex numbers.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 Preparation – Code Writing Questions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Higher Bloom's Level questions (BTL 3–5)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" y="1024128"/>
            <a:ext cx="43434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1024128"/>
            <a:ext cx="43434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42416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Exercise A – Employee Payroll (10M)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8600" y="1444752"/>
            <a:ext cx="4160520" cy="1335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Design a struct Employee with: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empId, name[50], designation[30]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basicPay, HRA (40% of basic), DA (20% of basic)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grossPay (calculated)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Write functions: readEmployee(), computePay(), displayEmployee()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Create an array of 5 employees and display all.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24128"/>
            <a:ext cx="43434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24128"/>
            <a:ext cx="43434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42416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Exercise B – Complex Number Library (10M)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54880" y="1444752"/>
            <a:ext cx="4160520" cy="1335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Implement a complete Complex Number library: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struct Complex { float real; float imag;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Functions: add, subtract, multiply, divide, conjugate, magnitude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Display as  a + bi  format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Main: test all operations with z1=(3+4i) and z2=(1+2i)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" y="2990088"/>
            <a:ext cx="43434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37160" y="2990088"/>
            <a:ext cx="43434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3008376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Exercise C – Bit Field Processor (7M)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28600" y="3410712"/>
            <a:ext cx="4160520" cy="1335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Design a struct Status using bit fields: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isOn:1, isRunning:1, errorCode:4, priority:3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Use only 9 bits total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Write functions: setStatus(), checkError(), getPriority()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Show sizeof comparison with regular struct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990088"/>
            <a:ext cx="43434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990088"/>
            <a:ext cx="43434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008376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Exercise D – Union Variant Type (7M)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0" y="3410712"/>
            <a:ext cx="4160520" cy="1335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Create a 'Variant' type using union: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union { int iVal; float fVal; char sVal[20];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enum DataType { INT_TYPE, FLOAT_TYPE, STR_TYPE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struct Variant { DataType type; Data data;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Functions: createInt(), createFloat(), printVariant()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MCQ Practice – Test Your Understanding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Circle the correct answer (Answers at bottom)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" y="1024128"/>
            <a:ext cx="43434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1024128"/>
            <a:ext cx="434340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24128"/>
            <a:ext cx="4160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Q1. Size of union { int a; float b; char c[8]; } is: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0312" y="1408176"/>
            <a:ext cx="2057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" y="1435608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A) 13 bytes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59152" y="1408176"/>
            <a:ext cx="2057400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1435608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B) 8 bytes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0312" y="1700784"/>
            <a:ext cx="2057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" y="1728216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C) 4 bytes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59152" y="1700784"/>
            <a:ext cx="2057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95728" y="1728216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D) 16 bytes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10312" y="2011680"/>
            <a:ext cx="4197096" cy="2286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" y="2029968"/>
            <a:ext cx="4160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</a:rPr>
              <a:t>Ans: B) 8 bytes – size = largest member (char c[8])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024128"/>
            <a:ext cx="43434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24128"/>
            <a:ext cx="434340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024128"/>
            <a:ext cx="4160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Q2. Correct way to access struct via pointer ptr: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36592" y="1408176"/>
            <a:ext cx="2057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435608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A) ptr.member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85432" y="1408176"/>
            <a:ext cx="2057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22008" y="1435608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B) ptr:member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36592" y="1700784"/>
            <a:ext cx="2057400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728216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C) ptr-&gt;member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85432" y="1700784"/>
            <a:ext cx="2057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22008" y="1728216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D) ptr.-&gt;member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36592" y="2011680"/>
            <a:ext cx="4197096" cy="22860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2029968"/>
            <a:ext cx="4160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</a:rPr>
              <a:t>Ans: C) ptr-&gt;member (arrow operator for pointers)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7160" y="2395728"/>
            <a:ext cx="43434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37160" y="2395728"/>
            <a:ext cx="434340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2395728"/>
            <a:ext cx="4160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Q3. enum Day{MON,TUE,WED}; Value of WED is: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10312" y="2779776"/>
            <a:ext cx="2057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6888" y="2807208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A) 1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359152" y="2779776"/>
            <a:ext cx="2057400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95728" y="2807208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B) 2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10312" y="3072384"/>
            <a:ext cx="2057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6888" y="3099816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C) 3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359152" y="3072384"/>
            <a:ext cx="2057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95728" y="3099816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D) 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10312" y="3383280"/>
            <a:ext cx="4197096" cy="22860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6888" y="3401568"/>
            <a:ext cx="4160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</a:rPr>
              <a:t>Ans: B) 2 – MON=0, TUE=1, WED=2 (auto increment)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2395728"/>
            <a:ext cx="43434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63440" y="2395728"/>
            <a:ext cx="434340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2395728"/>
            <a:ext cx="4160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Q4. What does typedef NOT do?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736592" y="2779776"/>
            <a:ext cx="2057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73168" y="2807208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A) Creates alias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885432" y="2779776"/>
            <a:ext cx="2057400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22008" y="2807208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B) Creates new type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736592" y="3072384"/>
            <a:ext cx="2057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73168" y="3099816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C) Simplifies code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885432" y="3072384"/>
            <a:ext cx="2057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22008" y="3099816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D) Works with struct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736592" y="3383280"/>
            <a:ext cx="4197096" cy="22860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73168" y="3401568"/>
            <a:ext cx="4160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</a:rPr>
              <a:t>Ans: B) typedef creates alias, NOT a new type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37160" y="3767328"/>
            <a:ext cx="43434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137160" y="3767328"/>
            <a:ext cx="4343400" cy="3291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28600" y="3767328"/>
            <a:ext cx="4160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Q5. Which is the CORRECT self-referential struct?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10312" y="4151376"/>
            <a:ext cx="2057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46888" y="4178808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A) struct Node{int d; Node *n;}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359152" y="4151376"/>
            <a:ext cx="2057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395728" y="4178808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B) struct Node{int d; struct Node n;}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10312" y="4443984"/>
            <a:ext cx="2057400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6888" y="4471416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C) struct Node{int d; struct Node *n;}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359152" y="4443984"/>
            <a:ext cx="2057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95728" y="4471416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D) struct{int d; Node *n;}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210312" y="4754880"/>
            <a:ext cx="4197096" cy="22860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46888" y="4773168"/>
            <a:ext cx="4160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</a:rPr>
              <a:t>Ans: C) Must use struct Node * (pointer, not direct)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663440" y="3767328"/>
            <a:ext cx="43434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620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4663440" y="3767328"/>
            <a:ext cx="4343400" cy="329184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54880" y="3767328"/>
            <a:ext cx="4160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Q6. In struct Bits{ unsigned x:3; unsigned y:2; }, max value of x is: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4736592" y="4151376"/>
            <a:ext cx="2057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73168" y="4178808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A) 3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885432" y="4151376"/>
            <a:ext cx="2057400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22008" y="4178808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B) 7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4736592" y="4443984"/>
            <a:ext cx="2057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73168" y="4471416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C) 4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6885432" y="4443984"/>
            <a:ext cx="2057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922008" y="4471416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D) 8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736592" y="4754880"/>
            <a:ext cx="4197096" cy="228600"/>
          </a:xfrm>
          <a:prstGeom prst="rect">
            <a:avLst/>
          </a:prstGeom>
          <a:solidFill>
            <a:srgbClr val="162032">
              <a:alpha val="15000"/>
            </a:srgbClr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773168" y="4773168"/>
            <a:ext cx="4160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</a:rPr>
              <a:t>Ans: B) 7 – 3 bits can hold 0 to 2³-1 = 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Structures in the Real World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Where these concepts are used in actual software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" y="1024128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1024128"/>
            <a:ext cx="283464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60704"/>
            <a:ext cx="594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20756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Operating Systems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" y="1536192"/>
            <a:ext cx="2651760" cy="1261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struct Process { pid, state, priority, memory* }; — Every OS scheduler uses structs to track processes. struct File { name, size, permissions (bit fields!) }; 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36392" y="1024128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36392" y="1024128"/>
            <a:ext cx="28346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1060704"/>
            <a:ext cx="594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22192" y="1097280"/>
            <a:ext cx="20756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Database Engines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27832" y="1536192"/>
            <a:ext cx="2651760" cy="1261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Records in MySQL/PostgreSQL are implemented as C structs. Each row = one struct instance. Indexes use self-referential structs (B-Trees)!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35624" y="1024128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35624" y="1024128"/>
            <a:ext cx="283464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7064" y="1060704"/>
            <a:ext cx="594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21424" y="1097280"/>
            <a:ext cx="20756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Networking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27064" y="1536192"/>
            <a:ext cx="2651760" cy="1261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struct sockaddr_in { sin_family, sin_port, sin_addr }; struct ip_header { version:4, ihl:4, tos, ...} (bit fields for protocol headers!)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37160" y="2962656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37160" y="2962656"/>
            <a:ext cx="283464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2999232"/>
            <a:ext cx="594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GAME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035808"/>
            <a:ext cx="20756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Game Engines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8600" y="3474720"/>
            <a:ext cx="2651760" cy="1261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struct Vector3D { float x, y, z; } for 3D positions. struct Color { unsigned r:8, g:8, b:8, a:8; } — bit fields pack RGBA colors!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36392" y="2962656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36392" y="2962656"/>
            <a:ext cx="283464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27832" y="2999232"/>
            <a:ext cx="594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EMBED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22192" y="3035808"/>
            <a:ext cx="20756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Embedded Systems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27832" y="3474720"/>
            <a:ext cx="2651760" cy="1261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struct MotorControl { unsigned enable:1, direction:1, speed:6; } — Bit fields are ESSENTIAL in microcontrollers to control hardware registers!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35624" y="2962656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20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35624" y="2962656"/>
            <a:ext cx="283464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27064" y="2999232"/>
            <a:ext cx="594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LINK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21424" y="3035808"/>
            <a:ext cx="20756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Linked Data Structures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27064" y="3474720"/>
            <a:ext cx="2651760" cy="1261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Self-referential structs are the FOUNDATION: struct Node *next; (Linked List), struct TreeNode *left, *right; (Binary Tree) — Unit III &amp; V!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1175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-84582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 I – Complete Concept Map</a:t>
            </a:r>
            <a:endParaRPr 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22860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How all topics connect to each other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0" y="1920240"/>
            <a:ext cx="2194560" cy="914400"/>
          </a:xfrm>
          <a:prstGeom prst="rect">
            <a:avLst/>
          </a:prstGeom>
          <a:solidFill>
            <a:srgbClr val="162032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20440" y="2029968"/>
            <a:ext cx="2103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</a:rPr>
              <a:t>struct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520440" y="2377440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(Core Concept)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1188720"/>
            <a:ext cx="1737360" cy="685800"/>
          </a:xfrm>
          <a:prstGeom prst="rect">
            <a:avLst/>
          </a:prstGeom>
          <a:solidFill>
            <a:srgbClr val="F59E0B">
              <a:alpha val="18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8600" y="1243584"/>
            <a:ext cx="16459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union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(shared memory)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71980" y="1684020"/>
            <a:ext cx="1602740" cy="60198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235190" y="1783080"/>
            <a:ext cx="1691640" cy="685800"/>
          </a:xfrm>
          <a:prstGeom prst="rect">
            <a:avLst/>
          </a:prstGeom>
          <a:solidFill>
            <a:srgbClr val="7C3AED">
              <a:alpha val="18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69480" y="1860804"/>
            <a:ext cx="1600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typedef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(alias name)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0" y="2212848"/>
            <a:ext cx="155448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37160" y="3291840"/>
            <a:ext cx="1737360" cy="685800"/>
          </a:xfrm>
          <a:prstGeom prst="rect">
            <a:avLst/>
          </a:prstGeom>
          <a:solidFill>
            <a:srgbClr val="0D9488">
              <a:alpha val="18000"/>
            </a:srgbClr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" y="3346704"/>
            <a:ext cx="16459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enum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(named constants)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 flipV="1">
            <a:off x="1881505" y="2837815"/>
            <a:ext cx="2266950" cy="728345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223760" y="3291840"/>
            <a:ext cx="1691640" cy="685800"/>
          </a:xfrm>
          <a:prstGeom prst="rect">
            <a:avLst/>
          </a:prstGeom>
          <a:solidFill>
            <a:srgbClr val="EF4444">
              <a:alpha val="18000"/>
            </a:srgbClr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69480" y="3346704"/>
            <a:ext cx="1600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bit fields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(pack bits)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0" y="2651760"/>
            <a:ext cx="1554480" cy="914400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520440" y="4187952"/>
            <a:ext cx="2011680" cy="685800"/>
          </a:xfrm>
          <a:prstGeom prst="rect">
            <a:avLst/>
          </a:prstGeom>
          <a:solidFill>
            <a:srgbClr val="10B981">
              <a:alpha val="18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566160" y="4242816"/>
            <a:ext cx="19202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Self-referential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→ Linked List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2868930"/>
            <a:ext cx="0" cy="1353312"/>
          </a:xfrm>
          <a:prstGeom prst="line">
            <a:avLst/>
          </a:prstGeom>
          <a:noFill/>
          <a:ln w="19050">
            <a:solidFill>
              <a:srgbClr val="10B981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520440" y="457200"/>
            <a:ext cx="2011680" cy="685800"/>
          </a:xfrm>
          <a:prstGeom prst="rect">
            <a:avLst/>
          </a:prstGeom>
          <a:solidFill>
            <a:srgbClr val="162032">
              <a:alpha val="18000"/>
            </a:srgbClr>
          </a:solidFill>
          <a:ln w="19050">
            <a:solidFill>
              <a:srgbClr val="1620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66160" y="512064"/>
            <a:ext cx="19202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Nested struct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(inner struct)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33900" y="1152525"/>
            <a:ext cx="38735" cy="804545"/>
          </a:xfrm>
          <a:prstGeom prst="line">
            <a:avLst/>
          </a:prstGeom>
          <a:noFill/>
          <a:ln w="19050">
            <a:solidFill>
              <a:srgbClr val="16203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914400" y="2286000"/>
            <a:ext cx="1920240" cy="685800"/>
          </a:xfrm>
          <a:prstGeom prst="rect">
            <a:avLst/>
          </a:prstGeom>
          <a:solidFill>
            <a:srgbClr val="7C3AED">
              <a:alpha val="18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60120" y="2340864"/>
            <a:ext cx="18288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Complex Numbers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(real + imag)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834640" y="2468880"/>
            <a:ext cx="64008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137160" y="4873752"/>
            <a:ext cx="886968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4901184"/>
            <a:ext cx="8686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All these concepts build into Unit III (Linked Lists) → Unit IV (Stacks &amp; Queues) → Unit V (Trees &amp; Graphs)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Unit I – 10 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4297680" cy="749808"/>
          </a:xfrm>
          <a:prstGeom prst="rect">
            <a:avLst/>
          </a:prstGeom>
          <a:solidFill>
            <a:srgbClr val="243B5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804672"/>
            <a:ext cx="45720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" y="987552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859536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struct groups different data types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1887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Access via  .  (direct) or  -&gt;  (pointer)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297680" cy="749808"/>
          </a:xfrm>
          <a:prstGeom prst="rect">
            <a:avLst/>
          </a:prstGeom>
          <a:solidFill>
            <a:srgbClr val="243B5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804672"/>
            <a:ext cx="45720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987552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7800" y="859536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Union shares memory (size = largest)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1887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Only one member valid at a 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" y="1645920"/>
            <a:ext cx="4297680" cy="749808"/>
          </a:xfrm>
          <a:prstGeom prst="rect">
            <a:avLst/>
          </a:prstGeom>
          <a:solidFill>
            <a:srgbClr val="243B5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1645920"/>
            <a:ext cx="45720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" y="1828800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1700784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typedef creates clean aliases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202996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No new type; just a shorter name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645920"/>
            <a:ext cx="4297680" cy="749808"/>
          </a:xfrm>
          <a:prstGeom prst="rect">
            <a:avLst/>
          </a:prstGeom>
          <a:solidFill>
            <a:srgbClr val="243B5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1645920"/>
            <a:ext cx="457200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1828800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57800" y="1700784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enum replaces magic numbers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202996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Defaults start at 0, auto-increments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" y="2487168"/>
            <a:ext cx="4297680" cy="749808"/>
          </a:xfrm>
          <a:prstGeom prst="rect">
            <a:avLst/>
          </a:prstGeom>
          <a:solidFill>
            <a:srgbClr val="243B5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2487168"/>
            <a:ext cx="45720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0312" y="2670048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" y="254203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Bit fields pack data into bits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287121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Essential for embedded &amp; memory-limited apps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487168"/>
            <a:ext cx="4297680" cy="749808"/>
          </a:xfrm>
          <a:prstGeom prst="rect">
            <a:avLst/>
          </a:prstGeom>
          <a:solidFill>
            <a:srgbClr val="243B5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2487168"/>
            <a:ext cx="457200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2670048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57800" y="254203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Self-referential → Linked List!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57800" y="287121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struct Node { int d; struct Node *next; }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82880" y="3328416"/>
            <a:ext cx="4297680" cy="749808"/>
          </a:xfrm>
          <a:prstGeom prst="rect">
            <a:avLst/>
          </a:prstGeom>
          <a:solidFill>
            <a:srgbClr val="243B5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2880" y="3328416"/>
            <a:ext cx="45720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0312" y="3511296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1520" y="33832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Pass struct by value or pointer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31520" y="37124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Value = copy; Pointer = modify original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3328416"/>
            <a:ext cx="4297680" cy="749808"/>
          </a:xfrm>
          <a:prstGeom prst="rect">
            <a:avLst/>
          </a:prstGeom>
          <a:solidFill>
            <a:srgbClr val="243B5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3328416"/>
            <a:ext cx="45720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3511296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257800" y="33832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struct can return from function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57800" y="37124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Return type = struct type; C copies on return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82880" y="4169664"/>
            <a:ext cx="4297680" cy="749808"/>
          </a:xfrm>
          <a:prstGeom prst="rect">
            <a:avLst/>
          </a:prstGeom>
          <a:solidFill>
            <a:srgbClr val="243B5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2880" y="4169664"/>
            <a:ext cx="457200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0312" y="4352544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31520" y="422452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Complex numbers = perfect struct use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31520" y="45537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real + imag belong together → struct Complex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09160" y="4169664"/>
            <a:ext cx="4297680" cy="749808"/>
          </a:xfrm>
          <a:prstGeom prst="rect">
            <a:avLst/>
          </a:prstGeom>
          <a:solidFill>
            <a:srgbClr val="243B5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9160" y="4169664"/>
            <a:ext cx="45720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36592" y="4352544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257800" y="422452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struct + enum + typedef = power combo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257800" y="45537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Clean, readable, professional C code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 Exercises – Unit 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Hands-on programs to solidify understanding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" y="1024128"/>
            <a:ext cx="43434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1024128"/>
            <a:ext cx="43434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42416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Lab 1: Student Database  [Beginner]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1444752"/>
            <a:ext cx="416052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Create struct Student. Read 5 students, display all, find topper, calculate class average CGPA.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993392"/>
            <a:ext cx="4160520" cy="256032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" y="2020824"/>
            <a:ext cx="40873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</a:rPr>
              <a:t>Skills: struct · array of structs · functions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024128"/>
            <a:ext cx="43434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24128"/>
            <a:ext cx="43434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042416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Lab 2: Complex Number Library  [Intermediate]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444752"/>
            <a:ext cx="416052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Implement full Complex struct with: add, subtract, multiply, divide, conjugate, magnitude, display.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993392"/>
            <a:ext cx="4160520" cy="256032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2020824"/>
            <a:ext cx="40873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</a:rPr>
              <a:t>Skills: struct · typedef · function returning struct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160" y="2395728"/>
            <a:ext cx="43434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37160" y="2395728"/>
            <a:ext cx="43434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414016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Lab 3: Bit Field File Permissions  [Intermediate]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" y="2816352"/>
            <a:ext cx="416052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Create bit field struct for file permissions (read:1, write:1, exec:1). Set, clear, toggle, print.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3364992"/>
            <a:ext cx="4160520" cy="256032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" y="3392424"/>
            <a:ext cx="40873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</a:rPr>
              <a:t>Skills: bit fields · struct · bitwise concepts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2395728"/>
            <a:ext cx="43434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395728"/>
            <a:ext cx="43434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414016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Lab 4: Bank Account System  [Advanced]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2816352"/>
            <a:ext cx="416052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struct BankAccount + enum AccountType + union. Deposit, withdraw, transfer, generate statement.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364992"/>
            <a:ext cx="4160520" cy="256032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3392424"/>
            <a:ext cx="40873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</a:rPr>
              <a:t>Skills: struct · union · enum · typedef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7160" y="3767328"/>
            <a:ext cx="43434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37160" y="3767328"/>
            <a:ext cx="43434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3785616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Lab 5: Self-Referential Mini-List  [Advanced]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28600" y="4187952"/>
            <a:ext cx="416052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Create 4 Node structs manually. Link them. Traverse forward. Print data at each step.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4736592"/>
            <a:ext cx="4160520" cy="256032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5176" y="4764024"/>
            <a:ext cx="40873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</a:rPr>
              <a:t>Skills: self-referential struct · pointer traversal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767328"/>
            <a:ext cx="43434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1620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3767328"/>
            <a:ext cx="434340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785616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Lab 6: Employee Payroll  [Intermediate]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54880" y="4187952"/>
            <a:ext cx="416052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Nested struct: struct Date inside struct Employee. Compute HRA (40%), DA (20%), Net Pay.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736592"/>
            <a:ext cx="4160520" cy="256032"/>
          </a:xfrm>
          <a:prstGeom prst="rect">
            <a:avLst/>
          </a:prstGeom>
          <a:solidFill>
            <a:srgbClr val="162032">
              <a:alpha val="15000"/>
            </a:srgbClr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91456" y="4764024"/>
            <a:ext cx="40873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</a:rPr>
              <a:t>Skills: nested struct · functions · computation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Textbooks &amp; References – Unit 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Where to read more for deeper understanding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024128"/>
            <a:ext cx="8778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24128"/>
            <a:ext cx="914400" cy="73152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225296"/>
            <a:ext cx="87782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PRIMARY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188720" y="106984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Data Structures: A Pseudocode Approach with 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408176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R.F. Gilberg &amp; B.A. Forouzan · Cengage Learning, 2nd Edition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1097280"/>
            <a:ext cx="2468880" cy="585216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133856"/>
            <a:ext cx="23774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Chapter 1–2: C Structures, Unions, Pointers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2880" y="1828800"/>
            <a:ext cx="8778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1828800"/>
            <a:ext cx="914400" cy="73152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2029968"/>
            <a:ext cx="87782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PRIMARY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88720" y="187452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Data Structure using 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2212848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Reema Thareja · Oxford University Press, 3rd Edition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1901952"/>
            <a:ext cx="2468880" cy="585216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938528"/>
            <a:ext cx="23774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Unit I: User-Defined Data Types, Structures, Unions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2880" y="2633472"/>
            <a:ext cx="8778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2633472"/>
            <a:ext cx="914400" cy="73152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" y="2834640"/>
            <a:ext cx="87782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PRIMARY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88720" y="267919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 Programming and Data Structures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3017520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B.A. Forouzan &amp; R.F. Gilberg · Cengage Learning, 3rd Edition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2706624"/>
            <a:ext cx="2468880" cy="585216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2743200"/>
            <a:ext cx="23774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Part II: Advanced C Features – struct, union, typedef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2880" y="3438144"/>
            <a:ext cx="8778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3438144"/>
            <a:ext cx="914400" cy="731520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3639312"/>
            <a:ext cx="87782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REFERENCE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88720" y="348386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Data Structures using 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88720" y="382219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A.S. Tanenbaum, Y. Langsam, M.J. Augenstein · PHI/Pearson Education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3511296"/>
            <a:ext cx="2468880" cy="585216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3547872"/>
            <a:ext cx="23774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Chapter 1: Introduction to C Structures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82880" y="4242816"/>
            <a:ext cx="8778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82880" y="4242816"/>
            <a:ext cx="914400" cy="731520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" y="4443984"/>
            <a:ext cx="87782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REFERENCE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188720" y="4288536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The C Programming Language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88720" y="4626864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Brian W. Kernighan &amp; Dennis M. Ritchie · Prentice Hall of India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0" y="4315968"/>
            <a:ext cx="2468880" cy="585216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4352544"/>
            <a:ext cx="23774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Chapter 6: Structures – Complete coverage of struct, union, typedef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 Model – struct, union, enum, bit fields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Visualizing how each type uses RAM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" y="1024128"/>
            <a:ext cx="429768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1024128"/>
            <a:ext cx="42976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42416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struct Memory (each gets own slot)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444752"/>
            <a:ext cx="4114800" cy="365760"/>
          </a:xfrm>
          <a:prstGeom prst="rect">
            <a:avLst/>
          </a:prstGeom>
          <a:solidFill>
            <a:srgbClr val="065F5F">
              <a:alpha val="45000"/>
            </a:srgbClr>
          </a:solidFill>
          <a:ln w="12700">
            <a:solidFill>
              <a:srgbClr val="065F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463040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char name[10] (10B)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1810512"/>
            <a:ext cx="4114800" cy="228600"/>
          </a:xfrm>
          <a:prstGeom prst="rect">
            <a:avLst/>
          </a:prstGeom>
          <a:solidFill>
            <a:srgbClr val="CCCCCC">
              <a:alpha val="8000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28800"/>
            <a:ext cx="40233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[padding: 2] (2B)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2039112"/>
            <a:ext cx="4114800" cy="228600"/>
          </a:xfrm>
          <a:prstGeom prst="rect">
            <a:avLst/>
          </a:prstGeom>
          <a:solidFill>
            <a:srgbClr val="4C1D95">
              <a:alpha val="45000"/>
            </a:srgbClr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057400"/>
            <a:ext cx="40233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 rollno (4B)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2267712"/>
            <a:ext cx="4114800" cy="228600"/>
          </a:xfrm>
          <a:prstGeom prst="rect">
            <a:avLst/>
          </a:prstGeom>
          <a:solidFill>
            <a:srgbClr val="92400E">
              <a:alpha val="45000"/>
            </a:srgbClr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286000"/>
            <a:ext cx="40233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float cgpa (4B)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2496312"/>
            <a:ext cx="4114800" cy="365760"/>
          </a:xfrm>
          <a:prstGeom prst="rect">
            <a:avLst/>
          </a:prstGeom>
          <a:solidFill>
            <a:srgbClr val="065F5F">
              <a:alpha val="45000"/>
            </a:srgbClr>
          </a:solidFill>
          <a:ln w="12700">
            <a:solidFill>
              <a:srgbClr val="065F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514600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char br[10] (10B)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862072"/>
            <a:ext cx="4114800" cy="228600"/>
          </a:xfrm>
          <a:prstGeom prst="rect">
            <a:avLst/>
          </a:prstGeom>
          <a:solidFill>
            <a:srgbClr val="CCCCCC">
              <a:alpha val="8000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880360"/>
            <a:ext cx="40233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[padding: 2] (2B)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8600" y="3136392"/>
            <a:ext cx="4114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Total: 32 bytes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1024128"/>
            <a:ext cx="429768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024128"/>
            <a:ext cx="42976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042416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union Memory (all share one slot)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1444752"/>
            <a:ext cx="4114800" cy="457200"/>
          </a:xfrm>
          <a:prstGeom prst="rect">
            <a:avLst/>
          </a:prstGeom>
          <a:solidFill>
            <a:srgbClr val="0D9488">
              <a:alpha val="50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50876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int i (4B) — starts at byte 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1947672"/>
            <a:ext cx="4114800" cy="457200"/>
          </a:xfrm>
          <a:prstGeom prst="rect">
            <a:avLst/>
          </a:prstGeom>
          <a:solidFill>
            <a:srgbClr val="7C3AED">
              <a:alpha val="40000"/>
            </a:srgbClr>
          </a:solidFill>
          <a:ln w="19050">
            <a:solidFill>
              <a:srgbClr val="7C3AED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4846320" y="201168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float f (4B) — starts at byte 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450592"/>
            <a:ext cx="4114800" cy="457200"/>
          </a:xfrm>
          <a:prstGeom prst="rect">
            <a:avLst/>
          </a:prstGeom>
          <a:solidFill>
            <a:srgbClr val="162032">
              <a:alpha val="30000"/>
            </a:srgbClr>
          </a:solidFill>
          <a:ln w="19050">
            <a:solidFill>
              <a:srgbClr val="162032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4846320" y="251460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double d (8B) — starts at byte 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2999232"/>
            <a:ext cx="4114800" cy="502920"/>
          </a:xfrm>
          <a:prstGeom prst="rect">
            <a:avLst/>
          </a:prstGeom>
          <a:solidFill>
            <a:srgbClr val="F59E0B">
              <a:alpha val="40000"/>
            </a:srgbClr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06324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← 8 bytes TOTAL (all three overlap here)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356616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sizeof(union) = sizeof(largest) = 8 bytes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388620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</a:rPr>
              <a:t>struct memory: sum + padding = 32 bytes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</a:rPr>
              <a:t>vs union: only 8 bytes – 75% saving!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0043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-118745"/>
            <a:ext cx="8595360" cy="3835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Answer – Complex Number Question (7M)</a:t>
            </a:r>
            <a:endParaRPr 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6002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How a top student would answer this exam question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395605"/>
            <a:ext cx="8957310" cy="2184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358775"/>
            <a:ext cx="8865235" cy="2705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Question: Write a C program using structures to add and multiply two complex numbers. Show output.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82880" y="812165"/>
            <a:ext cx="8961755" cy="433578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508760"/>
            <a:ext cx="877824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735" y="555625"/>
            <a:ext cx="8595360" cy="359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 Answer – Full Program (Marks-worthy)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1478788"/>
            <a:ext cx="8595360" cy="3136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&lt;math.h&gt;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Structure to represent a complex number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struct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float real;     /* real part     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float imag;     /* imaginary part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Complex;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Function to display: a + bi format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display(Complex c)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(c.imag &gt;= 0) printf("(%.2f + %.2fi)", c.real,  c.imag);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else             printf("(%.2f - %.2fi)", c.real, -c.imag);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Function to add: (a+bi)+(c+di) = (a+c)+(b+d)i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Complex addC(Complex a, Complex b)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Complex 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r.real = a.real + b.real;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r.imag = a.imag + b.imag;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Function to multiply: (a+bi)*(c+di) = (ac-bd)+(ad+bc)i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Complex mulC(Complex a, Complex b)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Complex 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r.real = a.real*b.real - a.imag*b.imag;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r.imag = a.real*b.imag + a.imag*b.real;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5138928"/>
            <a:ext cx="877824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Box 12"/>
          <p:cNvSpPr txBox="1"/>
          <p:nvPr/>
        </p:nvSpPr>
        <p:spPr>
          <a:xfrm>
            <a:off x="5091430" y="1099820"/>
            <a:ext cx="3903345" cy="1906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int main()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Complex z1 = {3.0, 4.0};    /* z1 = 3 + 4i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Complex z2 = {1.0, 2.0};    /* z2 = 1 + 2i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printf("z1 = ");  display(z1); printf("\n");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printf("z2 = ");  display(z2); printf("\n");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printf("Sum  = "); display(addC(z1,z2)); printf("\n"); /* (4+6i) 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printf("Prod = "); display(mulC(z1,z2)); printf("\n"); /* (-5+10i)*/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return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}</a:t>
            </a:r>
            <a:endParaRPr lang="en-US" sz="1000" dirty="0"/>
          </a:p>
          <a:p>
            <a:endParaRPr lang="en-US" sz="1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365760"/>
            <a:ext cx="2926080" cy="2926080"/>
          </a:xfrm>
          <a:prstGeom prst="ellipse">
            <a:avLst/>
          </a:prstGeom>
          <a:solidFill>
            <a:srgbClr val="0D9488">
              <a:alpha val="16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286000"/>
            <a:ext cx="1828800" cy="1828800"/>
          </a:xfrm>
          <a:prstGeom prst="ellipse">
            <a:avLst/>
          </a:prstGeom>
          <a:solidFill>
            <a:srgbClr val="F59E0B">
              <a:alpha val="16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0" y="2743200"/>
            <a:ext cx="1280160" cy="1280160"/>
          </a:xfrm>
          <a:prstGeom prst="ellipse">
            <a:avLst/>
          </a:prstGeom>
          <a:solidFill>
            <a:srgbClr val="7C3AED">
              <a:alpha val="16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6576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14B8A6"/>
                </a:solidFill>
              </a:rPr>
              <a:t>END OF UNIT 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54864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Structure &amp;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Union Types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46 Slides · Complete Coverage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8321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✓ </a:t>
            </a:r>
            <a:r>
              <a:rPr lang="en-US" sz="1200" dirty="0">
                <a:solidFill>
                  <a:srgbClr val="E2E8F0"/>
                </a:solidFill>
              </a:rPr>
              <a:t>User-Defined Structures · Initialization · Access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8321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✓ </a:t>
            </a:r>
            <a:r>
              <a:rPr lang="en-US" sz="1200" dirty="0">
                <a:solidFill>
                  <a:srgbClr val="E2E8F0"/>
                </a:solidFill>
              </a:rPr>
              <a:t>Structs as Function Parameters &amp; Return Values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8321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✓ </a:t>
            </a:r>
            <a:r>
              <a:rPr lang="en-US" sz="1200" dirty="0">
                <a:solidFill>
                  <a:srgbClr val="E2E8F0"/>
                </a:solidFill>
              </a:rPr>
              <a:t>Complex Numbers using struct (Add/Sub/Mul/Div)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8321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✓ </a:t>
            </a:r>
            <a:r>
              <a:rPr lang="en-US" sz="1200" dirty="0">
                <a:solidFill>
                  <a:srgbClr val="E2E8F0"/>
                </a:solidFill>
              </a:rPr>
              <a:t>Nested Structures · Arrays of Structures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8321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✓ </a:t>
            </a:r>
            <a:r>
              <a:rPr lang="en-US" sz="1200" dirty="0">
                <a:solidFill>
                  <a:srgbClr val="E2E8F0"/>
                </a:solidFill>
              </a:rPr>
              <a:t>Self-Referential Structures (basis of Linked Lists)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321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✓ </a:t>
            </a:r>
            <a:r>
              <a:rPr lang="en-US" sz="1200" dirty="0">
                <a:solidFill>
                  <a:srgbClr val="E2E8F0"/>
                </a:solidFill>
              </a:rPr>
              <a:t>Bit Fields · Union Types · typedef · enum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solidFill>
            <a:srgbClr val="243B5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736592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Next: Unit II – Text and Binary File Pointers (Files, fopen/fclose, fread/fwrite, fseek, ftell)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40902</Words>
  <Application>WPS Presentation</Application>
  <PresentationFormat>On-screen Show (16:9)</PresentationFormat>
  <Paragraphs>1998</Paragraphs>
  <Slides>45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9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Times New Roman</vt:lpstr>
      <vt:lpstr>Calibri Light</vt:lpstr>
      <vt:lpstr>Office Theme</vt:lpstr>
      <vt:lpstr>UNIT1:Structures and Union Types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Unit I - Complete</dc:title>
  <dc:creator>PptxGenJS</dc:creator>
  <dc:subject>PptxGenJS Presentation</dc:subject>
  <cp:lastModifiedBy>Ramakrishna gandi</cp:lastModifiedBy>
  <cp:revision>26</cp:revision>
  <dcterms:created xsi:type="dcterms:W3CDTF">2026-02-19T14:06:00Z</dcterms:created>
  <dcterms:modified xsi:type="dcterms:W3CDTF">2026-02-19T15:57:56Z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2B82E45BC0674B53BCE042212DFBCE1F_12</vt:lpwstr>
  </property>
  <property fmtid="{D5CDD505-2E9C-101B-9397-08002B2CF9AE}" pid="3" name="KSOProductBuildVer">
    <vt:lpwstr>1033-12.2.0.23196</vt:lpwstr>
  </property>
</Properties>
</file>