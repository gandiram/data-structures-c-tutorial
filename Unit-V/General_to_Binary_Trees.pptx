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312E81">
              <a:alpha val="60000"/>
            </a:srgbClr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8BDF8"/>
                </a:solidFill>
              </a:rPr>
              <a:t>General Trees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to Binary Trees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828800" y="2377440"/>
            <a:ext cx="54864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</a:rPr>
              <a:t>Step-by-Step Conversion Procedure with 4 Worked Examples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33488" y="3310128"/>
            <a:ext cx="329184" cy="329184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33488" y="337413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30568" y="3813048"/>
            <a:ext cx="329184" cy="329184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0568" y="387705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836408" y="3813048"/>
            <a:ext cx="329184" cy="329184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36408" y="387705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 flipH="1">
            <a:off x="6995160" y="3639312"/>
            <a:ext cx="502920" cy="17373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498080" y="3639312"/>
            <a:ext cx="502920" cy="17373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Data Structures &amp; Algorithms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8BDF8"/>
                </a:solidFill>
              </a:rPr>
              <a:t>What is a General Tree?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3891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</a:rPr>
              <a:t>Definition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 rooted tree where each node can have any number of children (0 to ∞).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3891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65960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</a:rPr>
              <a:t>Root Node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The topmost node with no parent. Starting point of the tree.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3891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71800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</a:rPr>
              <a:t>Children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20040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Each node may have zero, one, two, or more child nodes.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43891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977640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</a:rPr>
              <a:t>Siblings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20624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Nodes sharing the same parent node are called siblings.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82296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BD5E1"/>
                </a:solidFill>
              </a:rPr>
              <a:t>Example General Tree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48272" y="1170432"/>
            <a:ext cx="402336" cy="402336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127101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flipH="1">
            <a:off x="5852160" y="1572768"/>
            <a:ext cx="1097280" cy="329184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650992" y="1901952"/>
            <a:ext cx="402336" cy="402336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0992" y="200253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49440" y="1572768"/>
            <a:ext cx="9144" cy="329184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6748272" y="1901952"/>
            <a:ext cx="402336" cy="402336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200253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949440" y="1572768"/>
            <a:ext cx="1097280" cy="329184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7845552" y="1901952"/>
            <a:ext cx="402336" cy="402336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45552" y="200253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flipH="1">
            <a:off x="5303520" y="2304288"/>
            <a:ext cx="548640" cy="374904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5102352" y="2679192"/>
            <a:ext cx="402336" cy="402336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277977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52160" y="2304288"/>
            <a:ext cx="457200" cy="374904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6108192" y="2679192"/>
            <a:ext cx="402336" cy="402336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277977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949440" y="2304288"/>
            <a:ext cx="9144" cy="374904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6748272" y="2679192"/>
            <a:ext cx="402336" cy="402336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48272" y="277977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 flipH="1">
            <a:off x="7543800" y="2304288"/>
            <a:ext cx="502920" cy="374904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7342632" y="2679192"/>
            <a:ext cx="402336" cy="402336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42632" y="277977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046720" y="2304288"/>
            <a:ext cx="9144" cy="374904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7845552" y="2679192"/>
            <a:ext cx="402336" cy="402336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45552" y="277977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046720" y="2304288"/>
            <a:ext cx="502920" cy="374904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8348472" y="2679192"/>
            <a:ext cx="402336" cy="402336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48472" y="277977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J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754880" y="196596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DE047"/>
                </a:solidFill>
              </a:rPr>
              <a:t>← 3 children of 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4D399"/>
                </a:solidFill>
              </a:rPr>
              <a:t>Key property: Unrestricted number of children per node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4D399"/>
                </a:solidFill>
              </a:rPr>
              <a:t>What is a Binary Tree?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3891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Max 2 Children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Each node has at most a LEFT child and a RIGHT child.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3891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65960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Left Child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Points to the leftmost child of the original general tree node.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3891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71800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Right Child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20040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Points to the next sibling of the original general tree node.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43891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977640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Structured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20624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More memory-efficient and easier to implement algorithmically.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82296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BD5E1"/>
                </a:solidFill>
              </a:rPr>
              <a:t>Example Binary Tree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48272" y="1170432"/>
            <a:ext cx="402336" cy="40233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127101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flipH="1">
            <a:off x="6035040" y="1572768"/>
            <a:ext cx="914400" cy="329184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833872" y="1901952"/>
            <a:ext cx="402336" cy="40233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200253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49440" y="1572768"/>
            <a:ext cx="914400" cy="329184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7662672" y="1901952"/>
            <a:ext cx="402336" cy="40233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62672" y="200253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 flipH="1">
            <a:off x="5486400" y="2304288"/>
            <a:ext cx="548640" cy="329184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285232" y="2633472"/>
            <a:ext cx="402336" cy="40233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273405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0" y="2304288"/>
            <a:ext cx="548640" cy="329184"/>
          </a:xfrm>
          <a:prstGeom prst="line">
            <a:avLst/>
          </a:prstGeom>
          <a:noFill/>
          <a:ln w="15240">
            <a:solidFill>
              <a:srgbClr val="FB923C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6382512" y="2633472"/>
            <a:ext cx="402336" cy="40233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273405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37760" y="3749040"/>
            <a:ext cx="45720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365760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</a:rPr>
              <a:t>Left child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4023360"/>
            <a:ext cx="457200" cy="0"/>
          </a:xfrm>
          <a:prstGeom prst="line">
            <a:avLst/>
          </a:prstGeom>
          <a:noFill/>
          <a:ln w="25400">
            <a:solidFill>
              <a:srgbClr val="FB92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0680" y="393192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923C"/>
                </a:solidFill>
              </a:rPr>
              <a:t>Right child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4D399"/>
                </a:solidFill>
              </a:rPr>
              <a:t>Key property: At most 2 children per node (left &amp; right)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</a:rPr>
              <a:t>Conversion Algorithm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818C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640080" cy="6400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768096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98755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Root stays as root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298448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The root of the general tree becomes the root of the binary tree. No change for the root node.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640080" cy="6400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317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97280" y="2286000"/>
            <a:ext cx="768096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35915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</a:rPr>
              <a:t>First child → Left child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670048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The LEFTMOST child of any node in the general tree becomes the LEFT child of that node in the binary tree.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640080" cy="6400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03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97280" y="3657600"/>
            <a:ext cx="768096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373075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923C"/>
                </a:solidFill>
              </a:rPr>
              <a:t>Next sibling → Right child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041648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The NEXT SIBLING of any node in the general tree becomes the RIGHT child of that node in the binary tree.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Memory aid:  Root → Root  |  1st Child → Left  |  Next Sibling → Right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Example 1: A→{B,C,D}, B→{E,F}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</a:rPr>
              <a:t>General Tree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164592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172821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H="1">
            <a:off x="1234440" y="2011680"/>
            <a:ext cx="1005840" cy="41148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051560" y="24231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40280" y="2011680"/>
            <a:ext cx="9144" cy="41148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2057400" y="24231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40280" y="2011680"/>
            <a:ext cx="1005840" cy="41148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3063240" y="24231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flipH="1">
            <a:off x="868680" y="2788920"/>
            <a:ext cx="365760" cy="41148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85800" y="320040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28269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34440" y="2788920"/>
            <a:ext cx="365760" cy="41148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417320" y="320040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328269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43400" y="2834640"/>
            <a:ext cx="457200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265176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18CF8"/>
                </a:solidFill>
              </a:rPr>
              <a:t>→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937760" y="7772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</a:rPr>
              <a:t>Binary Tree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37760" y="1097280"/>
            <a:ext cx="393192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20840" y="164592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172821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 flipH="1">
            <a:off x="6172200" y="2011680"/>
            <a:ext cx="731520" cy="411480"/>
          </a:xfrm>
          <a:prstGeom prst="line">
            <a:avLst/>
          </a:prstGeom>
          <a:noFill/>
          <a:ln w="1651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5989320" y="242316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72200" y="2788920"/>
            <a:ext cx="731520" cy="411480"/>
          </a:xfrm>
          <a:prstGeom prst="line">
            <a:avLst/>
          </a:prstGeom>
          <a:noFill/>
          <a:ln w="15240">
            <a:solidFill>
              <a:srgbClr val="FB923C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720840" y="320040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328269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903720" y="3566160"/>
            <a:ext cx="731520" cy="411480"/>
          </a:xfrm>
          <a:prstGeom prst="line">
            <a:avLst/>
          </a:prstGeom>
          <a:noFill/>
          <a:ln w="15240">
            <a:solidFill>
              <a:srgbClr val="FB923C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7452360" y="397764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405993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 flipH="1">
            <a:off x="5669280" y="2788920"/>
            <a:ext cx="502920" cy="41148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5486400" y="320040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328269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669280" y="3566160"/>
            <a:ext cx="502920" cy="411480"/>
          </a:xfrm>
          <a:prstGeom prst="line">
            <a:avLst/>
          </a:prstGeom>
          <a:noFill/>
          <a:ln w="15240">
            <a:solidFill>
              <a:srgbClr val="FB923C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5989320" y="397764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89320" y="405993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Original: A has children B,C,D and B has children E,F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Example 1  ›  Step 1 of 4:  Place root 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13232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Step 1: Root 'A' of the general tree becomes the root of the binary tree. A has 3 children: B, C, 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173736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8196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73736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E047"/>
                </a:solidFill>
              </a:rPr>
              <a:t>Root placed 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</a:rPr>
              <a:t>General Tree (original):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17373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8196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H="1">
            <a:off x="1188720" y="2103120"/>
            <a:ext cx="822960" cy="32004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005840" y="24231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0" y="2103120"/>
            <a:ext cx="9144" cy="32004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828800" y="24231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11680" y="2103120"/>
            <a:ext cx="822960" cy="32004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2651760" y="24231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H="1">
            <a:off x="822960" y="2788920"/>
            <a:ext cx="365760" cy="320040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1912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188720" y="2788920"/>
            <a:ext cx="365760" cy="320040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371600" y="31089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31912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0" y="150876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</a:rPr>
              <a:t>Binary Tree (so far):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70832" y="1719072"/>
            <a:ext cx="402336" cy="402336"/>
          </a:xfrm>
          <a:prstGeom prst="ellipse">
            <a:avLst/>
          </a:prstGeom>
          <a:solidFill>
            <a:srgbClr val="FDE047">
              <a:alpha val="40000"/>
            </a:srgbClr>
          </a:solidFill>
          <a:ln w="25400">
            <a:solidFill>
              <a:srgbClr val="FDE0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DE047"/>
                </a:solidFill>
              </a:rPr>
              <a:t>Rule: Root of general tree → Root of binary tree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Example 1  ›  Step 2 of 4:  B = left child of A (1st child → Left)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13232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Step 2: The FIRST child of A is B. So B becomes the LEFT child of A in the binary tree.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</a:rPr>
              <a:t>General Tree: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17373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8196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1188720" y="2103120"/>
            <a:ext cx="822960" cy="320040"/>
          </a:xfrm>
          <a:prstGeom prst="line">
            <a:avLst/>
          </a:prstGeom>
          <a:noFill/>
          <a:ln w="25400">
            <a:solidFill>
              <a:srgbClr val="FDE047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05840" y="2423160"/>
            <a:ext cx="365760" cy="365760"/>
          </a:xfrm>
          <a:prstGeom prst="ellipse">
            <a:avLst/>
          </a:prstGeom>
          <a:solidFill>
            <a:srgbClr val="92400E"/>
          </a:solidFill>
          <a:ln w="25400">
            <a:solidFill>
              <a:srgbClr val="FDE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11680" y="2103120"/>
            <a:ext cx="9144" cy="32004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828800" y="24231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0" y="2103120"/>
            <a:ext cx="822960" cy="32004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651760" y="24231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flipH="1">
            <a:off x="822960" y="2788920"/>
            <a:ext cx="365760" cy="320040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912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88720" y="2788920"/>
            <a:ext cx="365760" cy="320040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371600" y="31089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31912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2514600"/>
            <a:ext cx="1005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DE047"/>
                </a:solidFill>
              </a:rPr>
              <a:t>← 1st child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0" y="150876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</a:rPr>
              <a:t>Binary Tree: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173736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8196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 flipH="1">
            <a:off x="5669280" y="2103120"/>
            <a:ext cx="731520" cy="32004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5486400" y="242316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FDE0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0" y="251460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DE047"/>
                </a:solidFill>
              </a:rPr>
              <a:t>Left child 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DE047"/>
                </a:solidFill>
              </a:rPr>
              <a:t>Rule: First (leftmost) child in general tree → Left child in binary tree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Example 1  ›  Step 3 of 4:  C = right child of B (next sibling → Right)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13232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Step 3: C is the NEXT SIBLING of B. So C becomes the RIGHT child of B in the binary tree.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</a:rPr>
              <a:t>General Tree: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17373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8196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1188720" y="2103120"/>
            <a:ext cx="822960" cy="32004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05840" y="24231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11680" y="2103120"/>
            <a:ext cx="9144" cy="32004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828800" y="2423160"/>
            <a:ext cx="365760" cy="365760"/>
          </a:xfrm>
          <a:prstGeom prst="ellipse">
            <a:avLst/>
          </a:prstGeom>
          <a:solidFill>
            <a:srgbClr val="92400E"/>
          </a:solidFill>
          <a:ln w="25400">
            <a:solidFill>
              <a:srgbClr val="FDE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0" y="2103120"/>
            <a:ext cx="822960" cy="32004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651760" y="24231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flipH="1">
            <a:off x="822960" y="2788920"/>
            <a:ext cx="365760" cy="320040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912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88720" y="2788920"/>
            <a:ext cx="365760" cy="320040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371600" y="31089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31912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00200" y="2793365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DE047"/>
                </a:solidFill>
              </a:rPr>
              <a:t>← next sibling of 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0" y="150876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</a:rPr>
              <a:t>Binary Tree: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173736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8196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 flipH="1">
            <a:off x="5669280" y="2103120"/>
            <a:ext cx="731520" cy="32004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5486400" y="242316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69280" y="2788920"/>
            <a:ext cx="731520" cy="320040"/>
          </a:xfrm>
          <a:prstGeom prst="line">
            <a:avLst/>
          </a:prstGeom>
          <a:noFill/>
          <a:ln w="25400">
            <a:solidFill>
              <a:srgbClr val="FB923C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217920" y="3108960"/>
            <a:ext cx="365760" cy="365760"/>
          </a:xfrm>
          <a:prstGeom prst="ellipse">
            <a:avLst/>
          </a:prstGeom>
          <a:solidFill>
            <a:srgbClr val="92400E"/>
          </a:solidFill>
          <a:ln w="25400">
            <a:solidFill>
              <a:srgbClr val="FDE0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1912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57975" y="3246120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DE047"/>
                </a:solidFill>
              </a:rPr>
              <a:t>Right child of B 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DE047"/>
                </a:solidFill>
              </a:rPr>
              <a:t>Rule: Next sibling in general tree → Right child in binary tree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Example 1  ›  Step 4 of 4:  D = right child of C; E,F = children of B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13232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 is next sibling of C → right child of C. E is 1st child of B → left child of B. F is next sibling of E → right child of 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5087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Final Binary Tree: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7408" y="170992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7408" y="177393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3657600" y="2039112"/>
            <a:ext cx="914400" cy="448056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93008" y="248716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255117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H="1">
            <a:off x="2926080" y="2816352"/>
            <a:ext cx="731520" cy="448056"/>
          </a:xfrm>
          <a:prstGeom prst="line">
            <a:avLst/>
          </a:prstGeom>
          <a:noFill/>
          <a:ln w="1651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761488" y="326440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61488" y="332841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26080" y="3593592"/>
            <a:ext cx="640080" cy="448056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401568" y="404164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410565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0" y="2816352"/>
            <a:ext cx="731520" cy="448056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4224528" y="326440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24528" y="332841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89120" y="3593592"/>
            <a:ext cx="731520" cy="448056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4956048" y="404164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410565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2331720"/>
            <a:ext cx="36576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2240280"/>
            <a:ext cx="21031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</a:rPr>
              <a:t>= Left child (1st child)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0" y="2606040"/>
            <a:ext cx="365760" cy="0"/>
          </a:xfrm>
          <a:prstGeom prst="line">
            <a:avLst/>
          </a:prstGeom>
          <a:noFill/>
          <a:ln w="25400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2514600"/>
            <a:ext cx="21031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923C"/>
                </a:solidFill>
              </a:rPr>
              <a:t>= Right child (next sibling)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DE047"/>
                </a:solidFill>
              </a:rPr>
              <a:t>Rule: Apply all three rules recursively until all nodes are placed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Example 2: Linear Chain A→B→C→D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</a:rPr>
              <a:t>General Tree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40280" y="1737360"/>
            <a:ext cx="9144" cy="41148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240280" y="2514600"/>
            <a:ext cx="9144" cy="41148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240280" y="3291840"/>
            <a:ext cx="9144" cy="41148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057400" y="137160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45389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57400" y="214884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223113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57400" y="292608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300837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57400" y="370332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378561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43400" y="2834640"/>
            <a:ext cx="457200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265176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18CF8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937760" y="7772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</a:rPr>
              <a:t>Binary Tree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1097280"/>
            <a:ext cx="393192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6537960" y="1737360"/>
            <a:ext cx="365760" cy="411480"/>
          </a:xfrm>
          <a:prstGeom prst="line">
            <a:avLst/>
          </a:prstGeom>
          <a:noFill/>
          <a:ln w="1651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flipH="1">
            <a:off x="6245860" y="2514600"/>
            <a:ext cx="292100" cy="433705"/>
          </a:xfrm>
          <a:prstGeom prst="line">
            <a:avLst/>
          </a:prstGeom>
          <a:noFill/>
          <a:ln w="1651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flipH="1">
            <a:off x="5895340" y="3291840"/>
            <a:ext cx="166370" cy="401320"/>
          </a:xfrm>
          <a:prstGeom prst="line">
            <a:avLst/>
          </a:prstGeom>
          <a:noFill/>
          <a:ln w="1651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6720840" y="137160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145389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214884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23113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89625" y="292608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89625" y="300837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596890" y="370332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5300" y="378561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Each node has exactly one child — produces a left-skewed binary tree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Example 2  ›  Step 1 of 2:  Root A placed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13232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Root A stays as root. It has only ONE child: B. B will become the LEFT child of 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" y="345440"/>
            <a:ext cx="8595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</a:rPr>
              <a:t>General Tree (linear):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72821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011680"/>
            <a:ext cx="9144" cy="41148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389120" y="24231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2788920"/>
            <a:ext cx="9144" cy="41148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4389120" y="320040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328269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3566160"/>
            <a:ext cx="9144" cy="41148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389120" y="397764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405993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2103120"/>
            <a:ext cx="29260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Each node has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only 1 child →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always LEFT child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in binary tree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88720" y="2195195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2159000"/>
            <a:ext cx="365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00200" y="227711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DE047"/>
                </a:solidFill>
              </a:rPr>
              <a:t>Root 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1833245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</a:rPr>
              <a:t>Binary Tree (building):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DE047"/>
                </a:solidFill>
              </a:rPr>
              <a:t>Rule: Root stays as root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Example 2  ›  Step 2 of 2:  B→Left of A, C→Left of B, D→Left of C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13232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Each node is the ONLY child of its parent. Only child = first child → always becomes LEFT child.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Linear general tree  →  Left-skewed binary tree: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98264" y="174650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98264" y="181965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3931920" y="2093976"/>
            <a:ext cx="640080" cy="42976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758184" y="252374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58184" y="259689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H="1">
            <a:off x="3291840" y="2871216"/>
            <a:ext cx="640080" cy="42976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118104" y="330098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18104" y="337413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H="1">
            <a:off x="2651760" y="3648456"/>
            <a:ext cx="640080" cy="42976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478024" y="407822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78024" y="415137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2240280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</a:rPr>
              <a:t>Left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0" y="3017520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</a:rPr>
              <a:t>Left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0" y="3794760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</a:rPr>
              <a:t>Left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560320"/>
            <a:ext cx="3931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DE047"/>
                </a:solidFill>
              </a:rPr>
              <a:t>⚠  A linear (single-child) general tree becomes a LEFT-SKEWED binary tree!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383280"/>
            <a:ext cx="3931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No right children exist because no node has a next sibling.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DE047"/>
                </a:solidFill>
              </a:rPr>
              <a:t>Rule: Only child = first child → Left child in binary tree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Example 3: Wide Tree — A→{B,C,D,E}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</a:rPr>
              <a:t>General Tree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66544" y="133502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66544" y="140817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H="1">
            <a:off x="868680" y="1682496"/>
            <a:ext cx="1371600" cy="429768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94944" y="211226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1854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flipH="1">
            <a:off x="1783080" y="1682496"/>
            <a:ext cx="457200" cy="429768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609344" y="211226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9344" y="21854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40280" y="1682496"/>
            <a:ext cx="457200" cy="429768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2523744" y="211226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23744" y="21854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40280" y="1682496"/>
            <a:ext cx="1371600" cy="429768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3438144" y="211226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38144" y="21854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43400" y="2834640"/>
            <a:ext cx="457200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265176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18CF8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937760" y="7772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</a:rPr>
              <a:t>Binary Tree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37760" y="1097280"/>
            <a:ext cx="393192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1344" y="133502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140817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 flipH="1">
            <a:off x="5852160" y="1682496"/>
            <a:ext cx="502920" cy="429768"/>
          </a:xfrm>
          <a:prstGeom prst="line">
            <a:avLst/>
          </a:prstGeom>
          <a:noFill/>
          <a:ln w="1651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5678424" y="211226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78424" y="21854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52160" y="2459736"/>
            <a:ext cx="502920" cy="429768"/>
          </a:xfrm>
          <a:prstGeom prst="line">
            <a:avLst/>
          </a:prstGeom>
          <a:noFill/>
          <a:ln w="15240">
            <a:solidFill>
              <a:srgbClr val="FB923C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6181344" y="288950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1344" y="296265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55080" y="3236976"/>
            <a:ext cx="502920" cy="429768"/>
          </a:xfrm>
          <a:prstGeom prst="line">
            <a:avLst/>
          </a:prstGeom>
          <a:noFill/>
          <a:ln w="15240">
            <a:solidFill>
              <a:srgbClr val="FB923C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684264" y="366674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84264" y="373989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58000" y="4014216"/>
            <a:ext cx="411480" cy="429768"/>
          </a:xfrm>
          <a:prstGeom prst="line">
            <a:avLst/>
          </a:prstGeom>
          <a:noFill/>
          <a:ln w="15240">
            <a:solidFill>
              <a:srgbClr val="FB923C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7095744" y="444398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95744" y="451713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4 siblings B,C,D,E create a right-skewed chain under A's left subtree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Example 3  ›  Step 1 of 2:  Root A has 4 children: B, C, D, 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13232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 has four children. B is the first child → LEFT child of A. C,D,E are siblings of B and will chain as right children.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</a:rPr>
              <a:t>General Tree: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12264" y="183794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12264" y="191109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914400" y="2185416"/>
            <a:ext cx="1371600" cy="384048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740664" y="2569464"/>
            <a:ext cx="347472" cy="347472"/>
          </a:xfrm>
          <a:prstGeom prst="ellipse">
            <a:avLst/>
          </a:prstGeom>
          <a:solidFill>
            <a:srgbClr val="1E40AF"/>
          </a:solidFill>
          <a:ln w="25400">
            <a:solidFill>
              <a:srgbClr val="FDE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26426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H="1">
            <a:off x="1554480" y="2185416"/>
            <a:ext cx="731520" cy="384048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380744" y="256946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0744" y="26426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0" y="2185416"/>
            <a:ext cx="731520" cy="384048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843784" y="256946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43784" y="26426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86000" y="2185416"/>
            <a:ext cx="1371600" cy="384048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3483864" y="256946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83864" y="26426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292608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DE047"/>
                </a:solidFill>
              </a:rPr>
              <a:t>1st child ↑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45920" y="292608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923C"/>
                </a:solidFill>
              </a:rPr>
              <a:t>siblings 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150876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</a:rPr>
              <a:t>Binary Tree (so far):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27064" y="183794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7064" y="191109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 flipH="1">
            <a:off x="5760720" y="2185416"/>
            <a:ext cx="640080" cy="38404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586984" y="256946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FDE0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86984" y="26426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265176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DE047"/>
                </a:solidFill>
              </a:rPr>
              <a:t>Left 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26480" y="292608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923C"/>
                </a:solidFill>
              </a:rPr>
              <a:t>C, D, E will become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B923C"/>
                </a:solidFill>
              </a:rPr>
              <a:t>right-child chain of 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DE047"/>
                </a:solidFill>
              </a:rPr>
              <a:t>Rule: First child → Left; remaining siblings → chain of right children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Example 3  ›  Step 2 of 2:  C→Right of B, D→Right of C, E→Right of 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13232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 is next sibling of B → right child of B. D is next sibling of C → right child of C. E is next sibling of D → right child of 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All 4 children of A form a right-skewed chain under B: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55464" y="170078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55464" y="177393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4297680" y="2048256"/>
            <a:ext cx="731520" cy="38404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123944" y="243230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23944" y="250545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2779776"/>
            <a:ext cx="731520" cy="384048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4855464" y="316382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5464" y="323697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3511296"/>
            <a:ext cx="731520" cy="384048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586984" y="389534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6984" y="396849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4242816"/>
            <a:ext cx="731520" cy="384048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6318504" y="462686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47000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651760"/>
            <a:ext cx="36576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256032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</a:rPr>
              <a:t>Left child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365760" cy="0"/>
          </a:xfrm>
          <a:prstGeom prst="line">
            <a:avLst/>
          </a:prstGeom>
          <a:noFill/>
          <a:ln w="25400">
            <a:solidFill>
              <a:srgbClr val="FB92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2834640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923C"/>
                </a:solidFill>
              </a:rPr>
              <a:t>Right child (sibling chain)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DE047"/>
                </a:solidFill>
              </a:rPr>
              <a:t>💡 Wide trees produce right-skewed subtrees in binary representation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DE047"/>
                </a:solidFill>
              </a:rPr>
              <a:t>Rule: Siblings form a right-chain in binary tree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Example 4: Multi-level: A→{B,C}, B→{D,E}, C→{F}, D→{G}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</a:rPr>
              <a:t>General Tree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75688" y="1252728"/>
            <a:ext cx="329184" cy="329184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75688" y="131673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H="1">
            <a:off x="1508760" y="1581912"/>
            <a:ext cx="731520" cy="493776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240280" y="1581912"/>
            <a:ext cx="731520" cy="493776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344168" y="2075688"/>
            <a:ext cx="329184" cy="329184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44168" y="213969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07208" y="2075688"/>
            <a:ext cx="329184" cy="329184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07208" y="213969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H="1">
            <a:off x="1051560" y="2404872"/>
            <a:ext cx="457200" cy="493776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508760" y="2404872"/>
            <a:ext cx="457200" cy="493776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886968" y="2898648"/>
            <a:ext cx="329184" cy="329184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296265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01368" y="2898648"/>
            <a:ext cx="329184" cy="329184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01368" y="296265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971800" y="2404872"/>
            <a:ext cx="9144" cy="493776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2807208" y="2898648"/>
            <a:ext cx="329184" cy="329184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07208" y="296265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51560" y="3227832"/>
            <a:ext cx="9144" cy="493776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86968" y="3721608"/>
            <a:ext cx="329184" cy="329184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378561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43400" y="2834640"/>
            <a:ext cx="457200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265176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18CF8"/>
                </a:solidFill>
              </a:rPr>
              <a:t>→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937760" y="7772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</a:rPr>
              <a:t>Binary Tree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37760" y="1097280"/>
            <a:ext cx="393192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56248" y="125272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56248" y="131673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 flipH="1">
            <a:off x="6035040" y="1581912"/>
            <a:ext cx="685800" cy="493776"/>
          </a:xfrm>
          <a:prstGeom prst="line">
            <a:avLst/>
          </a:prstGeom>
          <a:noFill/>
          <a:ln w="1651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5870448" y="207568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0448" y="213969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035040" y="2404872"/>
            <a:ext cx="685800" cy="493776"/>
          </a:xfrm>
          <a:prstGeom prst="line">
            <a:avLst/>
          </a:prstGeom>
          <a:noFill/>
          <a:ln w="15240">
            <a:solidFill>
              <a:srgbClr val="FB923C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6556248" y="289864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56248" y="296265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 flipH="1">
            <a:off x="5532120" y="2404872"/>
            <a:ext cx="502920" cy="493776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5367528" y="289864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67528" y="296265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532120" y="3227832"/>
            <a:ext cx="502920" cy="493776"/>
          </a:xfrm>
          <a:prstGeom prst="line">
            <a:avLst/>
          </a:prstGeom>
          <a:noFill/>
          <a:ln w="13970">
            <a:solidFill>
              <a:srgbClr val="FB923C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5870448" y="372160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70448" y="378561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 flipH="1">
            <a:off x="5212080" y="3227832"/>
            <a:ext cx="320040" cy="493776"/>
          </a:xfrm>
          <a:prstGeom prst="line">
            <a:avLst/>
          </a:prstGeom>
          <a:noFill/>
          <a:ln w="1397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5047488" y="372160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47488" y="378561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 flipH="1">
            <a:off x="6400800" y="3227832"/>
            <a:ext cx="320040" cy="493776"/>
          </a:xfrm>
          <a:prstGeom prst="line">
            <a:avLst/>
          </a:prstGeom>
          <a:noFill/>
          <a:ln w="1397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6236208" y="372160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36208" y="378561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Full multi-level example showing both left-child and right-sibling transformations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Example 4  ›  Step 1 of 2:  Process root A and its children B, C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13232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 has two children: B (first) and C (second). B → Left child of A. C → Right child of B (next sibling of B).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</a:rPr>
              <a:t>General Tree: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9384" y="174650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9384" y="181965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1371600" y="2093976"/>
            <a:ext cx="731520" cy="429768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97864" y="2523744"/>
            <a:ext cx="347472" cy="347472"/>
          </a:xfrm>
          <a:prstGeom prst="ellipse">
            <a:avLst/>
          </a:prstGeom>
          <a:solidFill>
            <a:srgbClr val="1E40AF"/>
          </a:solidFill>
          <a:ln w="25400">
            <a:solidFill>
              <a:srgbClr val="FDE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7864" y="259689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03120" y="2093976"/>
            <a:ext cx="731520" cy="429768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660904" y="252374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60904" y="259689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H="1">
            <a:off x="914400" y="2871216"/>
            <a:ext cx="457200" cy="429768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40664" y="330098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337413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71600" y="2871216"/>
            <a:ext cx="457200" cy="429768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655064" y="330098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55064" y="337413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834640" y="2871216"/>
            <a:ext cx="9144" cy="429768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2660904" y="330098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60904" y="337413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14400" y="3648456"/>
            <a:ext cx="9144" cy="338328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740664" y="398678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" y="405993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89120" y="1508760"/>
            <a:ext cx="4389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</a:rPr>
              <a:t>Binary Tree (A level):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27064" y="174650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27064" y="181965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 flipH="1">
            <a:off x="5669280" y="2093976"/>
            <a:ext cx="731520" cy="42976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5495544" y="252374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95544" y="259689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669280" y="2871216"/>
            <a:ext cx="731520" cy="429768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6227064" y="330098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27064" y="337413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66360" y="228600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</a:rPr>
              <a:t>Left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3017520"/>
            <a:ext cx="1554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923C"/>
                </a:solidFill>
              </a:rPr>
              <a:t>Right (sibling)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DE047"/>
                </a:solidFill>
              </a:rPr>
              <a:t>Rule: First child → Left; Next sibling → Right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Example 4  ›  Step 2 of 2:  Process B's children D, E; C's child F; D's child 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13232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 = 1st child of B → Left of B. E = sibling of D → Right of D. F = 1st child of C → Left of C. G = 1st child of D → Left of 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Complete Binary Tree Result: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92117" y="1748917"/>
            <a:ext cx="310896" cy="31089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3707" y="1749806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3840480" y="2016760"/>
            <a:ext cx="680085" cy="406400"/>
          </a:xfrm>
          <a:prstGeom prst="line">
            <a:avLst/>
          </a:prstGeom>
          <a:noFill/>
          <a:ln w="1651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685032" y="2423160"/>
            <a:ext cx="310896" cy="31089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2478024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0" y="2734056"/>
            <a:ext cx="731520" cy="438912"/>
          </a:xfrm>
          <a:prstGeom prst="line">
            <a:avLst/>
          </a:prstGeom>
          <a:noFill/>
          <a:ln w="15240">
            <a:solidFill>
              <a:srgbClr val="FB923C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4416552" y="3172968"/>
            <a:ext cx="310896" cy="31089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16552" y="3227832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H="1">
            <a:off x="3200400" y="2734056"/>
            <a:ext cx="640080" cy="438912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044952" y="3172968"/>
            <a:ext cx="310896" cy="31089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44952" y="3227832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3483864"/>
            <a:ext cx="640080" cy="438912"/>
          </a:xfrm>
          <a:prstGeom prst="line">
            <a:avLst/>
          </a:prstGeom>
          <a:noFill/>
          <a:ln w="13970">
            <a:solidFill>
              <a:srgbClr val="FB923C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3685032" y="3922776"/>
            <a:ext cx="310896" cy="31089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5032" y="3977640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H="1">
            <a:off x="2743200" y="3483864"/>
            <a:ext cx="457200" cy="438912"/>
          </a:xfrm>
          <a:prstGeom prst="line">
            <a:avLst/>
          </a:prstGeom>
          <a:noFill/>
          <a:ln w="1397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2587752" y="3922776"/>
            <a:ext cx="310896" cy="31089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7752" y="3977640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 flipH="1">
            <a:off x="4206240" y="3483864"/>
            <a:ext cx="365760" cy="438912"/>
          </a:xfrm>
          <a:prstGeom prst="line">
            <a:avLst/>
          </a:prstGeom>
          <a:noFill/>
          <a:ln w="13970">
            <a:solidFill>
              <a:srgbClr val="34D399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4050792" y="3922776"/>
            <a:ext cx="310896" cy="31089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50792" y="3977640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68880" y="256032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D=left(B)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63440" y="256032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B923C"/>
                </a:solidFill>
              </a:rPr>
              <a:t>C=right(B)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011680" y="329184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G=left(D)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31920" y="329184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B923C"/>
                </a:solidFill>
              </a:rPr>
              <a:t>E=right(D)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206240" y="402336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F=left(C)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DE047"/>
                </a:solidFill>
              </a:rPr>
              <a:t>Rule: Apply all rules recursively at every level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Summary — General Tree to Binary Tree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834640" cy="132588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834640" cy="3200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Rule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124712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Root → Root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Root of general tree becomes root of binary tree.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777240"/>
            <a:ext cx="2834640" cy="1325880"/>
          </a:xfrm>
          <a:prstGeom prst="rect">
            <a:avLst/>
          </a:prstGeom>
          <a:solidFill>
            <a:srgbClr val="1E293B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777240"/>
            <a:ext cx="2834640" cy="320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77724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Rule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124712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1st Child → Left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41732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First (leftmost) child becomes left child.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777240"/>
            <a:ext cx="2834640" cy="1325880"/>
          </a:xfrm>
          <a:prstGeom prst="rect">
            <a:avLst/>
          </a:prstGeom>
          <a:solidFill>
            <a:srgbClr val="1E293B"/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777240"/>
            <a:ext cx="2834640" cy="3200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77724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Rule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124712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</a:rPr>
              <a:t>Next Sibling → Right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41732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Next sibling of a node becomes its right child.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22402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</a:rPr>
              <a:t>Examples Covered: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2606040"/>
            <a:ext cx="2103120" cy="411480"/>
          </a:xfrm>
          <a:prstGeom prst="rect">
            <a:avLst/>
          </a:prstGeom>
          <a:solidFill>
            <a:srgbClr val="1E3A5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642616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18CF8"/>
                </a:solidFill>
              </a:rPr>
              <a:t>#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23160" y="2606040"/>
            <a:ext cx="2103120" cy="411480"/>
          </a:xfrm>
          <a:prstGeom prst="rect">
            <a:avLst/>
          </a:prstGeom>
          <a:solidFill>
            <a:srgbClr val="1E3A5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2642616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18CF8"/>
                </a:solidFill>
              </a:rPr>
              <a:t>General Tree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606040"/>
            <a:ext cx="2103120" cy="411480"/>
          </a:xfrm>
          <a:prstGeom prst="rect">
            <a:avLst/>
          </a:prstGeom>
          <a:solidFill>
            <a:srgbClr val="1E3A5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2642616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18CF8"/>
                </a:solidFill>
              </a:rPr>
              <a:t>Binary Tree Result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20840" y="2606040"/>
            <a:ext cx="2103120" cy="411480"/>
          </a:xfrm>
          <a:prstGeom prst="rect">
            <a:avLst/>
          </a:prstGeom>
          <a:solidFill>
            <a:srgbClr val="1E3A5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2642616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18CF8"/>
                </a:solidFill>
              </a:rPr>
              <a:t>Key Observation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044952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081528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23160" y="3044952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3081528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A→{B,C,D}, B→{E,F}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0" y="3044952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3081528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Left+right chain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20840" y="3044952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3081528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Mixed left/right children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483864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52044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423160" y="3483864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68880" y="352044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A→B→C→D (linear)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3483864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52044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Left-skewed tree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20840" y="3483864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352044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Only child = always left child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922776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959352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3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423160" y="3922776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68880" y="3959352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A→{B,C,D,E}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0" y="3922776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17720" y="3959352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Right-skewed chain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720840" y="3922776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0" y="3959352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Many siblings = right chain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4361688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4398264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4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423160" y="4361688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68880" y="4398264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A→{B,C}, B→{D,E}, C→{F}, D→{G}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0" y="4361688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17720" y="4398264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Full binary tree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20840" y="4361688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66560" y="4398264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Multi-level recursive conversion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5733</Words>
  <Application>WPS Presentation</Application>
  <PresentationFormat>On-screen Show (16:9)</PresentationFormat>
  <Paragraphs>594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Trees to Binary Trees</dc:title>
  <dc:creator>PptxGenJS</dc:creator>
  <dc:subject>PptxGenJS Presentation</dc:subject>
  <cp:lastModifiedBy>Ramakrishna gandi</cp:lastModifiedBy>
  <cp:revision>5</cp:revision>
  <dcterms:created xsi:type="dcterms:W3CDTF">2026-06-03T05:48:00Z</dcterms:created>
  <dcterms:modified xsi:type="dcterms:W3CDTF">2026-06-17T04:34:15Z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4208BFF8506B439999A0D7DB0E6B2767_12</vt:lpwstr>
  </property>
  <property fmtid="{D5CDD505-2E9C-101B-9397-08002B2CF9AE}" pid="3" name="KSOProductBuildVer">
    <vt:lpwstr>1033-12.1.0.26880</vt:lpwstr>
  </property>
</Properties>
</file>