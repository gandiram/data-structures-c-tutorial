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00584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Binary Tree Traversal</a:t>
            </a:r>
            <a:endParaRPr sz="4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68880" y="1874519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2400" b="0">
                <a:solidFill>
                  <a:srgbClr val="1DB3C9"/>
                </a:solidFill>
                <a:latin typeface="Aptos"/>
              </a:rPr>
              <a:t>NON-RECURSIVE APPROACH</a:t>
            </a:r>
            <a:endParaRPr sz="2400" b="0">
              <a:solidFill>
                <a:srgbClr val="1DB3C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00200" y="2880360"/>
            <a:ext cx="2651760" cy="731520"/>
          </a:xfrm>
          <a:prstGeom prst="roundRect">
            <a:avLst/>
          </a:prstGeom>
          <a:solidFill>
            <a:srgbClr val="19849B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Inorder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3480" y="2880360"/>
            <a:ext cx="2651760" cy="731520"/>
          </a:xfrm>
          <a:prstGeom prst="roundRect">
            <a:avLst/>
          </a:prstGeom>
          <a:solidFill>
            <a:srgbClr val="19849B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Preorder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66760" y="2880360"/>
            <a:ext cx="2651760" cy="731520"/>
          </a:xfrm>
          <a:prstGeom prst="roundRect">
            <a:avLst/>
          </a:prstGeom>
          <a:solidFill>
            <a:srgbClr val="19849B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Postorder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0" y="5897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D6E4EC"/>
                </a:solidFill>
                <a:latin typeface="Aptos"/>
              </a:rPr>
              <a:t>Updated with step-by-step traversal diagrams</a:t>
            </a:r>
            <a:endParaRPr sz="1600" b="0">
              <a:solidFill>
                <a:srgbClr val="D6E4E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Tree Used in the Program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The attached C file builds a simple sample tree with root 1 and two children 2 and 3.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389120" cy="1097280"/>
          </a:xfrm>
          <a:prstGeom prst="roundRect">
            <a:avLst/>
          </a:prstGeom>
          <a:solidFill>
            <a:srgbClr val="D6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F69"/>
                </a:solidFill>
                <a:latin typeface="Aptos"/>
              </a:rPr>
              <a:t>Each node stores:
• data
• left pointer
• right pointer</a:t>
            </a:r>
            <a:endParaRPr sz="21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480560" cy="1554480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struct Node {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    int data;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    struct Node *left;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    struct Node *right;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};</a:t>
            </a:r>
            <a:endParaRPr sz="21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 flipH="1">
            <a:off x="8458200" y="1600200"/>
            <a:ext cx="1188720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46920" y="1600200"/>
            <a:ext cx="1097280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726680" y="2697480"/>
            <a:ext cx="731520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58200" y="2697480"/>
            <a:ext cx="731520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040880" y="3749039"/>
            <a:ext cx="685800" cy="1051561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26880" y="1280160"/>
            <a:ext cx="640080" cy="640080"/>
          </a:xfrm>
          <a:prstGeom prst="ellipse">
            <a:avLst/>
          </a:prstGeom>
          <a:solidFill>
            <a:srgbClr val="1F2F6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38160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424160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40664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6968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720840" y="4480560"/>
            <a:ext cx="640080" cy="640080"/>
          </a:xfrm>
          <a:prstGeom prst="ellipse">
            <a:avLst/>
          </a:prstGeom>
          <a:solidFill>
            <a:srgbClr val="E97E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6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79" y="5440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400" b="0">
                <a:solidFill>
                  <a:srgbClr val="6E7C92"/>
                </a:solidFill>
                <a:latin typeface="Aptos"/>
              </a:rPr>
              <a:t>All links are parent-child connections</a:t>
            </a:r>
            <a:endParaRPr sz="1400" b="0">
              <a:solidFill>
                <a:srgbClr val="6E7C9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Why Non-Recursive Traversal?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The code replaces recursion with explicit stack arrays, so students can see exactly how traversal moves.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303520" cy="1097280"/>
          </a:xfrm>
          <a:prstGeom prst="roundRect">
            <a:avLst/>
          </a:prstGeom>
          <a:solidFill>
            <a:srgbClr val="F4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F2F69"/>
                </a:solidFill>
                <a:latin typeface="Aptos"/>
              </a:rPr>
              <a:t>Recursive idea
Function calls are stored automatically in the call stack.</a:t>
            </a:r>
            <a:endParaRPr sz="19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440680" cy="1097280"/>
          </a:xfrm>
          <a:prstGeom prst="roundRect">
            <a:avLst/>
          </a:prstGeom>
          <a:solidFill>
            <a:srgbClr val="D6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F2F69"/>
                </a:solidFill>
                <a:latin typeface="Aptos"/>
              </a:rPr>
              <a:t>Non-recursive idea
We store nodes ourselves in an array-based stack.</a:t>
            </a:r>
            <a:endParaRPr sz="19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2200" b="1">
                <a:solidFill>
                  <a:srgbClr val="1F2F69"/>
                </a:solidFill>
                <a:latin typeface="Aptos"/>
              </a:rPr>
              <a:t>Stack example (LIFO)</a:t>
            </a:r>
            <a:endParaRPr sz="22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2468880" cy="301752"/>
          </a:xfrm>
          <a:prstGeom prst="roundRect">
            <a:avLst/>
          </a:prstGeom>
          <a:solidFill>
            <a:srgbClr val="E97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  ← top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639312"/>
            <a:ext cx="2468880" cy="301752"/>
          </a:xfrm>
          <a:prstGeom prst="roundRect">
            <a:avLst/>
          </a:prstGeom>
          <a:solidFill>
            <a:srgbClr val="1DB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032504"/>
            <a:ext cx="2468880" cy="301752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2468880" cy="301752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  ← bottom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3154680"/>
            <a:ext cx="4846320" cy="1554480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struct Node* stack[MAX];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int top = -1;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stack[++top] = node;   // push</a:t>
            </a:r>
            <a:endParaRPr sz="21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node = stack[top--];   // pop</a:t>
            </a:r>
            <a:endParaRPr sz="2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5989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800" b="1">
                <a:solidFill>
                  <a:srgbClr val="19849B"/>
                </a:solidFill>
                <a:latin typeface="Aptos"/>
              </a:rPr>
              <a:t>Key idea: the stack decides which node is processed next.</a:t>
            </a:r>
            <a:endParaRPr sz="1800" b="1">
              <a:solidFill>
                <a:srgbClr val="19849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Inorder Traversal  (Left → Node → Right)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In the code, inorder keeps moving left, then pops, visits, and turns right.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53185"/>
            <a:ext cx="5335270" cy="50292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Output from this tree: 6  4  2  5  1  3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1. Push current node and move left.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2. When left becomes NULL, pop one node.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852928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3. Visit that node.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328416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4. Move to its right child and repeat.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4800600" cy="1920240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while (cur != NULL || top != -1) {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while (cur != NULL) {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    stack[++top] = cur;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    cur = cur-&gt;left;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}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cur = stack[top--];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printf("%d ", cur-&gt;data);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cur = cur-&gt;right;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}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>
            <a:off x="8503919" y="1600200"/>
            <a:ext cx="1188721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0" y="1600200"/>
            <a:ext cx="1097279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772400" y="2697480"/>
            <a:ext cx="731519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19" y="2697480"/>
            <a:ext cx="731521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86600" y="3749039"/>
            <a:ext cx="685800" cy="1051561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372600" y="1280160"/>
            <a:ext cx="640080" cy="640080"/>
          </a:xfrm>
          <a:prstGeom prst="ellipse">
            <a:avLst/>
          </a:prstGeom>
          <a:solidFill>
            <a:srgbClr val="1F2F6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75519" y="117957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F2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F69"/>
                </a:solidFill>
                <a:latin typeface="Aptos"/>
              </a:rPr>
              <a:t>5</a:t>
            </a:r>
            <a:endParaRPr sz="11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183879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686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3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469880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972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6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45236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95527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2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91540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41831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4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66560" y="4480560"/>
            <a:ext cx="640080" cy="640080"/>
          </a:xfrm>
          <a:prstGeom prst="ellipse">
            <a:avLst/>
          </a:prstGeom>
          <a:solidFill>
            <a:srgbClr val="E97E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6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269480" y="4379976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97E3C"/>
                </a:solidFill>
                <a:latin typeface="Aptos"/>
              </a:rPr>
              <a:t>1</a:t>
            </a:r>
            <a:endParaRPr sz="1100" b="1">
              <a:solidFill>
                <a:srgbClr val="E97E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Preorder Traversal  (Node → Left → Right)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Preorder visits immediately after pop, so right child is pushed first and left child is processed first.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37945"/>
            <a:ext cx="5592445" cy="399415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Output from this tree: 1  2  4  6  5  3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1. Push root into the stack.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2. Pop a node and visit it immediately.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852928"/>
            <a:ext cx="4526280" cy="384048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3. Push right child first.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328670"/>
            <a:ext cx="4939030" cy="384175"/>
          </a:xfrm>
          <a:prstGeom prst="roundRect">
            <a:avLst/>
          </a:prstGeom>
          <a:solidFill>
            <a:srgbClr val="D6E4EC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4. Push left child next, so it comes out first.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865" y="3831590"/>
            <a:ext cx="5623560" cy="2904490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txBody>
          <a:bodyPr wrap="square" lIns="101600" tIns="76200" rIns="101600" bIns="7620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stack[++top] = root;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while (top != -1) {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node = stack[top--];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printf("%d ", node-&gt;data);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if (node-&gt;right)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800" b="0">
                <a:solidFill>
                  <a:srgbClr val="FFFFFF"/>
                </a:solidFill>
                <a:latin typeface="Aptos"/>
              </a:rPr>
              <a:t>            </a:t>
            </a:r>
            <a:r>
              <a:rPr sz="1800" b="0">
                <a:solidFill>
                  <a:srgbClr val="FFFFFF"/>
                </a:solidFill>
                <a:latin typeface="Aptos"/>
              </a:rPr>
              <a:t> stack[++top] = node-&gt;right;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   if (node-&gt;left)  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800" b="0">
                <a:solidFill>
                  <a:srgbClr val="FFFFFF"/>
                </a:solidFill>
                <a:latin typeface="Aptos"/>
              </a:rPr>
              <a:t>             </a:t>
            </a:r>
            <a:r>
              <a:rPr sz="1800" b="0">
                <a:solidFill>
                  <a:srgbClr val="FFFFFF"/>
                </a:solidFill>
                <a:latin typeface="Aptos"/>
              </a:rPr>
              <a:t>stack[++top] = node-&gt;left;</a:t>
            </a:r>
            <a:endParaRPr sz="18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}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>
            <a:off x="8503919" y="1600200"/>
            <a:ext cx="1188721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0" y="1600200"/>
            <a:ext cx="1097279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772400" y="2697480"/>
            <a:ext cx="731519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19" y="2697480"/>
            <a:ext cx="731521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86600" y="3749039"/>
            <a:ext cx="685800" cy="1051561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372600" y="1280160"/>
            <a:ext cx="640080" cy="640080"/>
          </a:xfrm>
          <a:prstGeom prst="ellipse">
            <a:avLst/>
          </a:prstGeom>
          <a:solidFill>
            <a:srgbClr val="1F2F6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75519" y="117957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F2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F69"/>
                </a:solidFill>
                <a:latin typeface="Aptos"/>
              </a:rPr>
              <a:t>1</a:t>
            </a:r>
            <a:endParaRPr sz="11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183879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686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2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469880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972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6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45236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95527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3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91540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41831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5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66560" y="4480560"/>
            <a:ext cx="640080" cy="640080"/>
          </a:xfrm>
          <a:prstGeom prst="ellipse">
            <a:avLst/>
          </a:prstGeom>
          <a:solidFill>
            <a:srgbClr val="E97E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6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269480" y="4379976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97E3C"/>
                </a:solidFill>
                <a:latin typeface="Aptos"/>
              </a:rPr>
              <a:t>4</a:t>
            </a:r>
            <a:endParaRPr sz="1100" b="1">
              <a:solidFill>
                <a:srgbClr val="E97E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97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Postorder Traversal  (Left → Right → Node)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The C program uses two stacks: one for traversal and one for reversing the final order.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0970"/>
            <a:ext cx="4480560" cy="38481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Output from this tree: 6  4  5  2  3  1</a:t>
            </a:r>
            <a:endParaRPr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01825"/>
            <a:ext cx="5396230" cy="384175"/>
          </a:xfrm>
          <a:prstGeom prst="roundRect">
            <a:avLst/>
          </a:prstGeom>
          <a:solidFill>
            <a:srgbClr val="F8EDD3"/>
          </a:solidFill>
          <a:ln w="15240"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1. Push root to Stack1.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5396230" cy="411480"/>
          </a:xfrm>
          <a:prstGeom prst="roundRect">
            <a:avLst/>
          </a:prstGeom>
          <a:solidFill>
            <a:srgbClr val="F8EDD3"/>
          </a:solidFill>
          <a:ln w="15240"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2. Pop from Stack1 and push into Stack2.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853055"/>
            <a:ext cx="5396230" cy="384175"/>
          </a:xfrm>
          <a:prstGeom prst="roundRect">
            <a:avLst/>
          </a:prstGeom>
          <a:solidFill>
            <a:srgbClr val="F8EDD3"/>
          </a:solidFill>
          <a:ln w="15240"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3. Push left, then right into Stack1.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328670"/>
            <a:ext cx="5366385" cy="501015"/>
          </a:xfrm>
          <a:prstGeom prst="roundRect">
            <a:avLst/>
          </a:prstGeom>
          <a:solidFill>
            <a:srgbClr val="F8EDD3"/>
          </a:solidFill>
          <a:ln w="15240"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04058"/>
                </a:solidFill>
                <a:latin typeface="Aptos"/>
              </a:rPr>
              <a:t>4. Pop all items from Stack2 for final answer.</a:t>
            </a:r>
            <a:endParaRPr sz="1800" b="1">
              <a:solidFill>
                <a:srgbClr val="30405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3921125"/>
            <a:ext cx="5593080" cy="2882265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txBody>
          <a:bodyPr wrap="square" lIns="101600" tIns="76200" rIns="101600" bIns="7620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s1[++t1] = root;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while (t1 != -1) {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    node = s1[t1--];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    s2[++t2] = node;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    if (node-&gt;left)  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marL="457200" lvl="1" indent="457200" algn="l"/>
            <a:r>
              <a:rPr sz="1700" b="0">
                <a:solidFill>
                  <a:srgbClr val="FFFFFF"/>
                </a:solidFill>
                <a:latin typeface="Aptos"/>
              </a:rPr>
              <a:t>s1[++t1] = node-&gt;left;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    if (node-&gt;right) 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marL="457200" lvl="1" indent="457200" algn="l"/>
            <a:r>
              <a:rPr sz="1700" b="0">
                <a:solidFill>
                  <a:srgbClr val="FFFFFF"/>
                </a:solidFill>
                <a:latin typeface="Aptos"/>
              </a:rPr>
              <a:t>s1[++t1] = node-&gt;right;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}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while (t2 != -1) </a:t>
            </a:r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700" b="0">
                <a:solidFill>
                  <a:srgbClr val="FFFFFF"/>
                </a:solidFill>
                <a:latin typeface="Aptos"/>
              </a:rPr>
              <a:t>         </a:t>
            </a:r>
            <a:r>
              <a:rPr sz="1700" b="0">
                <a:solidFill>
                  <a:srgbClr val="FFFFFF"/>
                </a:solidFill>
                <a:latin typeface="Aptos"/>
              </a:rPr>
              <a:t>printf("%d ", s2[t2--]-&gt;data);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>
            <a:off x="8503919" y="1600200"/>
            <a:ext cx="1188721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0" y="1600200"/>
            <a:ext cx="1097279" cy="1097280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772400" y="2697480"/>
            <a:ext cx="731519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19" y="2697480"/>
            <a:ext cx="731521" cy="1051559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86600" y="3749039"/>
            <a:ext cx="685800" cy="1051561"/>
          </a:xfrm>
          <a:prstGeom prst="line">
            <a:avLst/>
          </a:prstGeom>
          <a:ln w="279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372600" y="1280160"/>
            <a:ext cx="640080" cy="640080"/>
          </a:xfrm>
          <a:prstGeom prst="ellipse">
            <a:avLst/>
          </a:prstGeom>
          <a:solidFill>
            <a:srgbClr val="1F2F6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75519" y="117957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F2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F69"/>
                </a:solidFill>
                <a:latin typeface="Aptos"/>
              </a:rPr>
              <a:t>6</a:t>
            </a:r>
            <a:endParaRPr sz="1100" b="1">
              <a:solidFill>
                <a:srgbClr val="1F2F69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183879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686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4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469880" y="2377440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972799" y="2276856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5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45236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95527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2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915400" y="3428999"/>
            <a:ext cx="640080" cy="640080"/>
          </a:xfrm>
          <a:prstGeom prst="ellipse">
            <a:avLst/>
          </a:prstGeom>
          <a:solidFill>
            <a:srgbClr val="1DB3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418319" y="3328415"/>
            <a:ext cx="274320" cy="274320"/>
          </a:xfrm>
          <a:prstGeom prst="ellipse">
            <a:avLst/>
          </a:prstGeom>
          <a:solidFill>
            <a:srgbClr val="F1C40F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B3C9"/>
                </a:solidFill>
                <a:latin typeface="Aptos"/>
              </a:rPr>
              <a:t>3</a:t>
            </a:r>
            <a:endParaRPr sz="1100" b="1">
              <a:solidFill>
                <a:srgbClr val="1DB3C9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66560" y="4480560"/>
            <a:ext cx="640080" cy="640080"/>
          </a:xfrm>
          <a:prstGeom prst="ellipse">
            <a:avLst/>
          </a:prstGeom>
          <a:solidFill>
            <a:srgbClr val="E97E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6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269480" y="4379976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97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97E3C"/>
                </a:solidFill>
                <a:latin typeface="Aptos"/>
              </a:rPr>
              <a:t>1</a:t>
            </a:r>
            <a:endParaRPr sz="1100" b="1">
              <a:solidFill>
                <a:srgbClr val="E97E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Inorder Walkthrough: Important Steps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Students can track the stack and the visited list at each stage.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1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Push 1 → 2 → 4 → 6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 flipH="1">
            <a:off x="1965960" y="233172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97480" y="233172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508760" y="288036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65960" y="2880360"/>
            <a:ext cx="411479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43000" y="338328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42032" y="2176272"/>
            <a:ext cx="310896" cy="310896"/>
          </a:xfrm>
          <a:prstGeom prst="ellipse">
            <a:avLst/>
          </a:prstGeom>
          <a:solidFill>
            <a:srgbClr val="1F2F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81051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18211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353312" y="322783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221991" y="322783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7552" y="373075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88920" y="184708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-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88920" y="254203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6 4 2 1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0" y="146304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2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180136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Pop 6 and visit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 flipH="1">
            <a:off x="5440680" y="233172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233172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983480" y="288036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40680" y="2880360"/>
            <a:ext cx="41148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617720" y="338328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016752" y="2176272"/>
            <a:ext cx="310896" cy="310896"/>
          </a:xfrm>
          <a:prstGeom prst="ellipse">
            <a:avLst/>
          </a:prstGeom>
          <a:solidFill>
            <a:srgbClr val="1F2F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528523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65683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28032" y="322783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5696712" y="322783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462272" y="37307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63640" y="184708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6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63640" y="254203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4 2 1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589520" y="146304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3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9520" y="180136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Pop 4 and visit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 flipH="1">
            <a:off x="8915400" y="233172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46920" y="233172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458200" y="288036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15400" y="2880360"/>
            <a:ext cx="41148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092440" y="338328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491472" y="2176272"/>
            <a:ext cx="310896" cy="310896"/>
          </a:xfrm>
          <a:prstGeom prst="ellipse">
            <a:avLst/>
          </a:prstGeom>
          <a:solidFill>
            <a:srgbClr val="1F2F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875995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10131552" y="272491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8302752" y="32278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9171432" y="322783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6992" y="37307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738360" y="184708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6 4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738360" y="254203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2 1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40080" y="384048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4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0080" y="417880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Pop 2, move right to 5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52" name="Connector 51"/>
          <p:cNvCxnSpPr/>
          <p:nvPr/>
        </p:nvCxnSpPr>
        <p:spPr>
          <a:xfrm flipH="1">
            <a:off x="1965960" y="470916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697480" y="470916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08760" y="525780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65960" y="5257800"/>
            <a:ext cx="411479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143000" y="576072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542032" y="4553712"/>
            <a:ext cx="310896" cy="310896"/>
          </a:xfrm>
          <a:prstGeom prst="ellipse">
            <a:avLst/>
          </a:prstGeom>
          <a:solidFill>
            <a:srgbClr val="1F2F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1810512" y="51023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3182112" y="510235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1353312" y="560527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2221991" y="560527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987552" y="610819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788920" y="422452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6 4 2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88920" y="491947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5 1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114800" y="384048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5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14800" y="417880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Pop 5 and visit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67" name="Connector 66"/>
          <p:cNvCxnSpPr/>
          <p:nvPr/>
        </p:nvCxnSpPr>
        <p:spPr>
          <a:xfrm flipH="1">
            <a:off x="5440680" y="470916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72200" y="470916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4983480" y="525780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440680" y="5257800"/>
            <a:ext cx="41148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617720" y="576072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016752" y="4553712"/>
            <a:ext cx="310896" cy="310896"/>
          </a:xfrm>
          <a:prstGeom prst="ellipse">
            <a:avLst/>
          </a:prstGeom>
          <a:solidFill>
            <a:srgbClr val="1F2F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5285232" y="51023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6656832" y="5102352"/>
            <a:ext cx="310896" cy="310896"/>
          </a:xfrm>
          <a:prstGeom prst="ellipse">
            <a:avLst/>
          </a:prstGeom>
          <a:solidFill>
            <a:srgbClr val="1DB3C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4828032" y="560527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5696712" y="560527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7" name="Oval 76"/>
          <p:cNvSpPr/>
          <p:nvPr/>
        </p:nvSpPr>
        <p:spPr>
          <a:xfrm>
            <a:off x="4462272" y="610819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263640" y="422452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6 4 2 5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263640" y="491947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1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589520" y="3840480"/>
            <a:ext cx="2743200" cy="32004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Step 6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589520" y="4178808"/>
            <a:ext cx="2148840" cy="41148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300" b="0">
                <a:solidFill>
                  <a:srgbClr val="304058"/>
                </a:solidFill>
                <a:latin typeface="Aptos"/>
              </a:rPr>
              <a:t>Pop 1, go right to 3, then visit 3</a:t>
            </a:r>
            <a:endParaRPr sz="1300" b="0">
              <a:solidFill>
                <a:srgbClr val="304058"/>
              </a:solidFill>
              <a:latin typeface="Aptos"/>
            </a:endParaRPr>
          </a:p>
        </p:txBody>
      </p:sp>
      <p:cxnSp>
        <p:nvCxnSpPr>
          <p:cNvPr id="82" name="Connector 81"/>
          <p:cNvCxnSpPr/>
          <p:nvPr/>
        </p:nvCxnSpPr>
        <p:spPr>
          <a:xfrm flipH="1">
            <a:off x="8915400" y="4709160"/>
            <a:ext cx="73152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646920" y="4709160"/>
            <a:ext cx="640080" cy="54864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8458200" y="5257800"/>
            <a:ext cx="45720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15400" y="5257800"/>
            <a:ext cx="41148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8092440" y="5760720"/>
            <a:ext cx="365760" cy="502920"/>
          </a:xfrm>
          <a:prstGeom prst="line">
            <a:avLst/>
          </a:prstGeom>
          <a:ln w="15240">
            <a:solidFill>
              <a:srgbClr val="198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9491472" y="455371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8759952" y="51023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10131552" y="51023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0" name="Oval 89"/>
          <p:cNvSpPr/>
          <p:nvPr/>
        </p:nvSpPr>
        <p:spPr>
          <a:xfrm>
            <a:off x="8302752" y="560527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1" name="Oval 90"/>
          <p:cNvSpPr/>
          <p:nvPr/>
        </p:nvSpPr>
        <p:spPr>
          <a:xfrm>
            <a:off x="9171432" y="560527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36992" y="610819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738360" y="422452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Visited:</a:t>
            </a:r>
            <a:endParaRPr sz="11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304058"/>
                </a:solidFill>
                <a:latin typeface="Aptos"/>
              </a:rPr>
              <a:t>6 4 2 5 1 3</a:t>
            </a:r>
            <a:endParaRPr sz="11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738360" y="4919472"/>
            <a:ext cx="594360" cy="50292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Stack:</a:t>
            </a:r>
            <a:endParaRPr sz="1000" b="0">
              <a:solidFill>
                <a:srgbClr val="1F2F69"/>
              </a:solidFill>
              <a:latin typeface="Aptos"/>
            </a:endParaRPr>
          </a:p>
          <a:p>
            <a:pPr algn="ctr"/>
            <a:r>
              <a:rPr sz="1000" b="0">
                <a:solidFill>
                  <a:srgbClr val="1F2F69"/>
                </a:solidFill>
                <a:latin typeface="Aptos"/>
              </a:rPr>
              <a:t>empty</a:t>
            </a:r>
            <a:endParaRPr sz="1000" b="0">
              <a:solidFill>
                <a:srgbClr val="1F2F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Preorder Walkthrough: Why Right Is Pushed First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Because the stack is LIFO, pushing right before left makes left come out first.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Start: push 1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49240" y="1417320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1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304058"/>
                </a:solidFill>
                <a:latin typeface="Aptos"/>
              </a:rPr>
              <a:t>Visited: —</a:t>
            </a:r>
            <a:endParaRPr sz="16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221992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2221992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Pop 1, visit 1, push 3 then 2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49240" y="2221992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2 3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0" y="2221992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304058"/>
                </a:solidFill>
                <a:latin typeface="Aptos"/>
              </a:rPr>
              <a:t>Visited: 1</a:t>
            </a:r>
            <a:endParaRPr sz="16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026664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026664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Pop 2, visit 2, push 5 then 4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49240" y="3026664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4 5 3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0" y="3026664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304058"/>
                </a:solidFill>
                <a:latin typeface="Aptos"/>
              </a:rPr>
              <a:t>Visited: 1 2</a:t>
            </a:r>
            <a:endParaRPr sz="16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831336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831336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Pop 4, visit 4, push 6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49240" y="3831336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6 5 3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3831336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304058"/>
                </a:solidFill>
                <a:latin typeface="Aptos"/>
              </a:rPr>
              <a:t>Visited: 1 2 4</a:t>
            </a:r>
            <a:endParaRPr sz="16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636008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636008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Pop 6, visit 6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49240" y="4636008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5 3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0" y="4636008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304058"/>
                </a:solidFill>
                <a:latin typeface="Aptos"/>
              </a:rPr>
              <a:t>Visited: 1 2 4 6</a:t>
            </a:r>
            <a:endParaRPr sz="16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440680"/>
            <a:ext cx="548640" cy="384048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5440680"/>
            <a:ext cx="4023360" cy="38404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Pop 5, then 3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49240" y="5440680"/>
            <a:ext cx="1874519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1F2F69"/>
                </a:solidFill>
                <a:latin typeface="Aptos"/>
              </a:rPr>
              <a:t>Stack: empty</a:t>
            </a:r>
            <a:endParaRPr sz="1600" b="0">
              <a:solidFill>
                <a:srgbClr val="1F2F69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6640" y="5440680"/>
            <a:ext cx="4160520" cy="38404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600" b="0">
                <a:solidFill>
                  <a:srgbClr val="27AE60"/>
                </a:solidFill>
                <a:latin typeface="Aptos"/>
              </a:rPr>
              <a:t>Visited: 1 2 4 6 5 3</a:t>
            </a:r>
            <a:endParaRPr sz="1600" b="0">
              <a:solidFill>
                <a:srgbClr val="27AE6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Final preorder output: 1 2 4 6 5 3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97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Postorder Walkthrough with Two Stacks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04058"/>
                </a:solidFill>
                <a:latin typeface="Aptos"/>
              </a:rPr>
              <a:t>Stack1 drives movement; Stack2 stores nodes in reverse so the final pop gives postorder.</a:t>
            </a:r>
            <a:endParaRPr sz="1600">
              <a:solidFill>
                <a:srgbClr val="30405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731520" cy="41148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Step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88720" y="1280160"/>
            <a:ext cx="4754880" cy="41148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Action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1828800" cy="41148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Stack1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1828800" cy="41148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Stack2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0" y="1280160"/>
            <a:ext cx="1645920" cy="41148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Output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Push root 1 into Stack1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0" y="1783080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0" y="1783080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0" y="1783080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2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2441448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Pop 1 → push to Stack2; push 2 and 3 into Stack1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35040" y="2441448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2 3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0" y="2441448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0" y="2441448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099815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3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720" y="3099815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Pop 3 → push to Stack2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0" y="3099815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2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0" y="3099815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1 3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0" y="3099815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758184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4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3758184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Pop 2 → push to Stack2; push 4 and 5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3758184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4 5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3758184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1 3 2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58400" y="3758184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4416552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5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Pop 5, then 4, then 6 into Stack2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35040" y="4416552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6720" y="4416552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1 3 2 5 4 6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0" y="4416552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5074920"/>
            <a:ext cx="7315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6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88720" y="5074920"/>
            <a:ext cx="475488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500" b="0">
                <a:solidFill>
                  <a:srgbClr val="304058"/>
                </a:solidFill>
                <a:latin typeface="Aptos"/>
              </a:rPr>
              <a:t>Pop Stack2 for answer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35040" y="5074920"/>
            <a:ext cx="182880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46720" y="5074920"/>
            <a:ext cx="1828800" cy="457200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304058"/>
                </a:solidFill>
                <a:latin typeface="Aptos"/>
              </a:rPr>
              <a:t>-</a:t>
            </a:r>
            <a:endParaRPr sz="15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58400" y="5074920"/>
            <a:ext cx="1645920" cy="457200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500" b="0">
                <a:solidFill>
                  <a:srgbClr val="27AE60"/>
                </a:solidFill>
                <a:latin typeface="Aptos"/>
              </a:rPr>
              <a:t>6 4 5 2 3 1</a:t>
            </a:r>
            <a:endParaRPr sz="1500" b="0">
              <a:solidFill>
                <a:srgbClr val="27AE6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Comparison of the Three Non-Recursive Traversals</a:t>
            </a:r>
            <a:endParaRPr sz="3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200400" cy="502920"/>
          </a:xfrm>
          <a:prstGeom prst="roundRect">
            <a:avLst/>
          </a:prstGeom>
          <a:solidFill>
            <a:srgbClr val="198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INORDER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Order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Left → Node → Right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761487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Result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6 4 2 5 1 3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48456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Stack(s)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1 stack + current pointer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535424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Best use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Used when sorted BST output is needed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69080" y="1234440"/>
            <a:ext cx="3200400" cy="502920"/>
          </a:xfrm>
          <a:prstGeom prst="roundRect">
            <a:avLst/>
          </a:prstGeom>
          <a:solidFill>
            <a:srgbClr val="1F2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PREORDER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Order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Node → Left → Right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2761487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Result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1 2 4 6 5 3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3648456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Stack(s)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1 stack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9080" y="4535424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Best use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Used for copy / save / serialize tasks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1234440"/>
            <a:ext cx="3200400" cy="502920"/>
          </a:xfrm>
          <a:prstGeom prst="roundRect">
            <a:avLst/>
          </a:prstGeom>
          <a:solidFill>
            <a:srgbClr val="E97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POSTORDER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0" y="1874519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Order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Left → Right → Node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0" y="2761487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Result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6 4 5 2 3 1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80960" y="3648456"/>
            <a:ext cx="3200400" cy="749808"/>
          </a:xfrm>
          <a:prstGeom prst="rect">
            <a:avLst/>
          </a:prstGeom>
          <a:solidFill>
            <a:srgbClr val="D6E4EC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Stack(s)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2 stacks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4535424"/>
            <a:ext cx="3200400" cy="749808"/>
          </a:xfrm>
          <a:prstGeom prst="rect">
            <a:avLst/>
          </a:prstGeom>
          <a:solidFill>
            <a:srgbClr val="F8FBFD"/>
          </a:solidFill>
          <a:ln w="19050">
            <a:solidFill>
              <a:srgbClr val="1DB3C9"/>
            </a:solidFill>
          </a:ln>
        </p:spPr>
        <p:txBody>
          <a:bodyPr wrap="square" lIns="101600" tIns="76200" rIns="101600" bIns="76200" anchor="ctr">
            <a:spAutoFit/>
          </a:bodyPr>
          <a:lstStyle/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Best use</a:t>
            </a:r>
            <a:endParaRPr sz="1700" b="0">
              <a:solidFill>
                <a:srgbClr val="304058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304058"/>
                </a:solidFill>
                <a:latin typeface="Aptos"/>
              </a:rPr>
              <a:t>Used for delete / expression evaluation</a:t>
            </a:r>
            <a:endParaRPr sz="1700" b="0">
              <a:solidFill>
                <a:srgbClr val="30405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612648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600" b="0">
                <a:solidFill>
                  <a:srgbClr val="6E7C92"/>
                </a:solidFill>
                <a:latin typeface="Aptos"/>
              </a:rPr>
              <a:t>All three traversals take O(n) time. Space is O(h) for single-stack methods and still linear in stack use for the two-stack idea.</a:t>
            </a:r>
            <a:endParaRPr sz="1600" b="0">
              <a:solidFill>
                <a:srgbClr val="6E7C9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54864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Summary for Students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19849B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80160" y="1417320"/>
            <a:ext cx="10424160" cy="621792"/>
          </a:xfrm>
          <a:prstGeom prst="roundRect">
            <a:avLst/>
          </a:prstGeom>
          <a:solidFill>
            <a:srgbClr val="243E70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Inorder: keep going left, then pop, visit, and move right.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566928" cy="566928"/>
          </a:xfrm>
          <a:prstGeom prst="ellipse">
            <a:avLst/>
          </a:prstGeom>
          <a:solidFill>
            <a:srgbClr val="19849B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80160" y="2423160"/>
            <a:ext cx="10424160" cy="621792"/>
          </a:xfrm>
          <a:prstGeom prst="roundRect">
            <a:avLst/>
          </a:prstGeom>
          <a:solidFill>
            <a:srgbClr val="243E70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Preorder: visit first, so push right before left.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2920" y="3429000"/>
            <a:ext cx="566928" cy="566928"/>
          </a:xfrm>
          <a:prstGeom prst="ellipse">
            <a:avLst/>
          </a:prstGeom>
          <a:solidFill>
            <a:srgbClr val="19849B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80160" y="3429000"/>
            <a:ext cx="10424160" cy="621792"/>
          </a:xfrm>
          <a:prstGeom prst="roundRect">
            <a:avLst/>
          </a:prstGeom>
          <a:solidFill>
            <a:srgbClr val="243E70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Postorder: use two stacks to reverse the visiting order.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502920" y="4434840"/>
            <a:ext cx="566928" cy="566928"/>
          </a:xfrm>
          <a:prstGeom prst="ellipse">
            <a:avLst/>
          </a:prstGeom>
          <a:solidFill>
            <a:srgbClr val="19849B"/>
          </a:solidFill>
          <a:ln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80160" y="4434840"/>
            <a:ext cx="10424160" cy="621792"/>
          </a:xfrm>
          <a:prstGeom prst="roundRect">
            <a:avLst/>
          </a:prstGeom>
          <a:solidFill>
            <a:srgbClr val="243E70"/>
          </a:solidFill>
          <a:ln w="15240">
            <a:solidFill>
              <a:srgbClr val="1D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The stack makes the hidden recursion process visible and easy to debug.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598932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01600" tIns="76200" rIns="101600" bIns="76200" anchor="ctr">
            <a:spAutoFit/>
          </a:bodyPr>
          <a:lstStyle/>
          <a:p>
            <a:pPr algn="ctr"/>
            <a:r>
              <a:rPr sz="1800" b="0">
                <a:solidFill>
                  <a:srgbClr val="1DB3C9"/>
                </a:solidFill>
                <a:latin typeface="Aptos"/>
              </a:rPr>
              <a:t>Practice by tracing the stack after every push and pop.</a:t>
            </a:r>
            <a:endParaRPr sz="1800" b="0">
              <a:solidFill>
                <a:srgbClr val="1DB3C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4531</Words>
  <Application>WPS Presentation</Application>
  <PresentationFormat>On-screen Show (4:3)</PresentationFormat>
  <Paragraphs>539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Ramakrishna gandi</cp:lastModifiedBy>
  <cp:revision>8</cp:revision>
  <dcterms:created xsi:type="dcterms:W3CDTF">2013-01-27T09:14:00Z</dcterms:created>
  <dcterms:modified xsi:type="dcterms:W3CDTF">2026-06-17T04:11:47Z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E6F2E1FD30454A298423E2C46B1DBF5F_12</vt:lpwstr>
  </property>
  <property fmtid="{D5CDD505-2E9C-101B-9397-08002B2CF9AE}" pid="3" name="KSOProductBuildVer">
    <vt:lpwstr>1033-12.1.0.26880</vt:lpwstr>
  </property>
</Properties>
</file>