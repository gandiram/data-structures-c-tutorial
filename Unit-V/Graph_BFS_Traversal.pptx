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Traversal — BFS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65760" y="18745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BREADTH FIRST SEARCH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45820" y="2606040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" y="26060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Adjacency Matrix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06140" y="2606040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6140" y="26060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 (FIFO)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6460" y="2606040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6460" y="26060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Array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14 — C Programming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Graph Used in the Program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code builds an undirected graph with 4 vertices (0–3) using an adjacency matrix.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>
            <a:off x="992505" y="1933575"/>
            <a:ext cx="873760" cy="89154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1874520"/>
            <a:ext cx="1188720" cy="118872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63240"/>
            <a:ext cx="1188720" cy="118872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5376" y="1545336"/>
            <a:ext cx="658368" cy="658368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154533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" y="2734056"/>
            <a:ext cx="658368" cy="658368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73405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54096" y="2734056"/>
            <a:ext cx="658368" cy="658368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73405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865376" y="3922776"/>
            <a:ext cx="658368" cy="658368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392277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437083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Edges: (0–1)  (0–2)  (1–3)  (2–3)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114300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Adjacency Matrix (adj[V][V])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50876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50876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1837944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37944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837944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1837944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837944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0" y="1837944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837944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1837944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837944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0" y="2167128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167128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16712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12080" y="2167128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16712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0" y="2167128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16712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2167128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16712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97680" y="2496312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2496312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496312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12080" y="2496312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496312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69280" y="2496312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2496312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26480" y="2496312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496312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297680" y="2825496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754880" y="2825496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28254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212080" y="2825496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28254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0" y="2825496"/>
            <a:ext cx="457200" cy="329184"/>
          </a:xfrm>
          <a:prstGeom prst="rect">
            <a:avLst/>
          </a:prstGeom>
          <a:solidFill>
            <a:srgbClr val="D7E6F2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28254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26480" y="2825496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28254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297680" y="3337560"/>
            <a:ext cx="4389120" cy="132588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3410712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B5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addEdge(int u, int v) {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434840" y="3579223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E3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adj[u][v] = 1;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434840" y="3747734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E3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adj[v][u] = 1;  // undirected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434840" y="3916245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B5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434840" y="4084755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34840" y="4253266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addEdge(0,1); addEdge(0,2);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434840" y="4421777"/>
            <a:ext cx="4114800" cy="168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addEdge(1,3); addEdge(2,3);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 Queue? FIFO Idea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explores level by level. A Queue (First-In, First-Out) makes sure nodes are visited in the order they were discovered.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BE9C9"/>
          </a:solidFill>
          <a:ln w="12700">
            <a:solidFill>
              <a:srgbClr val="FBE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DFS uses a Stack (LIFO)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630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uses a Queue (FIFO)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 example (FIFO)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68680" cy="502920"/>
          </a:xfrm>
          <a:prstGeom prst="rect">
            <a:avLst/>
          </a:prstGeom>
          <a:solidFill>
            <a:srgbClr val="17889B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2514600"/>
            <a:ext cx="868680" cy="502920"/>
          </a:xfrm>
          <a:prstGeom prst="rect">
            <a:avLst/>
          </a:prstGeom>
          <a:solidFill>
            <a:srgbClr val="CFEAF0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51460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03120" y="2514600"/>
            <a:ext cx="868680" cy="502920"/>
          </a:xfrm>
          <a:prstGeom prst="rect">
            <a:avLst/>
          </a:prstGeom>
          <a:solidFill>
            <a:srgbClr val="CFEAF0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51460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71800" y="2514600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54096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054096"/>
            <a:ext cx="1143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REAR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Enqueue adds to the REAR.  Dequeue removes from the FRONT.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3931920" cy="201168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221992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queue[V];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455164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front = 0, rear = 0;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688336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921508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9E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Enqueue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154680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E8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queue[rear++] = start;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387852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621024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9E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Dequeue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854196"/>
            <a:ext cx="36576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B6C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vertex = queue[front++];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Algorithm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" cy="384048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914400"/>
            <a:ext cx="3520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Enqueue the start vertex. Mark it visited.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63624"/>
            <a:ext cx="384048" cy="384048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517904"/>
            <a:ext cx="3520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While queue is not empty: dequeue the front vertex → visit (print)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3520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all its neighbors using the adjacency matrix.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384048" cy="384048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0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724912"/>
            <a:ext cx="3520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each unvisited neighbor: enqueue it and mark visited immediately.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384048" cy="384048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741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328416"/>
            <a:ext cx="3520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until the queue is empty — all reachable vertices are visited.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BE9C9"/>
          </a:solidFill>
          <a:ln w="12700">
            <a:solidFill>
              <a:srgbClr val="FBE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1480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idea: visited[] is marked the moment a node is ENQUEUED — not when it is dequeued!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896112"/>
            <a:ext cx="4160520" cy="388620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9264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B5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BFS(int start) {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1166101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int front=0, rear=0;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136293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1559774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8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queue[rear++] = start; // enqueue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1756611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8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visited[start] = 1;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195344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2150284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while (front &lt; rear) {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2347120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B6C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vertex = queue[front++]; //dequeue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254395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B8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printf("%d ", vertex); // VISIT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2740794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54880" y="2937630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V; i++) {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313446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if (adj[vertex][i]==1 &amp;&amp;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3331304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visited[i]==0) {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3528140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8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queue[rear++] = i; //enqueue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0" y="372497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8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visited[i] = 1;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54880" y="3921813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}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54880" y="4118650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54880" y="4315487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9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54880" y="4512323"/>
            <a:ext cx="3886200" cy="19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B5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Step-by-Step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Starting vertex: 0   |   Expected output: 0  1  2 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14900" y="3063240"/>
            <a:ext cx="891540" cy="89154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3954780"/>
            <a:ext cx="891540" cy="89154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5444" y="2843784"/>
            <a:ext cx="438912" cy="438912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5444" y="28437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03904" y="3735324"/>
            <a:ext cx="438912" cy="438912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37353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86984" y="3735324"/>
            <a:ext cx="438912" cy="438912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6984" y="37353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95444" y="4626864"/>
            <a:ext cx="438912" cy="438912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5444" y="4626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3"/>
          <p:cNvSpPr/>
          <p:nvPr/>
        </p:nvSpPr>
        <p:spPr>
          <a:xfrm flipH="1">
            <a:off x="4124960" y="3114675"/>
            <a:ext cx="751205" cy="813435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— Step 1 of 5 — Initialize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10512" y="1005840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90" y="2099462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713232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713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6816" y="698602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69860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2" y="1806854"/>
            <a:ext cx="585216" cy="585216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2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11526" y="1806854"/>
            <a:ext cx="585216" cy="585216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1526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17904" y="2900477"/>
            <a:ext cx="585216" cy="585216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2900477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discovered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34440" y="3611880"/>
            <a:ext cx="164592" cy="164592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queue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94560" y="3611880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3611880"/>
            <a:ext cx="164592" cy="16459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60520" y="868680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solidFill>
            <a:srgbClr val="17889B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1746504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228600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6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(in order)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60520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60520" y="3182112"/>
            <a:ext cx="4526280" cy="96012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32369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executed: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97680" y="3465576"/>
            <a:ext cx="4206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queue[rear++] = 0;  visited[0] = 1;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2976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" y="4297680"/>
            <a:ext cx="82753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vertex is 0. Enqueue 0 into the queue and mark visited[0] = 1 right away.</a:t>
            </a:r>
            <a:endParaRPr lang="en-US" sz="1100" dirty="0"/>
          </a:p>
        </p:txBody>
      </p:sp>
      <p:sp>
        <p:nvSpPr>
          <p:cNvPr id="41" name="Shape 3"/>
          <p:cNvSpPr/>
          <p:nvPr/>
        </p:nvSpPr>
        <p:spPr>
          <a:xfrm flipH="1">
            <a:off x="873760" y="1171575"/>
            <a:ext cx="751205" cy="813435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— Step 2 of 5 — Dequeue 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10512" y="1005840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90" y="2099462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713232"/>
            <a:ext cx="585216" cy="585216"/>
          </a:xfrm>
          <a:prstGeom prst="ellipse">
            <a:avLst/>
          </a:prstGeom>
          <a:solidFill>
            <a:srgbClr val="D6336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713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6816" y="698602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69860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2" y="1806854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2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11526" y="1806854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1526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17904" y="2900477"/>
            <a:ext cx="585216" cy="585216"/>
          </a:xfrm>
          <a:prstGeom prst="ellipse">
            <a:avLst/>
          </a:prstGeom>
          <a:solidFill>
            <a:srgbClr val="1A2C5B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2900477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discovered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34440" y="3611880"/>
            <a:ext cx="164592" cy="164592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queue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94560" y="3611880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3611880"/>
            <a:ext cx="164592" cy="16459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60520" y="868680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solidFill>
            <a:srgbClr val="17889B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solidFill>
            <a:srgbClr val="CFEAF0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9788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1746504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746504"/>
            <a:ext cx="1143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REAR 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60520" y="228600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6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(in order)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60520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60520" y="3182112"/>
            <a:ext cx="4526280" cy="96012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2369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executed: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0" y="3465576"/>
            <a:ext cx="4206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vertex = queue[front++]; //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printf("0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enqueue 1, enqueue 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8912" y="4297680"/>
            <a:ext cx="82753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front of queue (0) → VISIT 0 (print it). Check its neighbors using adj[0][i]: vertices 1 and 2 are connected and unvisited, so enqueue both and mark visited.</a:t>
            </a:r>
            <a:endParaRPr lang="en-US" sz="1100" dirty="0"/>
          </a:p>
        </p:txBody>
      </p:sp>
      <p:sp>
        <p:nvSpPr>
          <p:cNvPr id="43" name="Shape 3"/>
          <p:cNvSpPr/>
          <p:nvPr/>
        </p:nvSpPr>
        <p:spPr>
          <a:xfrm flipH="1">
            <a:off x="899160" y="1207135"/>
            <a:ext cx="674370" cy="758190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— Step 3 of 5 — Dequeue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10512" y="1005840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90" y="2099462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713232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713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6816" y="698602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69860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2" y="1806854"/>
            <a:ext cx="585216" cy="585216"/>
          </a:xfrm>
          <a:prstGeom prst="ellipse">
            <a:avLst/>
          </a:prstGeom>
          <a:solidFill>
            <a:srgbClr val="D6336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2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194" y="1792224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4" y="1792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1526" y="1806854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1526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17904" y="2900477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17904" y="2900477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discovered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34440" y="3611880"/>
            <a:ext cx="164592" cy="164592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queue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94560" y="3611880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Visiting now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3611880"/>
            <a:ext cx="164592" cy="16459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60520" y="868680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solidFill>
            <a:srgbClr val="17889B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solidFill>
            <a:srgbClr val="CFEAF0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9788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1746504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746504"/>
            <a:ext cx="1143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REAR 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228600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6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(in order)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60520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36008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60520" y="3182112"/>
            <a:ext cx="4526280" cy="96012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2369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executed: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97680" y="3465576"/>
            <a:ext cx="4206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vertex = queue[front++]; // 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printf("1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enqueue 3 (0 already visited)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8912" y="4297680"/>
            <a:ext cx="82753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front (1) → VISIT 1. Neighbors of 1: vertex 0 (already visited, skip) and vertex 3 (unvisited) → enqueue 3, mark visited.</a:t>
            </a:r>
            <a:endParaRPr lang="en-US" sz="1100" dirty="0"/>
          </a:p>
        </p:txBody>
      </p:sp>
      <p:sp>
        <p:nvSpPr>
          <p:cNvPr id="47" name="Shape 3"/>
          <p:cNvSpPr/>
          <p:nvPr/>
        </p:nvSpPr>
        <p:spPr>
          <a:xfrm flipH="1">
            <a:off x="810260" y="1185545"/>
            <a:ext cx="746125" cy="672465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— Step 4 of 5 — Dequeue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10512" y="1005840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90" y="2099462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713232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713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6816" y="698602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69860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2" y="1806854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2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194" y="1792224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4" y="1792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1526" y="1806854"/>
            <a:ext cx="585216" cy="585216"/>
          </a:xfrm>
          <a:prstGeom prst="ellipse">
            <a:avLst/>
          </a:prstGeom>
          <a:solidFill>
            <a:srgbClr val="D6336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1526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50438" y="1792224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0438" y="1792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17904" y="2900477"/>
            <a:ext cx="585216" cy="585216"/>
          </a:xfrm>
          <a:prstGeom prst="ellipse">
            <a:avLst/>
          </a:prstGeom>
          <a:solidFill>
            <a:srgbClr val="2EB5C9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2900477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discovered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34440" y="3611880"/>
            <a:ext cx="164592" cy="164592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queue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94560" y="3611880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3611880"/>
            <a:ext cx="164592" cy="16459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60520" y="868680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solidFill>
            <a:srgbClr val="17889B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1746504"/>
            <a:ext cx="868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228600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6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(in order)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60520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36008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11496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11496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60520" y="3182112"/>
            <a:ext cx="4526280" cy="96012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2369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executed: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97680" y="3465576"/>
            <a:ext cx="4206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vertex = queue[front++]; // =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printf("2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both neighbors already visited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976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8912" y="4297680"/>
            <a:ext cx="82753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front (2) → VISIT 2. Neighbors of 2: vertex 0 (visited) and vertex 3 (already in queue / visited) → nothing new to enqueue.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— Step 5 of 5 — Dequeue 3 (Done)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10512" y="1005840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6890" y="2099462"/>
            <a:ext cx="1093622" cy="1093622"/>
          </a:xfrm>
          <a:prstGeom prst="line">
            <a:avLst/>
          </a:prstGeom>
          <a:noFill/>
          <a:ln w="31750">
            <a:solidFill>
              <a:srgbClr val="1788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713232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713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6816" y="698602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69860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2" y="1806854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2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194" y="1792224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4" y="1792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1526" y="1806854"/>
            <a:ext cx="585216" cy="585216"/>
          </a:xfrm>
          <a:prstGeom prst="ellipse">
            <a:avLst/>
          </a:prstGeom>
          <a:solidFill>
            <a:srgbClr val="E8762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1526" y="180685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50438" y="1792224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0438" y="1792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17904" y="2900477"/>
            <a:ext cx="585216" cy="585216"/>
          </a:xfrm>
          <a:prstGeom prst="ellipse">
            <a:avLst/>
          </a:prstGeom>
          <a:solidFill>
            <a:srgbClr val="D6336C"/>
          </a:solidFill>
          <a:ln w="25400">
            <a:solidFill>
              <a:srgbClr val="1A2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2900477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956816" y="2885846"/>
            <a:ext cx="219456" cy="219456"/>
          </a:xfrm>
          <a:prstGeom prst="ellipse">
            <a:avLst/>
          </a:prstGeom>
          <a:solidFill>
            <a:srgbClr val="FBE9C9"/>
          </a:solidFill>
          <a:ln w="15240">
            <a:solidFill>
              <a:srgbClr val="E8C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288584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discovered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234440" y="3611880"/>
            <a:ext cx="164592" cy="164592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475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queue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94560" y="3611880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0487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Visiting now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54680" y="3611880"/>
            <a:ext cx="164592" cy="16459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584448"/>
            <a:ext cx="777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60520" y="868680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8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6052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207008"/>
            <a:ext cx="868680" cy="502920"/>
          </a:xfrm>
          <a:prstGeom prst="rect">
            <a:avLst/>
          </a:prstGeom>
          <a:solidFill>
            <a:srgbClr val="DCE6EF"/>
          </a:solidFill>
          <a:ln w="16510">
            <a:solidFill>
              <a:srgbClr val="9FB4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228600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6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VISITED (in order)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60520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36008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11496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11496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586984" y="2587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8762C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86984" y="25877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160520" y="3182112"/>
            <a:ext cx="4526280" cy="96012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32369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B5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executed: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297680" y="3465576"/>
            <a:ext cx="4206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vertex = queue[front++]; // =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printf("3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== rear → loop ends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2976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D6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38912" y="4297680"/>
            <a:ext cx="82753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front (3) → VISIT 3. Neighbors of 3: vertices 1 and 2, both already visited → nothing to enqueue. Queue is now empty → BFS complete!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Trace Table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194560"/>
                <a:gridCol w="2011680"/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Dequeued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Visit (print)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Queue after step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Visited set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[0]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{0}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[1, 2]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{0,1,2}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[2, 3]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{0,1,2,3}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[3]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{0,1,2,3}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C5B"/>
                          </a:solidFill>
                        </a:rPr>
                        <a:t>{0,1,2,3}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657600"/>
            <a:ext cx="7315200" cy="548640"/>
          </a:xfrm>
          <a:prstGeom prst="roundRect">
            <a:avLst>
              <a:gd name="adj" fmla="val 20000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BFS Output:   0   →   1   →   2   →  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D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Notice: BFS visits vertex 0 fully (both neighbors) before moving deeper — this is the "breadth-first"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vs DFS — Quick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AF7FA"/>
          </a:solidFill>
          <a:ln w="27940">
            <a:solidFill>
              <a:srgbClr val="1788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(this program)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a Queue (FIFO)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Explores level by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79776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visited on ENQUEUE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46704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shortest path (unweighted)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6E9"/>
          </a:solidFill>
          <a:ln w="27940">
            <a:solidFill>
              <a:srgbClr val="FBE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91440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BE9C9"/>
          </a:solidFill>
          <a:ln w="12700">
            <a:solidFill>
              <a:srgbClr val="FBE9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188720"/>
            <a:ext cx="4114800" cy="274320"/>
          </a:xfrm>
          <a:prstGeom prst="rect">
            <a:avLst/>
          </a:prstGeom>
          <a:solidFill>
            <a:srgbClr val="FBE9C9"/>
          </a:solidFill>
          <a:ln w="12700">
            <a:solidFill>
              <a:srgbClr val="FBE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14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DFS (for comparison)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164592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a Stack (LIFO) or recursion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212848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Explores as deep as possible 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779776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visited on visiting node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346704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C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for cycle detection, paths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8F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run in O(V + E) time for adjacency-matrix or adjacency-list based graphs.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20624" cy="420624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" y="1033272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BFS explores a graph level by level, using a Queue (FIFO) to control the order.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764792"/>
            <a:ext cx="420624" cy="420624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647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746504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vertex is marked visited[] the moment it is enqueued — this prevents adding it twice.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478024"/>
            <a:ext cx="420624" cy="420624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780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59736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adjacency matrix adj[u][v] tells us instantly whether two vertices are connected.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3191256"/>
            <a:ext cx="420624" cy="420624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912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17296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Dequeue the front vertex, print/visit it, then enqueue all of its unvisited neighbors.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3904488"/>
            <a:ext cx="420624" cy="420624"/>
          </a:xfrm>
          <a:prstGeom prst="ellipse">
            <a:avLst/>
          </a:prstGeom>
          <a:solidFill>
            <a:srgbClr val="17889B"/>
          </a:solidFill>
          <a:ln w="12700">
            <a:solidFill>
              <a:srgbClr val="1788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044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388620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continues while front &lt; rear (queue not empty); when it stops, BFS is complete.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4353</Words>
  <Application>WPS Presentation</Application>
  <PresentationFormat>On-screen Show (16:9)</PresentationFormat>
  <Paragraphs>506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Ramakrishna gandi</cp:lastModifiedBy>
  <cp:revision>3</cp:revision>
  <dcterms:created xsi:type="dcterms:W3CDTF">2026-06-17T05:31:00Z</dcterms:created>
  <dcterms:modified xsi:type="dcterms:W3CDTF">2026-06-17T06:20:25Z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02CA771810424B4B886A3C9E153E8F0A_12</vt:lpwstr>
  </property>
  <property fmtid="{D5CDD505-2E9C-101B-9397-08002B2CF9AE}" pid="3" name="KSOProductBuildVer">
    <vt:lpwstr>1033-12.1.0.26880</vt:lpwstr>
  </property>
</Properties>
</file>