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379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380" r:id="rId19"/>
    <p:sldId id="359" r:id="rId20"/>
    <p:sldId id="360" r:id="rId21"/>
    <p:sldId id="361" r:id="rId22"/>
    <p:sldId id="362" r:id="rId23"/>
    <p:sldId id="363" r:id="rId24"/>
    <p:sldId id="364" r:id="rId25"/>
    <p:sldId id="365" r:id="rId26"/>
    <p:sldId id="366" r:id="rId27"/>
    <p:sldId id="367" r:id="rId28"/>
    <p:sldId id="368" r:id="rId29"/>
    <p:sldId id="369" r:id="rId30"/>
    <p:sldId id="370" r:id="rId31"/>
    <p:sldId id="371" r:id="rId32"/>
    <p:sldId id="372" r:id="rId33"/>
    <p:sldId id="373" r:id="rId34"/>
    <p:sldId id="374" r:id="rId35"/>
    <p:sldId id="375" r:id="rId36"/>
    <p:sldId id="376" r:id="rId37"/>
    <p:sldId id="377" r:id="rId38"/>
    <p:sldId id="278" r:id="rId39"/>
    <p:sldId id="279" r:id="rId40"/>
    <p:sldId id="280" r:id="rId41"/>
    <p:sldId id="493" r:id="rId42"/>
    <p:sldId id="281" r:id="rId43"/>
    <p:sldId id="282" r:id="rId44"/>
    <p:sldId id="409" r:id="rId45"/>
    <p:sldId id="410" r:id="rId46"/>
    <p:sldId id="411" r:id="rId47"/>
    <p:sldId id="412" r:id="rId48"/>
    <p:sldId id="413" r:id="rId49"/>
    <p:sldId id="414" r:id="rId50"/>
    <p:sldId id="415" r:id="rId51"/>
    <p:sldId id="416" r:id="rId52"/>
    <p:sldId id="417" r:id="rId53"/>
    <p:sldId id="418" r:id="rId54"/>
    <p:sldId id="419" r:id="rId55"/>
    <p:sldId id="420" r:id="rId56"/>
    <p:sldId id="421" r:id="rId57"/>
    <p:sldId id="422" r:id="rId58"/>
    <p:sldId id="423" r:id="rId59"/>
    <p:sldId id="424" r:id="rId60"/>
    <p:sldId id="425" r:id="rId61"/>
    <p:sldId id="426" r:id="rId62"/>
    <p:sldId id="427" r:id="rId63"/>
    <p:sldId id="428" r:id="rId64"/>
    <p:sldId id="429" r:id="rId65"/>
    <p:sldId id="495" r:id="rId66"/>
    <p:sldId id="283" r:id="rId67"/>
    <p:sldId id="284" r:id="rId68"/>
    <p:sldId id="430" r:id="rId69"/>
    <p:sldId id="431" r:id="rId70"/>
    <p:sldId id="432" r:id="rId71"/>
    <p:sldId id="433" r:id="rId72"/>
    <p:sldId id="434" r:id="rId73"/>
    <p:sldId id="435" r:id="rId74"/>
    <p:sldId id="436" r:id="rId75"/>
    <p:sldId id="437" r:id="rId76"/>
    <p:sldId id="438" r:id="rId77"/>
    <p:sldId id="439" r:id="rId78"/>
    <p:sldId id="440" r:id="rId79"/>
    <p:sldId id="441" r:id="rId80"/>
    <p:sldId id="442" r:id="rId81"/>
    <p:sldId id="443" r:id="rId82"/>
    <p:sldId id="444" r:id="rId83"/>
    <p:sldId id="445" r:id="rId84"/>
    <p:sldId id="446" r:id="rId85"/>
    <p:sldId id="447" r:id="rId86"/>
    <p:sldId id="448" r:id="rId87"/>
    <p:sldId id="449" r:id="rId88"/>
    <p:sldId id="450" r:id="rId89"/>
    <p:sldId id="496" r:id="rId90"/>
    <p:sldId id="285" r:id="rId91"/>
    <p:sldId id="286" r:id="rId92"/>
    <p:sldId id="451" r:id="rId93"/>
    <p:sldId id="452" r:id="rId94"/>
    <p:sldId id="453" r:id="rId95"/>
    <p:sldId id="454" r:id="rId96"/>
    <p:sldId id="455" r:id="rId97"/>
    <p:sldId id="456" r:id="rId98"/>
    <p:sldId id="457" r:id="rId99"/>
    <p:sldId id="458" r:id="rId100"/>
    <p:sldId id="459" r:id="rId101"/>
    <p:sldId id="460" r:id="rId102"/>
    <p:sldId id="461" r:id="rId103"/>
    <p:sldId id="462" r:id="rId104"/>
    <p:sldId id="463" r:id="rId105"/>
    <p:sldId id="464" r:id="rId106"/>
    <p:sldId id="465" r:id="rId107"/>
    <p:sldId id="466" r:id="rId108"/>
    <p:sldId id="467" r:id="rId109"/>
    <p:sldId id="468" r:id="rId110"/>
    <p:sldId id="469" r:id="rId111"/>
    <p:sldId id="470" r:id="rId112"/>
    <p:sldId id="471" r:id="rId113"/>
    <p:sldId id="497" r:id="rId114"/>
    <p:sldId id="287" r:id="rId115"/>
    <p:sldId id="288" r:id="rId116"/>
    <p:sldId id="472" r:id="rId117"/>
    <p:sldId id="473" r:id="rId118"/>
    <p:sldId id="474" r:id="rId119"/>
    <p:sldId id="475" r:id="rId120"/>
    <p:sldId id="476" r:id="rId121"/>
    <p:sldId id="477" r:id="rId122"/>
    <p:sldId id="478" r:id="rId123"/>
    <p:sldId id="479" r:id="rId124"/>
    <p:sldId id="480" r:id="rId125"/>
    <p:sldId id="481" r:id="rId126"/>
    <p:sldId id="482" r:id="rId127"/>
    <p:sldId id="483" r:id="rId128"/>
    <p:sldId id="484" r:id="rId129"/>
    <p:sldId id="485" r:id="rId130"/>
    <p:sldId id="486" r:id="rId131"/>
    <p:sldId id="487" r:id="rId132"/>
    <p:sldId id="488" r:id="rId133"/>
    <p:sldId id="489" r:id="rId134"/>
    <p:sldId id="490" r:id="rId135"/>
    <p:sldId id="491" r:id="rId136"/>
    <p:sldId id="492" r:id="rId137"/>
    <p:sldId id="498" r:id="rId138"/>
    <p:sldId id="289" r:id="rId139"/>
    <p:sldId id="290" r:id="rId140"/>
    <p:sldId id="291" r:id="rId141"/>
    <p:sldId id="292" r:id="rId142"/>
    <p:sldId id="293" r:id="rId143"/>
    <p:sldId id="294" r:id="rId144"/>
    <p:sldId id="295" r:id="rId145"/>
    <p:sldId id="296" r:id="rId146"/>
    <p:sldId id="398" r:id="rId147"/>
    <p:sldId id="399" r:id="rId148"/>
    <p:sldId id="400" r:id="rId149"/>
    <p:sldId id="401" r:id="rId150"/>
    <p:sldId id="297" r:id="rId151"/>
    <p:sldId id="298" r:id="rId152"/>
    <p:sldId id="299" r:id="rId153"/>
    <p:sldId id="393" r:id="rId154"/>
    <p:sldId id="394" r:id="rId155"/>
    <p:sldId id="395" r:id="rId156"/>
    <p:sldId id="396" r:id="rId157"/>
    <p:sldId id="397" r:id="rId158"/>
    <p:sldId id="300" r:id="rId159"/>
    <p:sldId id="301" r:id="rId160"/>
    <p:sldId id="302" r:id="rId161"/>
    <p:sldId id="383" r:id="rId162"/>
    <p:sldId id="384" r:id="rId163"/>
    <p:sldId id="385" r:id="rId164"/>
    <p:sldId id="386" r:id="rId165"/>
    <p:sldId id="387" r:id="rId166"/>
    <p:sldId id="388" r:id="rId167"/>
    <p:sldId id="389" r:id="rId168"/>
    <p:sldId id="390" r:id="rId169"/>
    <p:sldId id="391" r:id="rId170"/>
    <p:sldId id="392" r:id="rId171"/>
    <p:sldId id="303" r:id="rId172"/>
    <p:sldId id="304" r:id="rId173"/>
    <p:sldId id="305" r:id="rId174"/>
    <p:sldId id="306" r:id="rId175"/>
    <p:sldId id="307" r:id="rId176"/>
    <p:sldId id="308" r:id="rId177"/>
    <p:sldId id="309" r:id="rId178"/>
    <p:sldId id="310" r:id="rId179"/>
    <p:sldId id="311" r:id="rId180"/>
    <p:sldId id="312" r:id="rId181"/>
    <p:sldId id="313" r:id="rId182"/>
    <p:sldId id="314" r:id="rId183"/>
    <p:sldId id="315" r:id="rId184"/>
    <p:sldId id="316" r:id="rId185"/>
    <p:sldId id="317" r:id="rId186"/>
    <p:sldId id="318" r:id="rId187"/>
    <p:sldId id="319" r:id="rId188"/>
    <p:sldId id="320" r:id="rId189"/>
    <p:sldId id="321" r:id="rId190"/>
    <p:sldId id="322" r:id="rId191"/>
    <p:sldId id="323" r:id="rId192"/>
    <p:sldId id="324" r:id="rId193"/>
    <p:sldId id="325" r:id="rId194"/>
    <p:sldId id="326" r:id="rId195"/>
    <p:sldId id="327" r:id="rId196"/>
    <p:sldId id="328" r:id="rId197"/>
    <p:sldId id="329" r:id="rId198"/>
    <p:sldId id="330" r:id="rId199"/>
    <p:sldId id="402" r:id="rId200"/>
    <p:sldId id="403" r:id="rId201"/>
    <p:sldId id="404" r:id="rId202"/>
    <p:sldId id="405" r:id="rId203"/>
    <p:sldId id="406" r:id="rId204"/>
    <p:sldId id="407" r:id="rId205"/>
    <p:sldId id="408" r:id="rId206"/>
    <p:sldId id="499" r:id="rId207"/>
    <p:sldId id="500" r:id="rId208"/>
    <p:sldId id="501" r:id="rId209"/>
    <p:sldId id="502" r:id="rId210"/>
    <p:sldId id="503" r:id="rId211"/>
    <p:sldId id="504" r:id="rId212"/>
    <p:sldId id="505" r:id="rId213"/>
    <p:sldId id="506" r:id="rId214"/>
    <p:sldId id="507" r:id="rId215"/>
    <p:sldId id="508" r:id="rId216"/>
    <p:sldId id="509" r:id="rId217"/>
    <p:sldId id="510" r:id="rId218"/>
    <p:sldId id="511" r:id="rId219"/>
    <p:sldId id="512" r:id="rId220"/>
    <p:sldId id="513" r:id="rId221"/>
    <p:sldId id="514" r:id="rId222"/>
    <p:sldId id="515" r:id="rId223"/>
    <p:sldId id="516" r:id="rId224"/>
    <p:sldId id="517" r:id="rId225"/>
    <p:sldId id="518" r:id="rId226"/>
    <p:sldId id="519" r:id="rId227"/>
    <p:sldId id="520" r:id="rId228"/>
    <p:sldId id="521" r:id="rId229"/>
    <p:sldId id="522" r:id="rId230"/>
    <p:sldId id="523" r:id="rId231"/>
    <p:sldId id="524" r:id="rId232"/>
    <p:sldId id="525" r:id="rId233"/>
    <p:sldId id="526" r:id="rId234"/>
    <p:sldId id="527" r:id="rId235"/>
    <p:sldId id="528" r:id="rId236"/>
    <p:sldId id="529" r:id="rId237"/>
    <p:sldId id="530" r:id="rId238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3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7.xml"/><Relationship Id="rId98" Type="http://schemas.openxmlformats.org/officeDocument/2006/relationships/slide" Target="slides/slide96.xml"/><Relationship Id="rId97" Type="http://schemas.openxmlformats.org/officeDocument/2006/relationships/slide" Target="slides/slide95.xml"/><Relationship Id="rId96" Type="http://schemas.openxmlformats.org/officeDocument/2006/relationships/slide" Target="slides/slide94.xml"/><Relationship Id="rId95" Type="http://schemas.openxmlformats.org/officeDocument/2006/relationships/slide" Target="slides/slide93.xml"/><Relationship Id="rId94" Type="http://schemas.openxmlformats.org/officeDocument/2006/relationships/slide" Target="slides/slide92.xml"/><Relationship Id="rId93" Type="http://schemas.openxmlformats.org/officeDocument/2006/relationships/slide" Target="slides/slide91.xml"/><Relationship Id="rId92" Type="http://schemas.openxmlformats.org/officeDocument/2006/relationships/slide" Target="slides/slide90.xml"/><Relationship Id="rId91" Type="http://schemas.openxmlformats.org/officeDocument/2006/relationships/slide" Target="slides/slide89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1" Type="http://schemas.openxmlformats.org/officeDocument/2006/relationships/tableStyles" Target="tableStyles.xml"/><Relationship Id="rId240" Type="http://schemas.openxmlformats.org/officeDocument/2006/relationships/viewProps" Target="viewProps.xml"/><Relationship Id="rId24" Type="http://schemas.openxmlformats.org/officeDocument/2006/relationships/slide" Target="slides/slide22.xml"/><Relationship Id="rId239" Type="http://schemas.openxmlformats.org/officeDocument/2006/relationships/presProps" Target="presProps.xml"/><Relationship Id="rId238" Type="http://schemas.openxmlformats.org/officeDocument/2006/relationships/slide" Target="slides/slide236.xml"/><Relationship Id="rId237" Type="http://schemas.openxmlformats.org/officeDocument/2006/relationships/slide" Target="slides/slide235.xml"/><Relationship Id="rId236" Type="http://schemas.openxmlformats.org/officeDocument/2006/relationships/slide" Target="slides/slide234.xml"/><Relationship Id="rId235" Type="http://schemas.openxmlformats.org/officeDocument/2006/relationships/slide" Target="slides/slide233.xml"/><Relationship Id="rId234" Type="http://schemas.openxmlformats.org/officeDocument/2006/relationships/slide" Target="slides/slide232.xml"/><Relationship Id="rId233" Type="http://schemas.openxmlformats.org/officeDocument/2006/relationships/slide" Target="slides/slide231.xml"/><Relationship Id="rId232" Type="http://schemas.openxmlformats.org/officeDocument/2006/relationships/slide" Target="slides/slide230.xml"/><Relationship Id="rId231" Type="http://schemas.openxmlformats.org/officeDocument/2006/relationships/slide" Target="slides/slide229.xml"/><Relationship Id="rId230" Type="http://schemas.openxmlformats.org/officeDocument/2006/relationships/slide" Target="slides/slide228.xml"/><Relationship Id="rId23" Type="http://schemas.openxmlformats.org/officeDocument/2006/relationships/slide" Target="slides/slide21.xml"/><Relationship Id="rId229" Type="http://schemas.openxmlformats.org/officeDocument/2006/relationships/slide" Target="slides/slide227.xml"/><Relationship Id="rId228" Type="http://schemas.openxmlformats.org/officeDocument/2006/relationships/slide" Target="slides/slide226.xml"/><Relationship Id="rId227" Type="http://schemas.openxmlformats.org/officeDocument/2006/relationships/slide" Target="slides/slide225.xml"/><Relationship Id="rId226" Type="http://schemas.openxmlformats.org/officeDocument/2006/relationships/slide" Target="slides/slide224.xml"/><Relationship Id="rId225" Type="http://schemas.openxmlformats.org/officeDocument/2006/relationships/slide" Target="slides/slide223.xml"/><Relationship Id="rId224" Type="http://schemas.openxmlformats.org/officeDocument/2006/relationships/slide" Target="slides/slide222.xml"/><Relationship Id="rId223" Type="http://schemas.openxmlformats.org/officeDocument/2006/relationships/slide" Target="slides/slide221.xml"/><Relationship Id="rId222" Type="http://schemas.openxmlformats.org/officeDocument/2006/relationships/slide" Target="slides/slide220.xml"/><Relationship Id="rId221" Type="http://schemas.openxmlformats.org/officeDocument/2006/relationships/slide" Target="slides/slide219.xml"/><Relationship Id="rId220" Type="http://schemas.openxmlformats.org/officeDocument/2006/relationships/slide" Target="slides/slide218.xml"/><Relationship Id="rId22" Type="http://schemas.openxmlformats.org/officeDocument/2006/relationships/slide" Target="slides/slide20.xml"/><Relationship Id="rId219" Type="http://schemas.openxmlformats.org/officeDocument/2006/relationships/slide" Target="slides/slide217.xml"/><Relationship Id="rId218" Type="http://schemas.openxmlformats.org/officeDocument/2006/relationships/slide" Target="slides/slide216.xml"/><Relationship Id="rId217" Type="http://schemas.openxmlformats.org/officeDocument/2006/relationships/slide" Target="slides/slide215.xml"/><Relationship Id="rId216" Type="http://schemas.openxmlformats.org/officeDocument/2006/relationships/slide" Target="slides/slide214.xml"/><Relationship Id="rId215" Type="http://schemas.openxmlformats.org/officeDocument/2006/relationships/slide" Target="slides/slide213.xml"/><Relationship Id="rId214" Type="http://schemas.openxmlformats.org/officeDocument/2006/relationships/slide" Target="slides/slide212.xml"/><Relationship Id="rId213" Type="http://schemas.openxmlformats.org/officeDocument/2006/relationships/slide" Target="slides/slide211.xml"/><Relationship Id="rId212" Type="http://schemas.openxmlformats.org/officeDocument/2006/relationships/slide" Target="slides/slide210.xml"/><Relationship Id="rId211" Type="http://schemas.openxmlformats.org/officeDocument/2006/relationships/slide" Target="slides/slide209.xml"/><Relationship Id="rId210" Type="http://schemas.openxmlformats.org/officeDocument/2006/relationships/slide" Target="slides/slide208.xml"/><Relationship Id="rId21" Type="http://schemas.openxmlformats.org/officeDocument/2006/relationships/slide" Target="slides/slide19.xml"/><Relationship Id="rId209" Type="http://schemas.openxmlformats.org/officeDocument/2006/relationships/slide" Target="slides/slide207.xml"/><Relationship Id="rId208" Type="http://schemas.openxmlformats.org/officeDocument/2006/relationships/slide" Target="slides/slide206.xml"/><Relationship Id="rId207" Type="http://schemas.openxmlformats.org/officeDocument/2006/relationships/slide" Target="slides/slide205.xml"/><Relationship Id="rId206" Type="http://schemas.openxmlformats.org/officeDocument/2006/relationships/slide" Target="slides/slide204.xml"/><Relationship Id="rId205" Type="http://schemas.openxmlformats.org/officeDocument/2006/relationships/slide" Target="slides/slide203.xml"/><Relationship Id="rId204" Type="http://schemas.openxmlformats.org/officeDocument/2006/relationships/slide" Target="slides/slide202.xml"/><Relationship Id="rId203" Type="http://schemas.openxmlformats.org/officeDocument/2006/relationships/slide" Target="slides/slide201.xml"/><Relationship Id="rId202" Type="http://schemas.openxmlformats.org/officeDocument/2006/relationships/slide" Target="slides/slide200.xml"/><Relationship Id="rId201" Type="http://schemas.openxmlformats.org/officeDocument/2006/relationships/slide" Target="slides/slide199.xml"/><Relationship Id="rId200" Type="http://schemas.openxmlformats.org/officeDocument/2006/relationships/slide" Target="slides/slide198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9" Type="http://schemas.openxmlformats.org/officeDocument/2006/relationships/slide" Target="slides/slide197.xml"/><Relationship Id="rId198" Type="http://schemas.openxmlformats.org/officeDocument/2006/relationships/slide" Target="slides/slide196.xml"/><Relationship Id="rId197" Type="http://schemas.openxmlformats.org/officeDocument/2006/relationships/slide" Target="slides/slide195.xml"/><Relationship Id="rId196" Type="http://schemas.openxmlformats.org/officeDocument/2006/relationships/slide" Target="slides/slide194.xml"/><Relationship Id="rId195" Type="http://schemas.openxmlformats.org/officeDocument/2006/relationships/slide" Target="slides/slide193.xml"/><Relationship Id="rId194" Type="http://schemas.openxmlformats.org/officeDocument/2006/relationships/slide" Target="slides/slide192.xml"/><Relationship Id="rId193" Type="http://schemas.openxmlformats.org/officeDocument/2006/relationships/slide" Target="slides/slide191.xml"/><Relationship Id="rId192" Type="http://schemas.openxmlformats.org/officeDocument/2006/relationships/slide" Target="slides/slide190.xml"/><Relationship Id="rId191" Type="http://schemas.openxmlformats.org/officeDocument/2006/relationships/slide" Target="slides/slide189.xml"/><Relationship Id="rId190" Type="http://schemas.openxmlformats.org/officeDocument/2006/relationships/slide" Target="slides/slide188.xml"/><Relationship Id="rId19" Type="http://schemas.openxmlformats.org/officeDocument/2006/relationships/slide" Target="slides/slide17.xml"/><Relationship Id="rId189" Type="http://schemas.openxmlformats.org/officeDocument/2006/relationships/slide" Target="slides/slide187.xml"/><Relationship Id="rId188" Type="http://schemas.openxmlformats.org/officeDocument/2006/relationships/slide" Target="slides/slide186.xml"/><Relationship Id="rId187" Type="http://schemas.openxmlformats.org/officeDocument/2006/relationships/slide" Target="slides/slide185.xml"/><Relationship Id="rId186" Type="http://schemas.openxmlformats.org/officeDocument/2006/relationships/slide" Target="slides/slide184.xml"/><Relationship Id="rId185" Type="http://schemas.openxmlformats.org/officeDocument/2006/relationships/slide" Target="slides/slide183.xml"/><Relationship Id="rId184" Type="http://schemas.openxmlformats.org/officeDocument/2006/relationships/slide" Target="slides/slide182.xml"/><Relationship Id="rId183" Type="http://schemas.openxmlformats.org/officeDocument/2006/relationships/slide" Target="slides/slide181.xml"/><Relationship Id="rId182" Type="http://schemas.openxmlformats.org/officeDocument/2006/relationships/slide" Target="slides/slide180.xml"/><Relationship Id="rId181" Type="http://schemas.openxmlformats.org/officeDocument/2006/relationships/slide" Target="slides/slide179.xml"/><Relationship Id="rId180" Type="http://schemas.openxmlformats.org/officeDocument/2006/relationships/slide" Target="slides/slide178.xml"/><Relationship Id="rId18" Type="http://schemas.openxmlformats.org/officeDocument/2006/relationships/slide" Target="slides/slide16.xml"/><Relationship Id="rId179" Type="http://schemas.openxmlformats.org/officeDocument/2006/relationships/slide" Target="slides/slide177.xml"/><Relationship Id="rId178" Type="http://schemas.openxmlformats.org/officeDocument/2006/relationships/slide" Target="slides/slide176.xml"/><Relationship Id="rId177" Type="http://schemas.openxmlformats.org/officeDocument/2006/relationships/slide" Target="slides/slide175.xml"/><Relationship Id="rId176" Type="http://schemas.openxmlformats.org/officeDocument/2006/relationships/slide" Target="slides/slide174.xml"/><Relationship Id="rId175" Type="http://schemas.openxmlformats.org/officeDocument/2006/relationships/slide" Target="slides/slide173.xml"/><Relationship Id="rId174" Type="http://schemas.openxmlformats.org/officeDocument/2006/relationships/slide" Target="slides/slide172.xml"/><Relationship Id="rId173" Type="http://schemas.openxmlformats.org/officeDocument/2006/relationships/slide" Target="slides/slide171.xml"/><Relationship Id="rId172" Type="http://schemas.openxmlformats.org/officeDocument/2006/relationships/slide" Target="slides/slide170.xml"/><Relationship Id="rId171" Type="http://schemas.openxmlformats.org/officeDocument/2006/relationships/slide" Target="slides/slide169.xml"/><Relationship Id="rId170" Type="http://schemas.openxmlformats.org/officeDocument/2006/relationships/slide" Target="slides/slide168.xml"/><Relationship Id="rId17" Type="http://schemas.openxmlformats.org/officeDocument/2006/relationships/slide" Target="slides/slide15.xml"/><Relationship Id="rId169" Type="http://schemas.openxmlformats.org/officeDocument/2006/relationships/slide" Target="slides/slide167.xml"/><Relationship Id="rId168" Type="http://schemas.openxmlformats.org/officeDocument/2006/relationships/slide" Target="slides/slide166.xml"/><Relationship Id="rId167" Type="http://schemas.openxmlformats.org/officeDocument/2006/relationships/slide" Target="slides/slide165.xml"/><Relationship Id="rId166" Type="http://schemas.openxmlformats.org/officeDocument/2006/relationships/slide" Target="slides/slide164.xml"/><Relationship Id="rId165" Type="http://schemas.openxmlformats.org/officeDocument/2006/relationships/slide" Target="slides/slide163.xml"/><Relationship Id="rId164" Type="http://schemas.openxmlformats.org/officeDocument/2006/relationships/slide" Target="slides/slide162.xml"/><Relationship Id="rId163" Type="http://schemas.openxmlformats.org/officeDocument/2006/relationships/slide" Target="slides/slide161.xml"/><Relationship Id="rId162" Type="http://schemas.openxmlformats.org/officeDocument/2006/relationships/slide" Target="slides/slide160.xml"/><Relationship Id="rId161" Type="http://schemas.openxmlformats.org/officeDocument/2006/relationships/slide" Target="slides/slide159.xml"/><Relationship Id="rId160" Type="http://schemas.openxmlformats.org/officeDocument/2006/relationships/slide" Target="slides/slide158.xml"/><Relationship Id="rId16" Type="http://schemas.openxmlformats.org/officeDocument/2006/relationships/slide" Target="slides/slide14.xml"/><Relationship Id="rId159" Type="http://schemas.openxmlformats.org/officeDocument/2006/relationships/slide" Target="slides/slide157.xml"/><Relationship Id="rId158" Type="http://schemas.openxmlformats.org/officeDocument/2006/relationships/slide" Target="slides/slide156.xml"/><Relationship Id="rId157" Type="http://schemas.openxmlformats.org/officeDocument/2006/relationships/slide" Target="slides/slide155.xml"/><Relationship Id="rId156" Type="http://schemas.openxmlformats.org/officeDocument/2006/relationships/slide" Target="slides/slide154.xml"/><Relationship Id="rId155" Type="http://schemas.openxmlformats.org/officeDocument/2006/relationships/slide" Target="slides/slide153.xml"/><Relationship Id="rId154" Type="http://schemas.openxmlformats.org/officeDocument/2006/relationships/slide" Target="slides/slide152.xml"/><Relationship Id="rId153" Type="http://schemas.openxmlformats.org/officeDocument/2006/relationships/slide" Target="slides/slide151.xml"/><Relationship Id="rId152" Type="http://schemas.openxmlformats.org/officeDocument/2006/relationships/slide" Target="slides/slide150.xml"/><Relationship Id="rId151" Type="http://schemas.openxmlformats.org/officeDocument/2006/relationships/slide" Target="slides/slide149.xml"/><Relationship Id="rId150" Type="http://schemas.openxmlformats.org/officeDocument/2006/relationships/slide" Target="slides/slide148.xml"/><Relationship Id="rId15" Type="http://schemas.openxmlformats.org/officeDocument/2006/relationships/slide" Target="slides/slide13.xml"/><Relationship Id="rId149" Type="http://schemas.openxmlformats.org/officeDocument/2006/relationships/slide" Target="slides/slide147.xml"/><Relationship Id="rId148" Type="http://schemas.openxmlformats.org/officeDocument/2006/relationships/slide" Target="slides/slide146.xml"/><Relationship Id="rId147" Type="http://schemas.openxmlformats.org/officeDocument/2006/relationships/slide" Target="slides/slide145.xml"/><Relationship Id="rId146" Type="http://schemas.openxmlformats.org/officeDocument/2006/relationships/slide" Target="slides/slide144.xml"/><Relationship Id="rId145" Type="http://schemas.openxmlformats.org/officeDocument/2006/relationships/slide" Target="slides/slide143.xml"/><Relationship Id="rId144" Type="http://schemas.openxmlformats.org/officeDocument/2006/relationships/slide" Target="slides/slide142.xml"/><Relationship Id="rId143" Type="http://schemas.openxmlformats.org/officeDocument/2006/relationships/slide" Target="slides/slide141.xml"/><Relationship Id="rId142" Type="http://schemas.openxmlformats.org/officeDocument/2006/relationships/slide" Target="slides/slide140.xml"/><Relationship Id="rId141" Type="http://schemas.openxmlformats.org/officeDocument/2006/relationships/slide" Target="slides/slide139.xml"/><Relationship Id="rId140" Type="http://schemas.openxmlformats.org/officeDocument/2006/relationships/slide" Target="slides/slide138.xml"/><Relationship Id="rId14" Type="http://schemas.openxmlformats.org/officeDocument/2006/relationships/slide" Target="slides/slide12.xml"/><Relationship Id="rId139" Type="http://schemas.openxmlformats.org/officeDocument/2006/relationships/slide" Target="slides/slide137.xml"/><Relationship Id="rId138" Type="http://schemas.openxmlformats.org/officeDocument/2006/relationships/slide" Target="slides/slide136.xml"/><Relationship Id="rId137" Type="http://schemas.openxmlformats.org/officeDocument/2006/relationships/slide" Target="slides/slide135.xml"/><Relationship Id="rId136" Type="http://schemas.openxmlformats.org/officeDocument/2006/relationships/slide" Target="slides/slide134.xml"/><Relationship Id="rId135" Type="http://schemas.openxmlformats.org/officeDocument/2006/relationships/slide" Target="slides/slide133.xml"/><Relationship Id="rId134" Type="http://schemas.openxmlformats.org/officeDocument/2006/relationships/slide" Target="slides/slide132.xml"/><Relationship Id="rId133" Type="http://schemas.openxmlformats.org/officeDocument/2006/relationships/slide" Target="slides/slide131.xml"/><Relationship Id="rId132" Type="http://schemas.openxmlformats.org/officeDocument/2006/relationships/slide" Target="slides/slide130.xml"/><Relationship Id="rId131" Type="http://schemas.openxmlformats.org/officeDocument/2006/relationships/slide" Target="slides/slide129.xml"/><Relationship Id="rId130" Type="http://schemas.openxmlformats.org/officeDocument/2006/relationships/slide" Target="slides/slide128.xml"/><Relationship Id="rId13" Type="http://schemas.openxmlformats.org/officeDocument/2006/relationships/slide" Target="slides/slide11.xml"/><Relationship Id="rId129" Type="http://schemas.openxmlformats.org/officeDocument/2006/relationships/slide" Target="slides/slide127.xml"/><Relationship Id="rId128" Type="http://schemas.openxmlformats.org/officeDocument/2006/relationships/slide" Target="slides/slide126.xml"/><Relationship Id="rId127" Type="http://schemas.openxmlformats.org/officeDocument/2006/relationships/slide" Target="slides/slide125.xml"/><Relationship Id="rId126" Type="http://schemas.openxmlformats.org/officeDocument/2006/relationships/slide" Target="slides/slide124.xml"/><Relationship Id="rId125" Type="http://schemas.openxmlformats.org/officeDocument/2006/relationships/slide" Target="slides/slide123.xml"/><Relationship Id="rId124" Type="http://schemas.openxmlformats.org/officeDocument/2006/relationships/slide" Target="slides/slide122.xml"/><Relationship Id="rId123" Type="http://schemas.openxmlformats.org/officeDocument/2006/relationships/slide" Target="slides/slide121.xml"/><Relationship Id="rId122" Type="http://schemas.openxmlformats.org/officeDocument/2006/relationships/slide" Target="slides/slide120.xml"/><Relationship Id="rId121" Type="http://schemas.openxmlformats.org/officeDocument/2006/relationships/slide" Target="slides/slide119.xml"/><Relationship Id="rId120" Type="http://schemas.openxmlformats.org/officeDocument/2006/relationships/slide" Target="slides/slide118.xml"/><Relationship Id="rId12" Type="http://schemas.openxmlformats.org/officeDocument/2006/relationships/slide" Target="slides/slide10.xml"/><Relationship Id="rId119" Type="http://schemas.openxmlformats.org/officeDocument/2006/relationships/slide" Target="slides/slide117.xml"/><Relationship Id="rId118" Type="http://schemas.openxmlformats.org/officeDocument/2006/relationships/slide" Target="slides/slide116.xml"/><Relationship Id="rId117" Type="http://schemas.openxmlformats.org/officeDocument/2006/relationships/slide" Target="slides/slide115.xml"/><Relationship Id="rId116" Type="http://schemas.openxmlformats.org/officeDocument/2006/relationships/slide" Target="slides/slide114.xml"/><Relationship Id="rId115" Type="http://schemas.openxmlformats.org/officeDocument/2006/relationships/slide" Target="slides/slide113.xml"/><Relationship Id="rId114" Type="http://schemas.openxmlformats.org/officeDocument/2006/relationships/slide" Target="slides/slide112.xml"/><Relationship Id="rId113" Type="http://schemas.openxmlformats.org/officeDocument/2006/relationships/slide" Target="slides/slide111.xml"/><Relationship Id="rId112" Type="http://schemas.openxmlformats.org/officeDocument/2006/relationships/slide" Target="slides/slide110.xml"/><Relationship Id="rId111" Type="http://schemas.openxmlformats.org/officeDocument/2006/relationships/slide" Target="slides/slide109.xml"/><Relationship Id="rId110" Type="http://schemas.openxmlformats.org/officeDocument/2006/relationships/slide" Target="slides/slide108.xml"/><Relationship Id="rId11" Type="http://schemas.openxmlformats.org/officeDocument/2006/relationships/slide" Target="slides/slide9.xml"/><Relationship Id="rId109" Type="http://schemas.openxmlformats.org/officeDocument/2006/relationships/slide" Target="slides/slide107.xml"/><Relationship Id="rId108" Type="http://schemas.openxmlformats.org/officeDocument/2006/relationships/slide" Target="slides/slide106.xml"/><Relationship Id="rId107" Type="http://schemas.openxmlformats.org/officeDocument/2006/relationships/slide" Target="slides/slide105.xml"/><Relationship Id="rId106" Type="http://schemas.openxmlformats.org/officeDocument/2006/relationships/slide" Target="slides/slide104.xml"/><Relationship Id="rId105" Type="http://schemas.openxmlformats.org/officeDocument/2006/relationships/slide" Target="slides/slide103.xml"/><Relationship Id="rId104" Type="http://schemas.openxmlformats.org/officeDocument/2006/relationships/slide" Target="slides/slide102.xml"/><Relationship Id="rId103" Type="http://schemas.openxmlformats.org/officeDocument/2006/relationships/slide" Target="slides/slide101.xml"/><Relationship Id="rId102" Type="http://schemas.openxmlformats.org/officeDocument/2006/relationships/slide" Target="slides/slide100.xml"/><Relationship Id="rId101" Type="http://schemas.openxmlformats.org/officeDocument/2006/relationships/slide" Target="slides/slide99.xml"/><Relationship Id="rId100" Type="http://schemas.openxmlformats.org/officeDocument/2006/relationships/slide" Target="slides/slide98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21945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Data Structures:
Trees &amp; Graphs</a:t>
            </a:r>
            <a:endParaRPr sz="4400" b="1" i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1600" y="3749039"/>
            <a:ext cx="9418320" cy="10972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B4D8"/>
                </a:solidFill>
              </a:rPr>
              <a:t>A Visual Step-by-Step Guide | 100+ Slides</a:t>
            </a:r>
            <a:endParaRPr sz="2400" b="0" i="0">
              <a:solidFill>
                <a:srgbClr val="00B4D8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Data Structures — Trees &amp; Graphs</a:t>
            </a:r>
            <a:endParaRPr sz="1300" b="0" i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Table of Contents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 b="1">
                <a:solidFill>
                  <a:srgbClr val="1A236A"/>
                </a:solidFill>
              </a:rPr>
              <a:t>▸  Section 1 — Introduction to Trees</a:t>
            </a:r>
            <a:endParaRPr sz="20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2000" b="1">
                <a:solidFill>
                  <a:srgbClr val="1A236A"/>
                </a:solidFill>
              </a:rPr>
              <a:t>▸  Section 2 — Types of Trees</a:t>
            </a:r>
            <a:endParaRPr sz="20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2000" b="1">
                <a:solidFill>
                  <a:srgbClr val="1A236A"/>
                </a:solidFill>
              </a:rPr>
              <a:t>▸  Section 3 — General Tree → Binary Tree Conversion</a:t>
            </a:r>
            <a:endParaRPr sz="20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2000" b="1">
                <a:solidFill>
                  <a:srgbClr val="1A236A"/>
                </a:solidFill>
              </a:rPr>
              <a:t>▸  Section 4 — Traversing a Binary Tree</a:t>
            </a:r>
            <a:endParaRPr sz="20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2000" b="1">
                <a:solidFill>
                  <a:srgbClr val="1A236A"/>
                </a:solidFill>
              </a:rPr>
              <a:t>▸  Section 5 — Binary Search Trees (BST)</a:t>
            </a:r>
            <a:endParaRPr sz="20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2000" b="1">
                <a:solidFill>
                  <a:srgbClr val="1A236A"/>
                </a:solidFill>
              </a:rPr>
              <a:t>▸  Section 6 — BST Operations: Search, Insert, Delete</a:t>
            </a:r>
            <a:endParaRPr sz="20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2000" b="1">
                <a:solidFill>
                  <a:srgbClr val="1A236A"/>
                </a:solidFill>
              </a:rPr>
              <a:t>▸  Section 7 — BST Abstract Data Type (ADT)</a:t>
            </a:r>
            <a:endParaRPr sz="20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2000" b="1">
                <a:solidFill>
                  <a:srgbClr val="1A236A"/>
                </a:solidFill>
              </a:rPr>
              <a:t>▸  Section 8 — Introduction to Graphs &amp; Types</a:t>
            </a:r>
            <a:endParaRPr sz="20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2000" b="1">
                <a:solidFill>
                  <a:srgbClr val="1A236A"/>
                </a:solidFill>
              </a:rPr>
              <a:t>▸  Section 9 — Representation of Graphs</a:t>
            </a:r>
            <a:endParaRPr sz="20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2000" b="1">
                <a:solidFill>
                  <a:srgbClr val="1A236A"/>
                </a:solidFill>
              </a:rPr>
              <a:t>▸  Section 10 — Graph Traversal: DFS &amp; BFS</a:t>
            </a:r>
            <a:endParaRPr sz="20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2000" b="1">
                <a:solidFill>
                  <a:srgbClr val="1A236A"/>
                </a:solidFill>
              </a:rPr>
              <a:t>▸  Section 11 — Graph ADT</a:t>
            </a:r>
            <a:endParaRPr sz="20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2000" b="1">
                <a:solidFill>
                  <a:srgbClr val="1A236A"/>
                </a:solidFill>
              </a:rPr>
              <a:t>▸  Section 12 — Applications of Graphs</a:t>
            </a:r>
            <a:endParaRPr sz="2000" b="1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B4D8"/>
                </a:solidFill>
              </a:rPr>
              <a:t>Section 1</a:t>
            </a:r>
            <a:endParaRPr sz="2200" b="0" i="0">
              <a:solidFill>
                <a:srgbClr val="00B4D8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Introduction to Trees</a:t>
            </a:r>
            <a:endParaRPr sz="4000" b="1" i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41832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E5FF"/>
                </a:solidFill>
              </a:rPr>
              <a:t>What is a Tree? Why do we need it?</a:t>
            </a:r>
            <a:endParaRPr sz="2200" b="0" i="0">
              <a:solidFill>
                <a:srgbClr val="CCE5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is a Tree?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A Tree is a hierarchical, non-linear data structure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It consists of nodes connected by edges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Unlike arrays or linked lists, data is arranged in a parent-child relationship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There is exactly ONE root node — the topmost node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Every node (except root) has exactly ONE parent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A node can have zero or more children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Nodes with no children are called LEAF nodes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Real-world analogy: Family tree, File system folders, Org chart</a:t>
            </a:r>
            <a:endParaRPr sz="1800" b="1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Tree Structure — Visual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943600" cy="5394960"/>
          </a:xfrm>
          <a:prstGeom prst="rect">
            <a:avLst/>
          </a:prstGeom>
          <a:solidFill>
            <a:srgbClr val="1E1E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5669280" cy="5212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        [ A ]          ← ROOT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       /     \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     [B]     [C]       ← Level 1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    /   \      \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  [D]   [E]    [F]     ← Level 2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 /   \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[G]   [H]               ← Level 3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endParaRPr sz="1500"/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Root      : A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Leaves    : D, E, F, G, H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Height    : 3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Degree(B) : 2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92240" y="1234440"/>
            <a:ext cx="5394960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Root: Node A (no parent)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Parent: A is parent of B and C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Children: B has children D and E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Leaf: Node with no child (G, H, E, F)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Edge: Line connecting two nodes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Level: Distance from root (root = level 0)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Height: Max level = 3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Degree: Number of children of a node</a:t>
            </a:r>
            <a:endParaRPr sz="1600" b="1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Tree Terminology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Node — Basic unit storing data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Edge — Link/connection between two nodes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Root — Topmost node; has no parent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Parent — Node that has a child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Child — Node that has a parent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Sibling — Nodes sharing the same parent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Leaf / External Node — Node with degree 0 (no children)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Internal Node — Node with at least one child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Depth of a Node — Number of edges from root to that node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Height of a Node — Number of edges on the longest path to a leaf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Height of Tree — Height of the root node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Degree of a Node — Total number of children of that node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Sub-tree — Any node and all its descendants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Path — Sequence of nodes along edges</a:t>
            </a:r>
            <a:endParaRPr sz="1800" b="1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Properties of Trees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A tree with N nodes has exactly N−1 edges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There is exactly ONE path between any two nodes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A tree is a connected, acyclic (no cycles) graph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Removing any edge disconnects the tree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Adding any edge creates a cycle (no longer a tree)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Every sub-tree is itself a valid tree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A single node is a valid tree (trivial tree)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An empty tree (no nodes) is also valid by convention</a:t>
            </a:r>
            <a:endParaRPr sz="1800" b="1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eaderBg"/>
          <p:cNvSpPr/>
          <p:nvPr/>
        </p:nvSpPr>
        <p:spPr>
          <a:xfrm>
            <a:off x="0" y="0"/>
            <a:ext cx="1218882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/>
          <a:lstStyle/>
          <a:p>
            <a:pPr algn="ctr"/>
          </a:p>
        </p:txBody>
      </p:sp>
      <p:sp>
        <p:nvSpPr>
          <p:cNvPr id="3" name="TitleText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Tree Properties — Visual Diagram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ContentBg"/>
          <p:cNvSpPr/>
          <p:nvPr/>
        </p:nvSpPr>
        <p:spPr>
          <a:xfrm>
            <a:off x="0" y="1051560"/>
            <a:ext cx="12188825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>
            <a:pPr algn="ctr"/>
          </a:p>
        </p:txBody>
      </p:sp>
      <p:cxnSp>
        <p:nvCxnSpPr>
          <p:cNvPr id="10" name="Conn10"/>
          <p:cNvCxnSpPr/>
          <p:nvPr/>
        </p:nvCxnSpPr>
        <p:spPr>
          <a:xfrm flipH="1">
            <a:off x="3800000" y="1400000"/>
            <a:ext cx="2294412" cy="1000000"/>
          </a:xfrm>
          <a:prstGeom prst="line">
            <a:avLst/>
          </a:prstGeom>
          <a:ln w="25400">
            <a:solidFill>
              <a:srgbClr val="4A90D9"/>
            </a:solidFill>
          </a:ln>
        </p:spPr>
      </p:cxnSp>
      <p:cxnSp>
        <p:nvCxnSpPr>
          <p:cNvPr id="11" name="Conn11"/>
          <p:cNvCxnSpPr/>
          <p:nvPr/>
        </p:nvCxnSpPr>
        <p:spPr>
          <a:xfrm>
            <a:off x="6094412" y="1400000"/>
            <a:ext cx="2305588" cy="1000000"/>
          </a:xfrm>
          <a:prstGeom prst="line">
            <a:avLst/>
          </a:prstGeom>
          <a:ln w="25400">
            <a:solidFill>
              <a:srgbClr val="4A90D9"/>
            </a:solidFill>
          </a:ln>
        </p:spPr>
      </p:cxnSp>
      <p:cxnSp>
        <p:nvCxnSpPr>
          <p:cNvPr id="12" name="Conn12"/>
          <p:cNvCxnSpPr/>
          <p:nvPr/>
        </p:nvCxnSpPr>
        <p:spPr>
          <a:xfrm flipH="1">
            <a:off x="2600000" y="2400000"/>
            <a:ext cx="1200000" cy="1100000"/>
          </a:xfrm>
          <a:prstGeom prst="line">
            <a:avLst/>
          </a:prstGeom>
          <a:ln w="25400">
            <a:solidFill>
              <a:srgbClr val="4A90D9"/>
            </a:solidFill>
          </a:ln>
        </p:spPr>
      </p:cxnSp>
      <p:cxnSp>
        <p:nvCxnSpPr>
          <p:cNvPr id="13" name="Conn13"/>
          <p:cNvCxnSpPr/>
          <p:nvPr/>
        </p:nvCxnSpPr>
        <p:spPr>
          <a:xfrm>
            <a:off x="3800000" y="2400000"/>
            <a:ext cx="1200000" cy="1100000"/>
          </a:xfrm>
          <a:prstGeom prst="line">
            <a:avLst/>
          </a:prstGeom>
          <a:ln w="25400">
            <a:solidFill>
              <a:srgbClr val="4A90D9"/>
            </a:solidFill>
          </a:ln>
        </p:spPr>
      </p:cxnSp>
      <p:cxnSp>
        <p:nvCxnSpPr>
          <p:cNvPr id="14" name="Conn14"/>
          <p:cNvCxnSpPr/>
          <p:nvPr/>
        </p:nvCxnSpPr>
        <p:spPr>
          <a:xfrm>
            <a:off x="8400000" y="2400000"/>
            <a:ext cx="1" cy="1100000"/>
          </a:xfrm>
          <a:prstGeom prst="line">
            <a:avLst/>
          </a:prstGeom>
          <a:ln w="25400">
            <a:solidFill>
              <a:srgbClr val="4A90D9"/>
            </a:solidFill>
          </a:ln>
        </p:spPr>
      </p:cxnSp>
      <p:cxnSp>
        <p:nvCxnSpPr>
          <p:cNvPr id="15" name="Conn15"/>
          <p:cNvCxnSpPr/>
          <p:nvPr/>
        </p:nvCxnSpPr>
        <p:spPr>
          <a:xfrm>
            <a:off x="8400000" y="3500000"/>
            <a:ext cx="1" cy="1100000"/>
          </a:xfrm>
          <a:prstGeom prst="line">
            <a:avLst/>
          </a:prstGeom>
          <a:ln w="25400">
            <a:solidFill>
              <a:srgbClr val="4A90D9"/>
            </a:solidFill>
          </a:ln>
        </p:spPr>
      </p:cxnSp>
      <p:sp>
        <p:nvSpPr>
          <p:cNvPr id="16" name="Node16"/>
          <p:cNvSpPr/>
          <p:nvPr/>
        </p:nvSpPr>
        <p:spPr>
          <a:xfrm>
            <a:off x="5724412" y="1030000"/>
            <a:ext cx="740000" cy="740000"/>
          </a:xfrm>
          <a:prstGeom prst="ellipse">
            <a:avLst/>
          </a:prstGeom>
          <a:solidFill>
            <a:srgbClr val="E74C3C"/>
          </a:solidFill>
          <a:ln w="25400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A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17" name="Node17"/>
          <p:cNvSpPr/>
          <p:nvPr/>
        </p:nvSpPr>
        <p:spPr>
          <a:xfrm>
            <a:off x="3430000" y="2030000"/>
            <a:ext cx="740000" cy="740000"/>
          </a:xfrm>
          <a:prstGeom prst="ellipse">
            <a:avLst/>
          </a:prstGeom>
          <a:solidFill>
            <a:srgbClr val="2980B9"/>
          </a:solidFill>
          <a:ln w="25400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B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18" name="Node18"/>
          <p:cNvSpPr/>
          <p:nvPr/>
        </p:nvSpPr>
        <p:spPr>
          <a:xfrm>
            <a:off x="8030000" y="2030000"/>
            <a:ext cx="740000" cy="740000"/>
          </a:xfrm>
          <a:prstGeom prst="ellipse">
            <a:avLst/>
          </a:prstGeom>
          <a:solidFill>
            <a:srgbClr val="2980B9"/>
          </a:solidFill>
          <a:ln w="25400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19" name="Node19"/>
          <p:cNvSpPr/>
          <p:nvPr/>
        </p:nvSpPr>
        <p:spPr>
          <a:xfrm>
            <a:off x="2230000" y="3130000"/>
            <a:ext cx="740000" cy="740000"/>
          </a:xfrm>
          <a:prstGeom prst="ellipse">
            <a:avLst/>
          </a:prstGeom>
          <a:solidFill>
            <a:srgbClr val="27AE60"/>
          </a:solidFill>
          <a:ln w="25400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20" name="Node20"/>
          <p:cNvSpPr/>
          <p:nvPr/>
        </p:nvSpPr>
        <p:spPr>
          <a:xfrm>
            <a:off x="4630000" y="3130000"/>
            <a:ext cx="740000" cy="740000"/>
          </a:xfrm>
          <a:prstGeom prst="ellipse">
            <a:avLst/>
          </a:prstGeom>
          <a:solidFill>
            <a:srgbClr val="27AE60"/>
          </a:solidFill>
          <a:ln w="25400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E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21" name="Node21"/>
          <p:cNvSpPr/>
          <p:nvPr/>
        </p:nvSpPr>
        <p:spPr>
          <a:xfrm>
            <a:off x="8030000" y="3130000"/>
            <a:ext cx="740000" cy="740000"/>
          </a:xfrm>
          <a:prstGeom prst="ellipse">
            <a:avLst/>
          </a:prstGeom>
          <a:solidFill>
            <a:srgbClr val="27AE60"/>
          </a:solidFill>
          <a:ln w="25400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F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22" name="Node22"/>
          <p:cNvSpPr/>
          <p:nvPr/>
        </p:nvSpPr>
        <p:spPr>
          <a:xfrm>
            <a:off x="8030000" y="4230000"/>
            <a:ext cx="740000" cy="740000"/>
          </a:xfrm>
          <a:prstGeom prst="ellipse">
            <a:avLst/>
          </a:prstGeom>
          <a:solidFill>
            <a:srgbClr val="8E44AD"/>
          </a:solidFill>
          <a:ln w="25400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G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23" name="Lbl23"/>
          <p:cNvSpPr txBox="1"/>
          <p:nvPr/>
        </p:nvSpPr>
        <p:spPr>
          <a:xfrm>
            <a:off x="5694412" y="1250000"/>
            <a:ext cx="12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74C3C"/>
                </a:solidFill>
              </a:rPr>
              <a:t>ROOT (no parent)</a:t>
            </a:r>
            <a:endParaRPr sz="1100" b="1">
              <a:solidFill>
                <a:srgbClr val="E74C3C"/>
              </a:solidFill>
            </a:endParaRPr>
          </a:p>
        </p:txBody>
      </p:sp>
      <p:sp>
        <p:nvSpPr>
          <p:cNvPr id="24" name="Lbl24"/>
          <p:cNvSpPr txBox="1"/>
          <p:nvPr/>
        </p:nvSpPr>
        <p:spPr>
          <a:xfrm>
            <a:off x="9000000" y="4600000"/>
            <a:ext cx="18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8E44AD"/>
                </a:solidFill>
              </a:rPr>
              <a:t>LEAF (no children)</a:t>
            </a:r>
            <a:endParaRPr sz="1100" b="1">
              <a:solidFill>
                <a:srgbClr val="8E44AD"/>
              </a:solidFill>
            </a:endParaRPr>
          </a:p>
        </p:txBody>
      </p:sp>
      <p:sp>
        <p:nvSpPr>
          <p:cNvPr id="25" name="Lbl25"/>
          <p:cNvSpPr txBox="1"/>
          <p:nvPr/>
        </p:nvSpPr>
        <p:spPr>
          <a:xfrm>
            <a:off x="2000000" y="3500000"/>
            <a:ext cx="13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7AE60"/>
                </a:solidFill>
              </a:rPr>
              <a:t>LEAF</a:t>
            </a:r>
            <a:endParaRPr sz="1100" b="1">
              <a:solidFill>
                <a:srgbClr val="27AE60"/>
              </a:solidFill>
            </a:endParaRPr>
          </a:p>
        </p:txBody>
      </p:sp>
      <p:sp>
        <p:nvSpPr>
          <p:cNvPr id="26" name="Lbl26"/>
          <p:cNvSpPr txBox="1"/>
          <p:nvPr/>
        </p:nvSpPr>
        <p:spPr>
          <a:xfrm>
            <a:off x="5300000" y="3500000"/>
            <a:ext cx="13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7AE60"/>
                </a:solidFill>
              </a:rPr>
              <a:t>LEAF</a:t>
            </a:r>
            <a:endParaRPr sz="1100" b="1">
              <a:solidFill>
                <a:srgbClr val="27AE60"/>
              </a:solidFill>
            </a:endParaRPr>
          </a:p>
        </p:txBody>
      </p:sp>
      <p:sp>
        <p:nvSpPr>
          <p:cNvPr id="27" name="Box27"/>
          <p:cNvSpPr/>
          <p:nvPr/>
        </p:nvSpPr>
        <p:spPr>
          <a:xfrm>
            <a:off x="274320" y="5100000"/>
            <a:ext cx="5000000" cy="15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980B9"/>
            </a:solidFill>
          </a:ln>
        </p:spPr>
        <p:txBody>
          <a:bodyPr anchor="ctr"/>
          <a:lstStyle/>
          <a:p/>
        </p:txBody>
      </p:sp>
      <p:sp>
        <p:nvSpPr>
          <p:cNvPr id="28" name="TB28"/>
          <p:cNvSpPr txBox="1"/>
          <p:nvPr/>
        </p:nvSpPr>
        <p:spPr>
          <a:xfrm>
            <a:off x="400000" y="5150000"/>
            <a:ext cx="4800000" cy="14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300" b="1">
                <a:solidFill>
                  <a:srgbClr val="1A236A"/>
                </a:solidFill>
              </a:rPr>
              <a:t>Key Properties Shown:</a:t>
            </a:r>
            <a:endParaRPr sz="1300" b="1">
              <a:solidFill>
                <a:srgbClr val="1A236A"/>
              </a:solidFill>
            </a:endParaRPr>
          </a:p>
          <a:p>
            <a:pPr algn="l"/>
            <a:r>
              <a:rPr sz="1200">
                <a:solidFill>
                  <a:srgbClr val="1A236A"/>
                </a:solidFill>
              </a:rPr>
              <a:t>✔ 7 nodes → exactly 6 edges (N-1)</a:t>
            </a:r>
            <a:endParaRPr sz="1200">
              <a:solidFill>
                <a:srgbClr val="1A236A"/>
              </a:solidFill>
            </a:endParaRPr>
          </a:p>
          <a:p>
            <a:pPr algn="l"/>
            <a:r>
              <a:rPr sz="1200">
                <a:solidFill>
                  <a:srgbClr val="1A236A"/>
                </a:solidFill>
              </a:rPr>
              <a:t>✔ Exactly ONE path between any 2 nodes</a:t>
            </a:r>
            <a:endParaRPr sz="1200">
              <a:solidFill>
                <a:srgbClr val="1A236A"/>
              </a:solidFill>
            </a:endParaRPr>
          </a:p>
          <a:p>
            <a:pPr algn="l"/>
            <a:r>
              <a:rPr sz="1200">
                <a:solidFill>
                  <a:srgbClr val="1A236A"/>
                </a:solidFill>
              </a:rPr>
              <a:t>✔ No cycles — removing any edge disconnects it</a:t>
            </a:r>
            <a:endParaRPr sz="1200">
              <a:solidFill>
                <a:srgbClr val="1A236A"/>
              </a:solidFill>
            </a:endParaRPr>
          </a:p>
          <a:p>
            <a:pPr algn="l"/>
            <a:r>
              <a:rPr sz="1200">
                <a:solidFill>
                  <a:srgbClr val="1A236A"/>
                </a:solidFill>
              </a:rPr>
              <a:t>✔ Each subtree is itself a valid tree</a:t>
            </a:r>
            <a:endParaRPr sz="1200">
              <a:solidFill>
                <a:srgbClr val="1A236A"/>
              </a:solidFill>
            </a:endParaRPr>
          </a:p>
        </p:txBody>
      </p:sp>
      <p:sp>
        <p:nvSpPr>
          <p:cNvPr id="29" name="Box29"/>
          <p:cNvSpPr/>
          <p:nvPr/>
        </p:nvSpPr>
        <p:spPr>
          <a:xfrm>
            <a:off x="6000000" y="5100000"/>
            <a:ext cx="5900000" cy="15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txBody>
          <a:bodyPr anchor="ctr"/>
          <a:lstStyle/>
          <a:p/>
        </p:txBody>
      </p:sp>
      <p:sp>
        <p:nvSpPr>
          <p:cNvPr id="30" name="TB30"/>
          <p:cNvSpPr txBox="1"/>
          <p:nvPr/>
        </p:nvSpPr>
        <p:spPr>
          <a:xfrm>
            <a:off x="6100000" y="5150000"/>
            <a:ext cx="5700000" cy="14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6A"/>
                </a:solidFill>
              </a:rPr>
              <a:t>Depth &amp; Height:</a:t>
            </a:r>
            <a:endParaRPr sz="1300" b="1">
              <a:solidFill>
                <a:srgbClr val="1A236A"/>
              </a:solidFill>
            </a:endParaRPr>
          </a:p>
          <a:p>
            <a:pPr algn="l"/>
            <a:r>
              <a:rPr sz="1200">
                <a:solidFill>
                  <a:srgbClr val="1A236A"/>
                </a:solidFill>
              </a:rPr>
              <a:t>Depth(A)=0  Depth(B)=1</a:t>
            </a:r>
            <a:endParaRPr sz="1200">
              <a:solidFill>
                <a:srgbClr val="1A236A"/>
              </a:solidFill>
            </a:endParaRPr>
          </a:p>
          <a:p>
            <a:pPr algn="l"/>
            <a:r>
              <a:rPr sz="1200">
                <a:solidFill>
                  <a:srgbClr val="1A236A"/>
                </a:solidFill>
              </a:rPr>
              <a:t>Depth(G)=3  Height(Tree)=3</a:t>
            </a:r>
            <a:endParaRPr sz="1200">
              <a:solidFill>
                <a:srgbClr val="1A236A"/>
              </a:solidFill>
            </a:endParaRPr>
          </a:p>
          <a:p>
            <a:pPr algn="l"/>
            <a:r>
              <a:rPr sz="1200">
                <a:solidFill>
                  <a:srgbClr val="1A236A"/>
                </a:solidFill>
              </a:rPr>
              <a:t>Degree(A)=2  Degree(B)=2  Degree(C)=1</a:t>
            </a:r>
            <a:endParaRPr sz="1200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Why Trees? Advantages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Efficient searching: O(log n) for balanced trees vs O(n) for arrays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Natural hierarchical representation (OS files, DOM, XML/JSON)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Dynamic size — grows/shrinks unlike arrays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Faster insert/delete than sorted arrays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Used in databases (B-Trees for indexing)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Used in compilers (Abstract Syntax Trees)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Used in networking (routing tables, spanning trees)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Used in AI (Decision Trees, Game Trees)</a:t>
            </a:r>
            <a:endParaRPr sz="1800" b="1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B4D8"/>
                </a:solidFill>
              </a:rPr>
              <a:t>Section 2</a:t>
            </a:r>
            <a:endParaRPr sz="2200" b="0" i="0">
              <a:solidFill>
                <a:srgbClr val="00B4D8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Types of Trees</a:t>
            </a:r>
            <a:endParaRPr sz="4000" b="1" i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41832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E5FF"/>
                </a:solidFill>
              </a:rPr>
              <a:t>Binary Tree, BST, AVL, Heap, B-Tree, and more</a:t>
            </a:r>
            <a:endParaRPr sz="2200" b="0" i="0">
              <a:solidFill>
                <a:srgbClr val="CCE5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Types of Trees — Overview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1. General Tree — each node can have any number of children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2. Binary Tree — each node has at most 2 children (left, right)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3. Binary Search Tree (BST) — ordered Binary Tree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4. Full Binary Tree — every node has 0 or 2 children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5. Complete Binary Tree — all levels filled except possibly the last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6. Perfect Binary Tree — all internal nodes have 2 children, all leaves at same level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7. Balanced Binary Tree — height difference between subtrees ≤ 1 (e.g. AVL)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8. Degenerate (Skewed) Tree — every parent has only one child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9. Heap — Complete Binary Tree with Heap property (Min/Max)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10. B-Tree / B+ Tree — multi-way search tree used in databases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11. Trie — prefix tree used in string search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12. Red-Black Tree — self-balancing BST with color properties</a:t>
            </a:r>
            <a:endParaRPr sz="1800" b="1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General Tree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943600" cy="5394960"/>
          </a:xfrm>
          <a:prstGeom prst="rect">
            <a:avLst/>
          </a:prstGeom>
          <a:solidFill>
            <a:srgbClr val="1E1E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5669280" cy="5212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       [A]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     / | \ \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   [B][C][D][E]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  / \      |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[F] [G]   [H]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      |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     [I]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endParaRPr sz="1500"/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Each node can have ANY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number of children.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No ordering constraint.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92240" y="1234440"/>
            <a:ext cx="5394960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Any node can have 0, 1, 2, ... n children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No restriction on degree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Example: File system, Org chart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Hard to implement directly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Usually converted to Binary Tree for processing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Not efficient for searching without conversion</a:t>
            </a:r>
            <a:endParaRPr sz="1600" b="1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Binary Tree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943600" cy="5394960"/>
          </a:xfrm>
          <a:prstGeom prst="rect">
            <a:avLst/>
          </a:prstGeom>
          <a:solidFill>
            <a:srgbClr val="1E1E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2468880" cy="286131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       [</a:t>
            </a:r>
            <a:r>
              <a:rPr lang="en-US" sz="1500">
                <a:solidFill>
                  <a:srgbClr val="06D6A0"/>
                </a:solidFill>
                <a:latin typeface="Courier New" panose="02070309020205020404"/>
              </a:rPr>
              <a:t>2</a:t>
            </a:r>
            <a:r>
              <a:rPr sz="1500">
                <a:solidFill>
                  <a:srgbClr val="06D6A0"/>
                </a:solidFill>
                <a:latin typeface="Courier New" panose="02070309020205020404"/>
              </a:rPr>
              <a:t>]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      /    \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    [</a:t>
            </a:r>
            <a:r>
              <a:rPr lang="en-US" sz="1500">
                <a:solidFill>
                  <a:srgbClr val="06D6A0"/>
                </a:solidFill>
                <a:latin typeface="Courier New" panose="02070309020205020404"/>
              </a:rPr>
              <a:t>8</a:t>
            </a:r>
            <a:r>
              <a:rPr sz="1500">
                <a:solidFill>
                  <a:srgbClr val="06D6A0"/>
                </a:solidFill>
                <a:latin typeface="Courier New" panose="02070309020205020404"/>
              </a:rPr>
              <a:t>]    [1</a:t>
            </a:r>
            <a:r>
              <a:rPr lang="en-US" sz="1500">
                <a:solidFill>
                  <a:srgbClr val="06D6A0"/>
                </a:solidFill>
                <a:latin typeface="Courier New" panose="02070309020205020404"/>
              </a:rPr>
              <a:t>1</a:t>
            </a:r>
            <a:r>
              <a:rPr sz="1500">
                <a:solidFill>
                  <a:srgbClr val="06D6A0"/>
                </a:solidFill>
                <a:latin typeface="Courier New" panose="02070309020205020404"/>
              </a:rPr>
              <a:t>]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   /   \   /  \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 [3]  [7][12] [20]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endParaRPr sz="1500"/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Rule: Each node has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AT MOST 2 children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— Left child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— Right child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endParaRPr sz="1500"/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No ordering required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92240" y="1234440"/>
            <a:ext cx="5394960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Each node has at most 2 children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Left subtree and Right subtree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No ordering constraint (unlike BST)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Can be Full, Complete, or Perfect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Height of full binary tree = log₂(n+1) - 1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Max nodes at level i = 2^i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Max nodes in tree of height h = 2^(h+1) - 1</a:t>
            </a:r>
            <a:endParaRPr sz="1600" b="1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Full vs Complete Binary Tree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394960" cy="502920"/>
          </a:xfrm>
          <a:prstGeom prst="rect">
            <a:avLst/>
          </a:prstGeom>
          <a:solidFill>
            <a:srgbClr val="00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07008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Full Binary Tree</a:t>
            </a:r>
            <a:endParaRPr sz="2000" b="1" i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43600" y="1188720"/>
            <a:ext cx="5943600" cy="5029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89320" y="1207008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Complete Binary Tree</a:t>
            </a:r>
            <a:endParaRPr sz="2000" b="1" i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5212080" cy="4754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Every node has 0 OR 2 children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No node has exactly 1 child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Example: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      [1]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     /   \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   [2]   [3]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  /   \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[4]  [5]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Leaves: 4, 5, 3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Internal: 1, 2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# leaves = # internal + 1</a:t>
            </a:r>
            <a:endParaRPr sz="1600">
              <a:solidFill>
                <a:srgbClr val="1A236A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35040" y="1828800"/>
            <a:ext cx="5760720" cy="331279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All levels filled except last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Last level filled from LEFT to RIGHT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Used in Heap data structure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Example: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      [1]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     /   \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   [2]   </a:t>
            </a:r>
            <a:r>
              <a:rPr lang="en-US" sz="1600">
                <a:solidFill>
                  <a:srgbClr val="1A236A"/>
                </a:solidFill>
              </a:rPr>
              <a:t> </a:t>
            </a:r>
            <a:r>
              <a:rPr sz="1600">
                <a:solidFill>
                  <a:srgbClr val="1A236A"/>
                </a:solidFill>
              </a:rPr>
              <a:t>[3]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  /   \  </a:t>
            </a:r>
            <a:r>
              <a:rPr lang="en-US" sz="1600">
                <a:solidFill>
                  <a:srgbClr val="1A236A"/>
                </a:solidFill>
              </a:rPr>
              <a:t>   </a:t>
            </a:r>
            <a:r>
              <a:rPr sz="1600">
                <a:solidFill>
                  <a:srgbClr val="1A236A"/>
                </a:solidFill>
              </a:rPr>
              <a:t>/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[4]  [5][6]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Efficient array representation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Parent of i → (i-1)//2</a:t>
            </a:r>
            <a:endParaRPr sz="1600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Perfect vs Degenerate Tree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943600" cy="5394960"/>
          </a:xfrm>
          <a:prstGeom prst="rect">
            <a:avLst/>
          </a:prstGeom>
          <a:solidFill>
            <a:srgbClr val="1E1E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5669280" cy="5212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PERFECT Tree: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       [1]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      /   \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    [2]   [3]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   / \   / \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 [4][5] [6][7]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endParaRPr sz="1500"/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DEGENERATE (Skewed):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[1]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  \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  [2]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    \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    [3]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      \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      [4]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92240" y="1234440"/>
            <a:ext cx="5394960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Perfect Binary Tree: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236A"/>
                </a:solidFill>
              </a:rPr>
              <a:t>    ◦  All internal nodes have 2 children</a:t>
            </a:r>
            <a:endParaRPr sz="1600" b="0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236A"/>
                </a:solidFill>
              </a:rPr>
              <a:t>    ◦  All leaves at the same level</a:t>
            </a:r>
            <a:endParaRPr sz="1600" b="0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236A"/>
                </a:solidFill>
              </a:rPr>
              <a:t>    ◦  n = 2^(h+1) - 1 nodes</a:t>
            </a:r>
            <a:endParaRPr sz="1600" b="0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236A"/>
                </a:solidFill>
              </a:rPr>
              <a:t>    ◦  Height = log₂(n+1) - 1</a:t>
            </a:r>
            <a:endParaRPr sz="1600" b="0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Degenerate / Skewed Tree: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236A"/>
                </a:solidFill>
              </a:rPr>
              <a:t>    ◦  Every node has only one child</a:t>
            </a:r>
            <a:endParaRPr sz="1600" b="0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236A"/>
                </a:solidFill>
              </a:rPr>
              <a:t>    ◦  Acts like a linked list</a:t>
            </a:r>
            <a:endParaRPr sz="1600" b="0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236A"/>
                </a:solidFill>
              </a:rPr>
              <a:t>    ◦  Height = n-1 (worst case)</a:t>
            </a:r>
            <a:endParaRPr sz="1600" b="0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236A"/>
                </a:solidFill>
              </a:rPr>
              <a:t>    ◦  Search is O(n) — very slow</a:t>
            </a:r>
            <a:endParaRPr sz="1600" b="0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236A"/>
                </a:solidFill>
              </a:rPr>
              <a:t>    ◦  Left-skewed or Right-skewed</a:t>
            </a:r>
            <a:endParaRPr sz="1600" b="0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Balanced Binary Tree (AVL Tree)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A Balanced Binary Tree has: |Height(Left) - Height(Right)| ≤ 1 for every node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This property ensures O(log n) time for search, insert, delete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AVL Tree — first self-balancing BST (Adelson-Velsky and Landis, 1962)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Balance Factor (BF) = Height(Left Subtree) - Height(Right Subtree)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If BF ∈ {-1, 0, 1} → Balanced node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If BF = +2 → Left Heavy → perform RIGHT rotation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If BF = -2 → Right Heavy → perform LEFT rotation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Rotations: LL, RR, LR, RL (4 types)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Height of AVL Tree: O(log n) always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Red-Black Tree: Another self-balancing BST, used in C++ STL map</a:t>
            </a:r>
            <a:endParaRPr sz="1800" b="1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eaderBg"/>
          <p:cNvSpPr/>
          <p:nvPr/>
        </p:nvSpPr>
        <p:spPr>
          <a:xfrm>
            <a:off x="0" y="0"/>
            <a:ext cx="12188825" cy="1051560"/>
          </a:xfrm>
          <a:prstGeom prst="rect">
            <a:avLst/>
          </a:prstGeom>
          <a:solidFill>
            <a:srgbClr val="4A235A"/>
          </a:solidFill>
          <a:ln>
            <a:noFill/>
          </a:ln>
        </p:spPr>
        <p:txBody>
          <a:bodyPr/>
          <a:lstStyle/>
          <a:p>
            <a:pPr algn="ctr"/>
          </a:p>
        </p:txBody>
      </p:sp>
      <p:sp>
        <p:nvSpPr>
          <p:cNvPr id="3" name="TitleText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AVL Tree — Balance Factor &amp; Rotations Diagram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ContentBg"/>
          <p:cNvSpPr/>
          <p:nvPr/>
        </p:nvSpPr>
        <p:spPr>
          <a:xfrm>
            <a:off x="0" y="1051560"/>
            <a:ext cx="12188825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>
            <a:pPr algn="ctr"/>
          </a:p>
        </p:txBody>
      </p:sp>
      <p:sp>
        <p:nvSpPr>
          <p:cNvPr id="10" name="Box10"/>
          <p:cNvSpPr/>
          <p:nvPr/>
        </p:nvSpPr>
        <p:spPr>
          <a:xfrm>
            <a:off x="200000" y="1150000"/>
            <a:ext cx="5800000" cy="5500000"/>
          </a:xfrm>
          <a:prstGeom prst="rect">
            <a:avLst/>
          </a:prstGeom>
          <a:solidFill>
            <a:srgbClr val="1E1E2E"/>
          </a:solidFill>
          <a:ln w="19050">
            <a:solidFill>
              <a:srgbClr val="9B59B6"/>
            </a:solidFill>
          </a:ln>
        </p:spPr>
        <p:txBody>
          <a:bodyPr anchor="ctr"/>
          <a:lstStyle/>
          <a:p/>
        </p:txBody>
      </p:sp>
      <p:sp>
        <p:nvSpPr>
          <p:cNvPr id="11" name="TB11"/>
          <p:cNvSpPr txBox="1"/>
          <p:nvPr/>
        </p:nvSpPr>
        <p:spPr>
          <a:xfrm>
            <a:off x="300000" y="1200000"/>
            <a:ext cx="5500000" cy="4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Balanced AVL Tree</a:t>
            </a:r>
            <a:endParaRPr sz="1400" b="1">
              <a:solidFill>
                <a:srgbClr val="FFFFFF"/>
              </a:solidFill>
            </a:endParaRPr>
          </a:p>
        </p:txBody>
      </p:sp>
      <p:cxnSp>
        <p:nvCxnSpPr>
          <p:cNvPr id="12" name="Conn12"/>
          <p:cNvCxnSpPr/>
          <p:nvPr/>
        </p:nvCxnSpPr>
        <p:spPr>
          <a:xfrm flipH="1">
            <a:off x="1800000" y="2000000"/>
            <a:ext cx="1300000" cy="900000"/>
          </a:xfrm>
          <a:prstGeom prst="line">
            <a:avLst/>
          </a:prstGeom>
          <a:ln w="25400">
            <a:solidFill>
              <a:srgbClr val="9B59B6"/>
            </a:solidFill>
          </a:ln>
        </p:spPr>
      </p:cxnSp>
      <p:cxnSp>
        <p:nvCxnSpPr>
          <p:cNvPr id="13" name="Conn13"/>
          <p:cNvCxnSpPr/>
          <p:nvPr/>
        </p:nvCxnSpPr>
        <p:spPr>
          <a:xfrm>
            <a:off x="3100000" y="2000000"/>
            <a:ext cx="1300000" cy="900000"/>
          </a:xfrm>
          <a:prstGeom prst="line">
            <a:avLst/>
          </a:prstGeom>
          <a:ln w="25400">
            <a:solidFill>
              <a:srgbClr val="9B59B6"/>
            </a:solidFill>
          </a:ln>
        </p:spPr>
      </p:cxnSp>
      <p:cxnSp>
        <p:nvCxnSpPr>
          <p:cNvPr id="14" name="Conn14"/>
          <p:cNvCxnSpPr/>
          <p:nvPr/>
        </p:nvCxnSpPr>
        <p:spPr>
          <a:xfrm flipH="1">
            <a:off x="1100000" y="2900000"/>
            <a:ext cx="700000" cy="900000"/>
          </a:xfrm>
          <a:prstGeom prst="line">
            <a:avLst/>
          </a:prstGeom>
          <a:ln w="25400">
            <a:solidFill>
              <a:srgbClr val="9B59B6"/>
            </a:solidFill>
          </a:ln>
        </p:spPr>
      </p:cxnSp>
      <p:cxnSp>
        <p:nvCxnSpPr>
          <p:cNvPr id="15" name="Conn15"/>
          <p:cNvCxnSpPr/>
          <p:nvPr/>
        </p:nvCxnSpPr>
        <p:spPr>
          <a:xfrm>
            <a:off x="1800000" y="2900000"/>
            <a:ext cx="700000" cy="900000"/>
          </a:xfrm>
          <a:prstGeom prst="line">
            <a:avLst/>
          </a:prstGeom>
          <a:ln w="25400">
            <a:solidFill>
              <a:srgbClr val="9B59B6"/>
            </a:solidFill>
          </a:ln>
        </p:spPr>
      </p:cxnSp>
      <p:cxnSp>
        <p:nvCxnSpPr>
          <p:cNvPr id="16" name="Conn16"/>
          <p:cNvCxnSpPr/>
          <p:nvPr/>
        </p:nvCxnSpPr>
        <p:spPr>
          <a:xfrm flipH="1">
            <a:off x="3700000" y="2900000"/>
            <a:ext cx="700000" cy="900000"/>
          </a:xfrm>
          <a:prstGeom prst="line">
            <a:avLst/>
          </a:prstGeom>
          <a:ln w="25400">
            <a:solidFill>
              <a:srgbClr val="9B59B6"/>
            </a:solidFill>
          </a:ln>
        </p:spPr>
      </p:cxnSp>
      <p:sp>
        <p:nvSpPr>
          <p:cNvPr id="17" name="Node17"/>
          <p:cNvSpPr/>
          <p:nvPr/>
        </p:nvSpPr>
        <p:spPr>
          <a:xfrm>
            <a:off x="2800000" y="1700000"/>
            <a:ext cx="600000" cy="600000"/>
          </a:xfrm>
          <a:prstGeom prst="ellipse">
            <a:avLst/>
          </a:prstGeom>
          <a:solidFill>
            <a:srgbClr val="6C3483"/>
          </a:solidFill>
          <a:ln w="25400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40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18" name="Lbl18"/>
          <p:cNvSpPr txBox="1"/>
          <p:nvPr/>
        </p:nvSpPr>
        <p:spPr>
          <a:xfrm>
            <a:off x="3450000" y="180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39C12"/>
                </a:solidFill>
              </a:rPr>
              <a:t>BF=0</a:t>
            </a:r>
            <a:endParaRPr sz="1000" b="1">
              <a:solidFill>
                <a:srgbClr val="F39C12"/>
              </a:solidFill>
            </a:endParaRPr>
          </a:p>
        </p:txBody>
      </p:sp>
      <p:sp>
        <p:nvSpPr>
          <p:cNvPr id="19" name="Node19"/>
          <p:cNvSpPr/>
          <p:nvPr/>
        </p:nvSpPr>
        <p:spPr>
          <a:xfrm>
            <a:off x="1500000" y="2600000"/>
            <a:ext cx="600000" cy="600000"/>
          </a:xfrm>
          <a:prstGeom prst="ellipse">
            <a:avLst/>
          </a:prstGeom>
          <a:solidFill>
            <a:srgbClr val="6C3483"/>
          </a:solidFill>
          <a:ln w="25400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20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20" name="Lbl20"/>
          <p:cNvSpPr txBox="1"/>
          <p:nvPr/>
        </p:nvSpPr>
        <p:spPr>
          <a:xfrm>
            <a:off x="2150000" y="270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39C12"/>
                </a:solidFill>
              </a:rPr>
              <a:t>BF=0</a:t>
            </a:r>
            <a:endParaRPr sz="1000" b="1">
              <a:solidFill>
                <a:srgbClr val="F39C12"/>
              </a:solidFill>
            </a:endParaRPr>
          </a:p>
        </p:txBody>
      </p:sp>
      <p:sp>
        <p:nvSpPr>
          <p:cNvPr id="21" name="Node21"/>
          <p:cNvSpPr/>
          <p:nvPr/>
        </p:nvSpPr>
        <p:spPr>
          <a:xfrm>
            <a:off x="4100000" y="2600000"/>
            <a:ext cx="600000" cy="600000"/>
          </a:xfrm>
          <a:prstGeom prst="ellipse">
            <a:avLst/>
          </a:prstGeom>
          <a:solidFill>
            <a:srgbClr val="6C3483"/>
          </a:solidFill>
          <a:ln w="25400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60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22" name="Lbl22"/>
          <p:cNvSpPr txBox="1"/>
          <p:nvPr/>
        </p:nvSpPr>
        <p:spPr>
          <a:xfrm>
            <a:off x="4750000" y="270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39C12"/>
                </a:solidFill>
              </a:rPr>
              <a:t>BF=+1</a:t>
            </a:r>
            <a:endParaRPr sz="1000" b="1">
              <a:solidFill>
                <a:srgbClr val="F39C12"/>
              </a:solidFill>
            </a:endParaRPr>
          </a:p>
        </p:txBody>
      </p:sp>
      <p:sp>
        <p:nvSpPr>
          <p:cNvPr id="23" name="Node23"/>
          <p:cNvSpPr/>
          <p:nvPr/>
        </p:nvSpPr>
        <p:spPr>
          <a:xfrm>
            <a:off x="800000" y="3500000"/>
            <a:ext cx="600000" cy="600000"/>
          </a:xfrm>
          <a:prstGeom prst="ellipse">
            <a:avLst/>
          </a:prstGeom>
          <a:solidFill>
            <a:srgbClr val="6C3483"/>
          </a:solidFill>
          <a:ln w="25400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10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24" name="Lbl24"/>
          <p:cNvSpPr txBox="1"/>
          <p:nvPr/>
        </p:nvSpPr>
        <p:spPr>
          <a:xfrm>
            <a:off x="1450000" y="360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39C12"/>
                </a:solidFill>
              </a:rPr>
              <a:t>BF=0</a:t>
            </a:r>
            <a:endParaRPr sz="1000" b="1">
              <a:solidFill>
                <a:srgbClr val="F39C12"/>
              </a:solidFill>
            </a:endParaRPr>
          </a:p>
        </p:txBody>
      </p:sp>
      <p:sp>
        <p:nvSpPr>
          <p:cNvPr id="25" name="Node25"/>
          <p:cNvSpPr/>
          <p:nvPr/>
        </p:nvSpPr>
        <p:spPr>
          <a:xfrm>
            <a:off x="2200000" y="3500000"/>
            <a:ext cx="600000" cy="600000"/>
          </a:xfrm>
          <a:prstGeom prst="ellipse">
            <a:avLst/>
          </a:prstGeom>
          <a:solidFill>
            <a:srgbClr val="6C3483"/>
          </a:solidFill>
          <a:ln w="25400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30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26" name="Lbl26"/>
          <p:cNvSpPr txBox="1"/>
          <p:nvPr/>
        </p:nvSpPr>
        <p:spPr>
          <a:xfrm>
            <a:off x="2764275" y="360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39C12"/>
                </a:solidFill>
              </a:rPr>
              <a:t>BF=0</a:t>
            </a:r>
            <a:endParaRPr sz="1000" b="1">
              <a:solidFill>
                <a:srgbClr val="F39C12"/>
              </a:solidFill>
            </a:endParaRPr>
          </a:p>
        </p:txBody>
      </p:sp>
      <p:sp>
        <p:nvSpPr>
          <p:cNvPr id="27" name="Node27"/>
          <p:cNvSpPr/>
          <p:nvPr/>
        </p:nvSpPr>
        <p:spPr>
          <a:xfrm>
            <a:off x="3400000" y="3500000"/>
            <a:ext cx="600000" cy="600000"/>
          </a:xfrm>
          <a:prstGeom prst="ellipse">
            <a:avLst/>
          </a:prstGeom>
          <a:solidFill>
            <a:srgbClr val="6C3483"/>
          </a:solidFill>
          <a:ln w="25400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50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28" name="Lbl28"/>
          <p:cNvSpPr txBox="1"/>
          <p:nvPr/>
        </p:nvSpPr>
        <p:spPr>
          <a:xfrm>
            <a:off x="4050000" y="360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39C12"/>
                </a:solidFill>
              </a:rPr>
              <a:t>BF=0</a:t>
            </a:r>
            <a:endParaRPr sz="1000" b="1">
              <a:solidFill>
                <a:srgbClr val="F39C12"/>
              </a:solidFill>
            </a:endParaRPr>
          </a:p>
        </p:txBody>
      </p:sp>
      <p:sp>
        <p:nvSpPr>
          <p:cNvPr id="29" name="TB29"/>
          <p:cNvSpPr txBox="1"/>
          <p:nvPr/>
        </p:nvSpPr>
        <p:spPr>
          <a:xfrm>
            <a:off x="400000" y="4700000"/>
            <a:ext cx="5500000" cy="14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BF = H(Left) - H(Right)</a:t>
            </a:r>
            <a:endParaRPr sz="1200" b="1">
              <a:solidFill>
                <a:srgbClr val="FFFFFF"/>
              </a:solidFill>
            </a:endParaRPr>
          </a:p>
          <a:p>
            <a:pPr algn="l"/>
            <a:r>
              <a:rPr sz="1100">
                <a:solidFill>
                  <a:srgbClr val="06D6A0"/>
                </a:solidFill>
              </a:rPr>
              <a:t>BF ∈ {-1,0,+1} → BALANCED ✔</a:t>
            </a:r>
            <a:endParaRPr sz="1100">
              <a:solidFill>
                <a:srgbClr val="06D6A0"/>
              </a:solidFill>
            </a:endParaRPr>
          </a:p>
          <a:p>
            <a:pPr algn="l"/>
            <a:r>
              <a:rPr sz="1100">
                <a:solidFill>
                  <a:srgbClr val="E74C3C"/>
                </a:solidFill>
              </a:rPr>
              <a:t>BF = +2 → Left heavy → Right rotate</a:t>
            </a:r>
            <a:endParaRPr sz="1100">
              <a:solidFill>
                <a:srgbClr val="E74C3C"/>
              </a:solidFill>
            </a:endParaRPr>
          </a:p>
          <a:p>
            <a:pPr algn="l"/>
            <a:r>
              <a:rPr sz="1100">
                <a:solidFill>
                  <a:srgbClr val="E74C3C"/>
                </a:solidFill>
              </a:rPr>
              <a:t>BF = -2 → Right heavy → Left rotate</a:t>
            </a:r>
            <a:endParaRPr sz="1100">
              <a:solidFill>
                <a:srgbClr val="E74C3C"/>
              </a:solidFill>
            </a:endParaRPr>
          </a:p>
        </p:txBody>
      </p:sp>
      <p:sp>
        <p:nvSpPr>
          <p:cNvPr id="30" name="Box30"/>
          <p:cNvSpPr/>
          <p:nvPr/>
        </p:nvSpPr>
        <p:spPr>
          <a:xfrm>
            <a:off x="6200000" y="1150000"/>
            <a:ext cx="5700000" cy="5500000"/>
          </a:xfrm>
          <a:prstGeom prst="rect">
            <a:avLst/>
          </a:prstGeom>
          <a:solidFill>
            <a:srgbClr val="FEF9E7"/>
          </a:solidFill>
          <a:ln w="19050">
            <a:solidFill>
              <a:srgbClr val="E67E22"/>
            </a:solidFill>
          </a:ln>
        </p:spPr>
        <p:txBody>
          <a:bodyPr anchor="ctr"/>
          <a:lstStyle/>
          <a:p/>
        </p:txBody>
      </p:sp>
      <p:sp>
        <p:nvSpPr>
          <p:cNvPr id="31" name="TB31"/>
          <p:cNvSpPr txBox="1"/>
          <p:nvPr/>
        </p:nvSpPr>
        <p:spPr>
          <a:xfrm>
            <a:off x="6300000" y="1200000"/>
            <a:ext cx="5400000" cy="4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7E22"/>
                </a:solidFill>
              </a:rPr>
              <a:t>LL Imbalance → Right Rotation</a:t>
            </a:r>
            <a:endParaRPr sz="1400" b="1">
              <a:solidFill>
                <a:srgbClr val="E67E22"/>
              </a:solidFill>
            </a:endParaRPr>
          </a:p>
        </p:txBody>
      </p:sp>
      <p:cxnSp>
        <p:nvCxnSpPr>
          <p:cNvPr id="32" name="Conn32"/>
          <p:cNvCxnSpPr/>
          <p:nvPr/>
        </p:nvCxnSpPr>
        <p:spPr>
          <a:xfrm flipH="1">
            <a:off x="7000000" y="2100000"/>
            <a:ext cx="600000" cy="800000"/>
          </a:xfrm>
          <a:prstGeom prst="line">
            <a:avLst/>
          </a:prstGeom>
          <a:ln w="25400">
            <a:solidFill>
              <a:srgbClr val="E74C3C"/>
            </a:solidFill>
          </a:ln>
        </p:spPr>
      </p:cxnSp>
      <p:cxnSp>
        <p:nvCxnSpPr>
          <p:cNvPr id="33" name="Conn33"/>
          <p:cNvCxnSpPr/>
          <p:nvPr/>
        </p:nvCxnSpPr>
        <p:spPr>
          <a:xfrm flipH="1">
            <a:off x="6400000" y="2900000"/>
            <a:ext cx="600000" cy="800000"/>
          </a:xfrm>
          <a:prstGeom prst="line">
            <a:avLst/>
          </a:prstGeom>
          <a:ln w="25400">
            <a:solidFill>
              <a:srgbClr val="E74C3C"/>
            </a:solidFill>
          </a:ln>
        </p:spPr>
      </p:cxnSp>
      <p:sp>
        <p:nvSpPr>
          <p:cNvPr id="34" name="Node34"/>
          <p:cNvSpPr/>
          <p:nvPr/>
        </p:nvSpPr>
        <p:spPr>
          <a:xfrm>
            <a:off x="7300000" y="1800000"/>
            <a:ext cx="600000" cy="600000"/>
          </a:xfrm>
          <a:prstGeom prst="ellipse">
            <a:avLst/>
          </a:prstGeom>
          <a:solidFill>
            <a:srgbClr val="E74C3C"/>
          </a:solidFill>
          <a:ln w="25400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30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35" name="Lbl35"/>
          <p:cNvSpPr txBox="1"/>
          <p:nvPr/>
        </p:nvSpPr>
        <p:spPr>
          <a:xfrm>
            <a:off x="7950000" y="190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74C3C"/>
                </a:solidFill>
              </a:rPr>
              <a:t>BF=+2!</a:t>
            </a:r>
            <a:endParaRPr sz="1000" b="1">
              <a:solidFill>
                <a:srgbClr val="E74C3C"/>
              </a:solidFill>
            </a:endParaRPr>
          </a:p>
        </p:txBody>
      </p:sp>
      <p:sp>
        <p:nvSpPr>
          <p:cNvPr id="36" name="Node36"/>
          <p:cNvSpPr/>
          <p:nvPr/>
        </p:nvSpPr>
        <p:spPr>
          <a:xfrm>
            <a:off x="6700000" y="2600000"/>
            <a:ext cx="600000" cy="600000"/>
          </a:xfrm>
          <a:prstGeom prst="ellipse">
            <a:avLst/>
          </a:prstGeom>
          <a:solidFill>
            <a:srgbClr val="E67E22"/>
          </a:solidFill>
          <a:ln w="25400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20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37" name="Lbl37"/>
          <p:cNvSpPr txBox="1"/>
          <p:nvPr/>
        </p:nvSpPr>
        <p:spPr>
          <a:xfrm>
            <a:off x="7350000" y="270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555555"/>
                </a:solidFill>
              </a:rPr>
              <a:t>BF=+1</a:t>
            </a:r>
            <a:endParaRPr sz="1000" b="1">
              <a:solidFill>
                <a:srgbClr val="555555"/>
              </a:solidFill>
            </a:endParaRPr>
          </a:p>
        </p:txBody>
      </p:sp>
      <p:sp>
        <p:nvSpPr>
          <p:cNvPr id="38" name="Node38"/>
          <p:cNvSpPr/>
          <p:nvPr/>
        </p:nvSpPr>
        <p:spPr>
          <a:xfrm>
            <a:off x="6100000" y="3400000"/>
            <a:ext cx="600000" cy="600000"/>
          </a:xfrm>
          <a:prstGeom prst="ellipse">
            <a:avLst/>
          </a:prstGeom>
          <a:solidFill>
            <a:srgbClr val="E67E22"/>
          </a:solidFill>
          <a:ln w="25400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10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39" name="Lbl39"/>
          <p:cNvSpPr txBox="1"/>
          <p:nvPr/>
        </p:nvSpPr>
        <p:spPr>
          <a:xfrm>
            <a:off x="6750000" y="350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555555"/>
                </a:solidFill>
              </a:rPr>
              <a:t>BF=0</a:t>
            </a:r>
            <a:endParaRPr sz="1000" b="1">
              <a:solidFill>
                <a:srgbClr val="555555"/>
              </a:solidFill>
            </a:endParaRPr>
          </a:p>
        </p:txBody>
      </p:sp>
      <p:sp>
        <p:nvSpPr>
          <p:cNvPr id="40" name="Lbl40"/>
          <p:cNvSpPr txBox="1"/>
          <p:nvPr/>
        </p:nvSpPr>
        <p:spPr>
          <a:xfrm>
            <a:off x="7900000" y="3600000"/>
            <a:ext cx="1200000" cy="5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67E22"/>
                </a:solidFill>
              </a:rPr>
              <a:t>➡ Right
Rotation</a:t>
            </a:r>
            <a:endParaRPr sz="1200" b="1">
              <a:solidFill>
                <a:srgbClr val="E67E22"/>
              </a:solidFill>
            </a:endParaRPr>
          </a:p>
        </p:txBody>
      </p:sp>
      <p:cxnSp>
        <p:nvCxnSpPr>
          <p:cNvPr id="41" name="Conn41"/>
          <p:cNvCxnSpPr/>
          <p:nvPr/>
        </p:nvCxnSpPr>
        <p:spPr>
          <a:xfrm flipH="1">
            <a:off x="8900000" y="2100000"/>
            <a:ext cx="700000" cy="800000"/>
          </a:xfrm>
          <a:prstGeom prst="line">
            <a:avLst/>
          </a:prstGeom>
          <a:ln w="25400">
            <a:solidFill>
              <a:srgbClr val="27AE60"/>
            </a:solidFill>
          </a:ln>
        </p:spPr>
      </p:cxnSp>
      <p:cxnSp>
        <p:nvCxnSpPr>
          <p:cNvPr id="42" name="Conn42"/>
          <p:cNvCxnSpPr/>
          <p:nvPr/>
        </p:nvCxnSpPr>
        <p:spPr>
          <a:xfrm>
            <a:off x="9600000" y="2100000"/>
            <a:ext cx="700000" cy="800000"/>
          </a:xfrm>
          <a:prstGeom prst="line">
            <a:avLst/>
          </a:prstGeom>
          <a:ln w="25400">
            <a:solidFill>
              <a:srgbClr val="27AE60"/>
            </a:solidFill>
          </a:ln>
        </p:spPr>
      </p:cxnSp>
      <p:sp>
        <p:nvSpPr>
          <p:cNvPr id="43" name="Node43"/>
          <p:cNvSpPr/>
          <p:nvPr/>
        </p:nvSpPr>
        <p:spPr>
          <a:xfrm>
            <a:off x="9300000" y="1800000"/>
            <a:ext cx="600000" cy="600000"/>
          </a:xfrm>
          <a:prstGeom prst="ellipse">
            <a:avLst/>
          </a:prstGeom>
          <a:solidFill>
            <a:srgbClr val="27AE60"/>
          </a:solidFill>
          <a:ln w="25400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20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44" name="Lbl44"/>
          <p:cNvSpPr txBox="1"/>
          <p:nvPr/>
        </p:nvSpPr>
        <p:spPr>
          <a:xfrm>
            <a:off x="9950000" y="190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7AE60"/>
                </a:solidFill>
              </a:rPr>
              <a:t>BF=0 ✔</a:t>
            </a:r>
            <a:endParaRPr sz="1000" b="1">
              <a:solidFill>
                <a:srgbClr val="27AE60"/>
              </a:solidFill>
            </a:endParaRPr>
          </a:p>
        </p:txBody>
      </p:sp>
      <p:sp>
        <p:nvSpPr>
          <p:cNvPr id="45" name="Node45"/>
          <p:cNvSpPr/>
          <p:nvPr/>
        </p:nvSpPr>
        <p:spPr>
          <a:xfrm>
            <a:off x="8600000" y="2600000"/>
            <a:ext cx="600000" cy="600000"/>
          </a:xfrm>
          <a:prstGeom prst="ellipse">
            <a:avLst/>
          </a:prstGeom>
          <a:solidFill>
            <a:srgbClr val="27AE60"/>
          </a:solidFill>
          <a:ln w="25400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10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46" name="Lbl46"/>
          <p:cNvSpPr txBox="1"/>
          <p:nvPr/>
        </p:nvSpPr>
        <p:spPr>
          <a:xfrm>
            <a:off x="9250000" y="270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7AE60"/>
                </a:solidFill>
              </a:rPr>
              <a:t>BF=0</a:t>
            </a:r>
            <a:endParaRPr sz="1000" b="1">
              <a:solidFill>
                <a:srgbClr val="27AE60"/>
              </a:solidFill>
            </a:endParaRPr>
          </a:p>
        </p:txBody>
      </p:sp>
      <p:sp>
        <p:nvSpPr>
          <p:cNvPr id="47" name="Node47"/>
          <p:cNvSpPr/>
          <p:nvPr/>
        </p:nvSpPr>
        <p:spPr>
          <a:xfrm>
            <a:off x="10000000" y="2600000"/>
            <a:ext cx="600000" cy="600000"/>
          </a:xfrm>
          <a:prstGeom prst="ellipse">
            <a:avLst/>
          </a:prstGeom>
          <a:solidFill>
            <a:srgbClr val="27AE60"/>
          </a:solidFill>
          <a:ln w="25400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30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48" name="Lbl48"/>
          <p:cNvSpPr txBox="1"/>
          <p:nvPr/>
        </p:nvSpPr>
        <p:spPr>
          <a:xfrm>
            <a:off x="10650000" y="270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7AE60"/>
                </a:solidFill>
              </a:rPr>
              <a:t>BF=0</a:t>
            </a:r>
            <a:endParaRPr sz="1000" b="1">
              <a:solidFill>
                <a:srgbClr val="27AE60"/>
              </a:solidFill>
            </a:endParaRPr>
          </a:p>
        </p:txBody>
      </p:sp>
      <p:sp>
        <p:nvSpPr>
          <p:cNvPr id="49" name="TB49"/>
          <p:cNvSpPr txBox="1"/>
          <p:nvPr/>
        </p:nvSpPr>
        <p:spPr>
          <a:xfrm>
            <a:off x="6400000" y="4700000"/>
            <a:ext cx="5300000" cy="14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7E22"/>
                </a:solidFill>
              </a:rPr>
              <a:t>AVL guarantees O(log n) always!</a:t>
            </a:r>
            <a:endParaRPr sz="1200" b="1">
              <a:solidFill>
                <a:srgbClr val="E67E22"/>
              </a:solidFill>
            </a:endParaRPr>
          </a:p>
          <a:p>
            <a:pPr algn="l"/>
            <a:r>
              <a:rPr sz="1100">
                <a:solidFill>
                  <a:srgbClr val="555555"/>
                </a:solidFill>
              </a:rPr>
              <a:t>Height stays ≈ 1.44 log₂(n)</a:t>
            </a:r>
            <a:endParaRPr sz="1100">
              <a:solidFill>
                <a:srgbClr val="555555"/>
              </a:solidFill>
            </a:endParaRPr>
          </a:p>
          <a:p>
            <a:pPr algn="l"/>
            <a:r>
              <a:rPr sz="1100">
                <a:solidFill>
                  <a:srgbClr val="555555"/>
                </a:solidFill>
              </a:rPr>
              <a:t>4 rotation types: LL, RR, LR, RL</a:t>
            </a:r>
            <a:endParaRPr sz="110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312E81">
              <a:alpha val="60000"/>
            </a:srgbClr>
          </a:solidFill>
          <a:ln w="12700">
            <a:solidFill>
              <a:srgbClr val="312E8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8BDF8"/>
                </a:solidFill>
              </a:rPr>
              <a:t>General Trees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to Binary Trees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828800" y="2377440"/>
            <a:ext cx="548640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25603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</a:rPr>
              <a:t>Step-by-Step Conversion Procedure with 4 Worked Examples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33488" y="3310128"/>
            <a:ext cx="329184" cy="329184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33488" y="337413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30568" y="3813048"/>
            <a:ext cx="329184" cy="329184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30568" y="387705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836408" y="3813048"/>
            <a:ext cx="329184" cy="329184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836408" y="387705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 flipH="1">
            <a:off x="6995160" y="3639312"/>
            <a:ext cx="502920" cy="173736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498080" y="3639312"/>
            <a:ext cx="502920" cy="173736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0" y="46634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Data Structures &amp; Algorithms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8BDF8"/>
                </a:solidFill>
              </a:rPr>
              <a:t>What is a General Tree?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65760" y="914400"/>
            <a:ext cx="438912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960120"/>
            <a:ext cx="4114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</a:rPr>
              <a:t>Definition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A rooted tree where each node can have any number of children (0 to ∞).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438912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02920" y="1965960"/>
            <a:ext cx="4114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</a:rPr>
              <a:t>Root Node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The topmost node with no parent. Starting point of the tree.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438912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02920" y="2971800"/>
            <a:ext cx="4114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</a:rPr>
              <a:t>Children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20040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Each node may have zero, one, two, or more child nodes.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931920"/>
            <a:ext cx="438912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02920" y="3977640"/>
            <a:ext cx="4114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</a:rPr>
              <a:t>Siblings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420624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Nodes sharing the same parent node are called siblings.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82296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BD5E1"/>
                </a:solidFill>
              </a:rPr>
              <a:t>Example General Tree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48272" y="1170432"/>
            <a:ext cx="402336" cy="402336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748272" y="1271016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 flipH="1">
            <a:off x="5852160" y="1572768"/>
            <a:ext cx="1097280" cy="329184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650992" y="1901952"/>
            <a:ext cx="402336" cy="402336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650992" y="2002536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949440" y="1572768"/>
            <a:ext cx="9144" cy="329184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748272" y="1901952"/>
            <a:ext cx="402336" cy="402336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748272" y="2002536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949440" y="1572768"/>
            <a:ext cx="1097280" cy="329184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845552" y="1901952"/>
            <a:ext cx="402336" cy="402336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845552" y="2002536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 flipH="1">
            <a:off x="5303520" y="2304288"/>
            <a:ext cx="548640" cy="374904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5102352" y="2679192"/>
            <a:ext cx="402336" cy="402336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102352" y="2779776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52160" y="2304288"/>
            <a:ext cx="457200" cy="374904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108192" y="2679192"/>
            <a:ext cx="402336" cy="402336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108192" y="2779776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949440" y="2304288"/>
            <a:ext cx="9144" cy="374904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748272" y="2679192"/>
            <a:ext cx="402336" cy="402336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748272" y="2779776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 flipH="1">
            <a:off x="7543800" y="2304288"/>
            <a:ext cx="502920" cy="374904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7342632" y="2679192"/>
            <a:ext cx="402336" cy="402336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342632" y="2779776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046720" y="2304288"/>
            <a:ext cx="9144" cy="374904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7845552" y="2679192"/>
            <a:ext cx="402336" cy="402336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7845552" y="2779776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046720" y="2304288"/>
            <a:ext cx="502920" cy="374904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8348472" y="2679192"/>
            <a:ext cx="402336" cy="402336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8348472" y="2779776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J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686300" y="196596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DE047"/>
                </a:solidFill>
              </a:rPr>
              <a:t>← 3 children of A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4D399"/>
                </a:solidFill>
              </a:rPr>
              <a:t>Key property: Unrestricted number of children per node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4D399"/>
                </a:solidFill>
              </a:rPr>
              <a:t>What is a Binary Tree?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0"/>
          </a:xfrm>
          <a:prstGeom prst="line">
            <a:avLst/>
          </a:prstGeom>
          <a:noFill/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65760" y="914400"/>
            <a:ext cx="438912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065F4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960120"/>
            <a:ext cx="4114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</a:rPr>
              <a:t>Max 2 Children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Each node has at most a LEFT child and a RIGHT child.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438912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065F4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02920" y="1965960"/>
            <a:ext cx="4114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</a:rPr>
              <a:t>Left Child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Points to the leftmost child of the original general tree node.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438912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065F4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02920" y="2971800"/>
            <a:ext cx="4114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</a:rPr>
              <a:t>Right Child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20040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Points to the next sibling of the original general tree node.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931920"/>
            <a:ext cx="438912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065F4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02920" y="3977640"/>
            <a:ext cx="4114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</a:rPr>
              <a:t>Structured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420624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More memory-efficient and easier to implement algorithmically.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82296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BD5E1"/>
                </a:solidFill>
              </a:rPr>
              <a:t>Example Binary Tree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48272" y="1170432"/>
            <a:ext cx="402336" cy="402336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748272" y="1271016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 flipH="1">
            <a:off x="6035040" y="1572768"/>
            <a:ext cx="914400" cy="329184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833872" y="1901952"/>
            <a:ext cx="402336" cy="402336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833872" y="2002536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949440" y="1572768"/>
            <a:ext cx="914400" cy="329184"/>
          </a:xfrm>
          <a:prstGeom prst="line">
            <a:avLst/>
          </a:prstGeom>
          <a:noFill/>
          <a:ln w="19050">
            <a:solidFill>
              <a:srgbClr val="FB923C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662672" y="1901952"/>
            <a:ext cx="402336" cy="402336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662672" y="2002536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 flipH="1">
            <a:off x="5486400" y="2304288"/>
            <a:ext cx="548640" cy="329184"/>
          </a:xfrm>
          <a:prstGeom prst="line">
            <a:avLst/>
          </a:prstGeom>
          <a:noFill/>
          <a:ln w="15240">
            <a:solidFill>
              <a:srgbClr val="34D399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5285232" y="2633472"/>
            <a:ext cx="402336" cy="402336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285232" y="2734056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35040" y="2304288"/>
            <a:ext cx="548640" cy="329184"/>
          </a:xfrm>
          <a:prstGeom prst="line">
            <a:avLst/>
          </a:prstGeom>
          <a:noFill/>
          <a:ln w="15240">
            <a:solidFill>
              <a:srgbClr val="FB923C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382512" y="2633472"/>
            <a:ext cx="402336" cy="402336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382512" y="2734056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937760" y="3749040"/>
            <a:ext cx="45720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440680" y="365760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</a:rPr>
              <a:t>Left child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37760" y="4023360"/>
            <a:ext cx="457200" cy="0"/>
          </a:xfrm>
          <a:prstGeom prst="line">
            <a:avLst/>
          </a:prstGeom>
          <a:noFill/>
          <a:ln w="25400">
            <a:solidFill>
              <a:srgbClr val="FB923C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440680" y="393192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923C"/>
                </a:solidFill>
              </a:rPr>
              <a:t>Right child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4D399"/>
                </a:solidFill>
              </a:rPr>
              <a:t>Key property: At most 2 children per node (left &amp; right)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18CF8"/>
                </a:solidFill>
              </a:rPr>
              <a:t>Conversion Algorithm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0"/>
          </a:xfrm>
          <a:prstGeom prst="line">
            <a:avLst/>
          </a:prstGeom>
          <a:noFill/>
          <a:ln w="12700">
            <a:solidFill>
              <a:srgbClr val="818CF8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65760" y="960120"/>
            <a:ext cx="640080" cy="6400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65760" y="9601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97280" y="914400"/>
            <a:ext cx="768096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234440" y="987552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</a:rPr>
              <a:t>Root stays as root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298448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The root of the general tree becomes the root of the binary tree. No change for the root node.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640080" cy="6400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65760" y="23317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097280" y="2286000"/>
            <a:ext cx="768096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234440" y="2359152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</a:rPr>
              <a:t>First child → Left child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2670048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The LEFTMOST child of any node in the general tree becomes the LEFT child of that node in the binary tree.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703320"/>
            <a:ext cx="640080" cy="64008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65760" y="37033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097280" y="3657600"/>
            <a:ext cx="768096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FB923C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234440" y="3730752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923C"/>
                </a:solidFill>
              </a:rPr>
              <a:t>Next sibling → Right child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041648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The NEXT SIBLING of any node in the general tree becomes the RIGHT child of that node in the binary tree.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818CF8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Memory aid:  Root → Root  |  1st Child → Left  |  Next Sibling → Right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Example 1: A→{B,C,D}, B→{E,F}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</a:rPr>
              <a:t>General Tree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93192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057400" y="164592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057400" y="172821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flipH="1">
            <a:off x="1234440" y="2011680"/>
            <a:ext cx="1005840" cy="411480"/>
          </a:xfrm>
          <a:prstGeom prst="line">
            <a:avLst/>
          </a:prstGeom>
          <a:noFill/>
          <a:ln w="1651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051560" y="242316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51560" y="25054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40280" y="2011680"/>
            <a:ext cx="9144" cy="411480"/>
          </a:xfrm>
          <a:prstGeom prst="line">
            <a:avLst/>
          </a:prstGeom>
          <a:noFill/>
          <a:ln w="1651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057400" y="242316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057400" y="25054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40280" y="2011680"/>
            <a:ext cx="1005840" cy="411480"/>
          </a:xfrm>
          <a:prstGeom prst="line">
            <a:avLst/>
          </a:prstGeom>
          <a:noFill/>
          <a:ln w="1651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063240" y="242316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063240" y="25054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 flipH="1">
            <a:off x="868680" y="2788920"/>
            <a:ext cx="365760" cy="411480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85800" y="320040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85800" y="328269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34440" y="2788920"/>
            <a:ext cx="365760" cy="411480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1417320" y="320040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417320" y="328269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43400" y="2834640"/>
            <a:ext cx="457200" cy="0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343400" y="265176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18CF8"/>
                </a:solidFill>
              </a:rPr>
              <a:t>→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937760" y="77724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</a:rPr>
              <a:t>Binary Tree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937760" y="1097280"/>
            <a:ext cx="393192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720840" y="1645920"/>
            <a:ext cx="365760" cy="365760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720840" y="172821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 flipH="1">
            <a:off x="6172200" y="2011680"/>
            <a:ext cx="731520" cy="411480"/>
          </a:xfrm>
          <a:prstGeom prst="line">
            <a:avLst/>
          </a:prstGeom>
          <a:noFill/>
          <a:ln w="16510">
            <a:solidFill>
              <a:srgbClr val="34D399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5989320" y="2423160"/>
            <a:ext cx="365760" cy="365760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989320" y="25054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72200" y="2788920"/>
            <a:ext cx="731520" cy="411480"/>
          </a:xfrm>
          <a:prstGeom prst="line">
            <a:avLst/>
          </a:prstGeom>
          <a:noFill/>
          <a:ln w="15240">
            <a:solidFill>
              <a:srgbClr val="FB923C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720840" y="3200400"/>
            <a:ext cx="365760" cy="365760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720840" y="328269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903720" y="3566160"/>
            <a:ext cx="731520" cy="411480"/>
          </a:xfrm>
          <a:prstGeom prst="line">
            <a:avLst/>
          </a:prstGeom>
          <a:noFill/>
          <a:ln w="15240">
            <a:solidFill>
              <a:srgbClr val="FB923C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7452360" y="3977640"/>
            <a:ext cx="365760" cy="365760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452360" y="405993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 flipH="1">
            <a:off x="5669280" y="2788920"/>
            <a:ext cx="502920" cy="411480"/>
          </a:xfrm>
          <a:prstGeom prst="line">
            <a:avLst/>
          </a:prstGeom>
          <a:noFill/>
          <a:ln w="15240">
            <a:solidFill>
              <a:srgbClr val="34D399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5486400" y="3200400"/>
            <a:ext cx="365760" cy="365760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486400" y="328269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669280" y="3566160"/>
            <a:ext cx="502920" cy="411480"/>
          </a:xfrm>
          <a:prstGeom prst="line">
            <a:avLst/>
          </a:prstGeom>
          <a:noFill/>
          <a:ln w="15240">
            <a:solidFill>
              <a:srgbClr val="FB923C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5989320" y="3977640"/>
            <a:ext cx="365760" cy="365760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989320" y="405993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Original: A has children B,C,D and B has children E,F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</a:rPr>
              <a:t>Example 1  ›  Step 1 of 4:  Place root 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818C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713232"/>
            <a:ext cx="8321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Step 1: Root 'A' of the general tree becomes the root of the binary tree. A has 3 children: B, C, 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595360" cy="3429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389120" y="1737360"/>
            <a:ext cx="365760" cy="365760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389120" y="18196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173736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DE047"/>
                </a:solidFill>
              </a:rPr>
              <a:t>Root placed 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508760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</a:rPr>
              <a:t>General Tree (original):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0" y="173736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828800" y="18196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 flipH="1">
            <a:off x="1188720" y="2103120"/>
            <a:ext cx="822960" cy="320040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005840" y="242316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05840" y="25054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011680" y="2103120"/>
            <a:ext cx="9144" cy="320040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828800" y="242316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828800" y="25054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011680" y="2103120"/>
            <a:ext cx="822960" cy="320040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2651760" y="242316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651760" y="25054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 flipH="1">
            <a:off x="822960" y="2788920"/>
            <a:ext cx="365760" cy="320040"/>
          </a:xfrm>
          <a:prstGeom prst="line">
            <a:avLst/>
          </a:prstGeom>
          <a:noFill/>
          <a:ln w="1397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" y="31912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188720" y="2788920"/>
            <a:ext cx="365760" cy="320040"/>
          </a:xfrm>
          <a:prstGeom prst="line">
            <a:avLst/>
          </a:prstGeom>
          <a:noFill/>
          <a:ln w="1397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371600" y="310896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371600" y="31912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0" y="1457325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</a:rPr>
              <a:t>Binary Tree (so far):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70832" y="1719072"/>
            <a:ext cx="402336" cy="402336"/>
          </a:xfrm>
          <a:prstGeom prst="ellipse">
            <a:avLst/>
          </a:prstGeom>
          <a:solidFill>
            <a:srgbClr val="FDE047">
              <a:alpha val="40000"/>
            </a:srgbClr>
          </a:solidFill>
          <a:ln w="25400">
            <a:solidFill>
              <a:srgbClr val="FDE047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DE047"/>
                </a:solidFill>
              </a:rPr>
              <a:t>Rule: Root of general tree → Root of binary tree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</a:rPr>
              <a:t>Example 1  ›  Step 2 of 4:  B = left child of A (1st child → Left)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818C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713232"/>
            <a:ext cx="8321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Step 2: The FIRST child of A is B. So B becomes the LEFT child of A in the binary tree.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595360" cy="3429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508760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</a:rPr>
              <a:t>General Tree: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0" y="173736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828800" y="18196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flipH="1">
            <a:off x="1188720" y="2103120"/>
            <a:ext cx="822960" cy="320040"/>
          </a:xfrm>
          <a:prstGeom prst="line">
            <a:avLst/>
          </a:prstGeom>
          <a:noFill/>
          <a:ln w="25400">
            <a:solidFill>
              <a:srgbClr val="FDE047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005840" y="2423160"/>
            <a:ext cx="365760" cy="365760"/>
          </a:xfrm>
          <a:prstGeom prst="ellipse">
            <a:avLst/>
          </a:prstGeom>
          <a:solidFill>
            <a:srgbClr val="92400E"/>
          </a:solidFill>
          <a:ln w="25400">
            <a:solidFill>
              <a:srgbClr val="FDE04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05840" y="25054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011680" y="2103120"/>
            <a:ext cx="9144" cy="320040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828800" y="242316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828800" y="25054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011680" y="2103120"/>
            <a:ext cx="822960" cy="320040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2651760" y="242316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651760" y="25054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 flipH="1">
            <a:off x="822960" y="2788920"/>
            <a:ext cx="365760" cy="320040"/>
          </a:xfrm>
          <a:prstGeom prst="line">
            <a:avLst/>
          </a:prstGeom>
          <a:noFill/>
          <a:ln w="1397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31912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188720" y="2788920"/>
            <a:ext cx="365760" cy="320040"/>
          </a:xfrm>
          <a:prstGeom prst="line">
            <a:avLst/>
          </a:prstGeom>
          <a:noFill/>
          <a:ln w="1397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371600" y="310896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371600" y="31912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" y="2514600"/>
            <a:ext cx="1005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DE047"/>
                </a:solidFill>
              </a:rPr>
              <a:t>← 1st child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0" y="1508760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</a:rPr>
              <a:t>Binary Tree: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1737360"/>
            <a:ext cx="365760" cy="365760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217920" y="18196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 flipH="1">
            <a:off x="5669280" y="2103120"/>
            <a:ext cx="731520" cy="32004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5486400" y="2423160"/>
            <a:ext cx="365760" cy="365760"/>
          </a:xfrm>
          <a:prstGeom prst="ellipse">
            <a:avLst/>
          </a:prstGeom>
          <a:solidFill>
            <a:srgbClr val="065F46"/>
          </a:solidFill>
          <a:ln w="25400">
            <a:solidFill>
              <a:srgbClr val="FDE047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486400" y="25054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114800" y="251460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DE047"/>
                </a:solidFill>
              </a:rPr>
              <a:t>Left child 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DE047"/>
                </a:solidFill>
              </a:rPr>
              <a:t>Rule: First (leftmost) child in general tree → Left child in binary tree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</a:rPr>
              <a:t>Example 1  ›  Step 3 of 4:  C = right child of B (next sibling → Right)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818C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713232"/>
            <a:ext cx="8321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Step 3: C is the NEXT SIBLING of B. So C becomes the RIGHT child of B in the binary tree.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595360" cy="3429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508760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</a:rPr>
              <a:t>General Tree: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0" y="173736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828800" y="18196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flipH="1">
            <a:off x="1188720" y="2103120"/>
            <a:ext cx="822960" cy="320040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005840" y="242316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05840" y="25054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011680" y="2103120"/>
            <a:ext cx="9144" cy="320040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828800" y="2423160"/>
            <a:ext cx="365760" cy="365760"/>
          </a:xfrm>
          <a:prstGeom prst="ellipse">
            <a:avLst/>
          </a:prstGeom>
          <a:solidFill>
            <a:srgbClr val="92400E"/>
          </a:solidFill>
          <a:ln w="25400">
            <a:solidFill>
              <a:srgbClr val="FDE04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828800" y="25054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011680" y="2103120"/>
            <a:ext cx="822960" cy="320040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2651760" y="242316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651760" y="25054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 flipH="1">
            <a:off x="822960" y="2788920"/>
            <a:ext cx="365760" cy="320040"/>
          </a:xfrm>
          <a:prstGeom prst="line">
            <a:avLst/>
          </a:prstGeom>
          <a:noFill/>
          <a:ln w="1397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31912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188720" y="2788920"/>
            <a:ext cx="365760" cy="320040"/>
          </a:xfrm>
          <a:prstGeom prst="line">
            <a:avLst/>
          </a:prstGeom>
          <a:noFill/>
          <a:ln w="1397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371600" y="310896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371600" y="31912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674495" y="2840355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DE047"/>
                </a:solidFill>
              </a:rPr>
              <a:t>← next sibling of B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0" y="1508760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</a:rPr>
              <a:t>Binary Tree: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1737360"/>
            <a:ext cx="365760" cy="365760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217920" y="18196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 flipH="1">
            <a:off x="5669280" y="2103120"/>
            <a:ext cx="731520" cy="32004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5486400" y="2423160"/>
            <a:ext cx="365760" cy="365760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486400" y="25054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669280" y="2788920"/>
            <a:ext cx="731520" cy="320040"/>
          </a:xfrm>
          <a:prstGeom prst="line">
            <a:avLst/>
          </a:prstGeom>
          <a:noFill/>
          <a:ln w="25400">
            <a:solidFill>
              <a:srgbClr val="FB923C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217920" y="3108960"/>
            <a:ext cx="365760" cy="365760"/>
          </a:xfrm>
          <a:prstGeom prst="ellipse">
            <a:avLst/>
          </a:prstGeom>
          <a:solidFill>
            <a:srgbClr val="92400E"/>
          </a:solidFill>
          <a:ln w="25400">
            <a:solidFill>
              <a:srgbClr val="FDE047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217920" y="31912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543675" y="3200400"/>
            <a:ext cx="1828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DE047"/>
                </a:solidFill>
              </a:rPr>
              <a:t>Right child of B ✓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DE047"/>
                </a:solidFill>
              </a:rPr>
              <a:t>Rule: Next sibling in general tree → Right child in binary tree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</a:rPr>
              <a:t>Example 1  ›  Step 4 of 4:  D = right child of C; E,F = children of B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818C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713232"/>
            <a:ext cx="8321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 is next sibling of C → right child of C. E is 1st child of B → left child of B. F is next sibling of E → right child of 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595360" cy="3429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743200" y="15087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</a:rPr>
              <a:t>Final Binary Tree: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07408" y="1709928"/>
            <a:ext cx="329184" cy="329184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407408" y="177393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flipH="1">
            <a:off x="3657600" y="2039112"/>
            <a:ext cx="914400" cy="448056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493008" y="2487168"/>
            <a:ext cx="329184" cy="329184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493008" y="255117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 flipH="1">
            <a:off x="2926080" y="2816352"/>
            <a:ext cx="731520" cy="448056"/>
          </a:xfrm>
          <a:prstGeom prst="line">
            <a:avLst/>
          </a:prstGeom>
          <a:noFill/>
          <a:ln w="16510">
            <a:solidFill>
              <a:srgbClr val="34D399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761488" y="3264408"/>
            <a:ext cx="329184" cy="329184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761488" y="332841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26080" y="3593592"/>
            <a:ext cx="640080" cy="448056"/>
          </a:xfrm>
          <a:prstGeom prst="line">
            <a:avLst/>
          </a:prstGeom>
          <a:noFill/>
          <a:ln w="16510">
            <a:solidFill>
              <a:srgbClr val="FB923C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401568" y="4041648"/>
            <a:ext cx="329184" cy="329184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401568" y="410565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0" y="2816352"/>
            <a:ext cx="731520" cy="448056"/>
          </a:xfrm>
          <a:prstGeom prst="line">
            <a:avLst/>
          </a:prstGeom>
          <a:noFill/>
          <a:ln w="16510">
            <a:solidFill>
              <a:srgbClr val="FB923C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224528" y="3264408"/>
            <a:ext cx="329184" cy="329184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224528" y="332841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389120" y="3593592"/>
            <a:ext cx="731520" cy="448056"/>
          </a:xfrm>
          <a:prstGeom prst="line">
            <a:avLst/>
          </a:prstGeom>
          <a:noFill/>
          <a:ln w="16510">
            <a:solidFill>
              <a:srgbClr val="FB923C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956048" y="4041648"/>
            <a:ext cx="329184" cy="329184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956048" y="410565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0" y="2331720"/>
            <a:ext cx="36576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12280" y="2240280"/>
            <a:ext cx="21031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</a:rPr>
              <a:t>= Left child (1st child)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00800" y="2606040"/>
            <a:ext cx="365760" cy="0"/>
          </a:xfrm>
          <a:prstGeom prst="line">
            <a:avLst/>
          </a:prstGeom>
          <a:noFill/>
          <a:ln w="25400">
            <a:solidFill>
              <a:srgbClr val="FB923C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12280" y="2514600"/>
            <a:ext cx="21031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B923C"/>
                </a:solidFill>
              </a:rPr>
              <a:t>= Right child (next sibling)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DE047"/>
                </a:solidFill>
              </a:rPr>
              <a:t>Rule: Apply all three rules recursively until all nodes are placed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Example 2: Linear Chain A→B→C→D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</a:rPr>
              <a:t>General Tree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93192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240280" y="1737360"/>
            <a:ext cx="9144" cy="411480"/>
          </a:xfrm>
          <a:prstGeom prst="line">
            <a:avLst/>
          </a:prstGeom>
          <a:noFill/>
          <a:ln w="1651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240280" y="2514600"/>
            <a:ext cx="9144" cy="411480"/>
          </a:xfrm>
          <a:prstGeom prst="line">
            <a:avLst/>
          </a:prstGeom>
          <a:noFill/>
          <a:ln w="1651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240280" y="3291840"/>
            <a:ext cx="9144" cy="411480"/>
          </a:xfrm>
          <a:prstGeom prst="line">
            <a:avLst/>
          </a:prstGeom>
          <a:noFill/>
          <a:ln w="1651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057400" y="137160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057400" y="145389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57400" y="214884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057400" y="223113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057400" y="292608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057400" y="300837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057400" y="370332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057400" y="378561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43400" y="2834640"/>
            <a:ext cx="457200" cy="0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343400" y="265176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18CF8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937760" y="77724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</a:rPr>
              <a:t>Binary Tree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37760" y="1097280"/>
            <a:ext cx="393192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6537960" y="1737360"/>
            <a:ext cx="365760" cy="411480"/>
          </a:xfrm>
          <a:prstGeom prst="line">
            <a:avLst/>
          </a:prstGeom>
          <a:noFill/>
          <a:ln w="16510">
            <a:solidFill>
              <a:srgbClr val="34D399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6245860" y="2514600"/>
            <a:ext cx="292100" cy="433705"/>
          </a:xfrm>
          <a:prstGeom prst="line">
            <a:avLst/>
          </a:prstGeom>
          <a:noFill/>
          <a:ln w="16510">
            <a:solidFill>
              <a:srgbClr val="34D399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5895340" y="3291840"/>
            <a:ext cx="166370" cy="401320"/>
          </a:xfrm>
          <a:prstGeom prst="line">
            <a:avLst/>
          </a:prstGeom>
          <a:noFill/>
          <a:ln w="16510">
            <a:solidFill>
              <a:srgbClr val="34D399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720840" y="1371600"/>
            <a:ext cx="365760" cy="365760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720840" y="145389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55080" y="2148840"/>
            <a:ext cx="365760" cy="365760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355080" y="223113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89625" y="2926080"/>
            <a:ext cx="365760" cy="365760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889625" y="300837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596890" y="3703320"/>
            <a:ext cx="365760" cy="365760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575300" y="378561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Each node has exactly one child — produces a left-skewed binary tree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</a:rPr>
              <a:t>Example 2  ›  Step 1 of 2:  Root A placed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818C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713232"/>
            <a:ext cx="8321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Root A stays as root. It has only ONE child: B. B will become the LEFT child of 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595360" cy="3429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50876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</a:rPr>
              <a:t>General Tree (linear):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64592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389120" y="172821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2011680"/>
            <a:ext cx="9144" cy="411480"/>
          </a:xfrm>
          <a:prstGeom prst="line">
            <a:avLst/>
          </a:prstGeom>
          <a:noFill/>
          <a:ln w="1651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89120" y="242316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389120" y="250545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2788920"/>
            <a:ext cx="9144" cy="411480"/>
          </a:xfrm>
          <a:prstGeom prst="line">
            <a:avLst/>
          </a:prstGeom>
          <a:noFill/>
          <a:ln w="1651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389120" y="320040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389120" y="328269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3566160"/>
            <a:ext cx="9144" cy="411480"/>
          </a:xfrm>
          <a:prstGeom prst="line">
            <a:avLst/>
          </a:prstGeom>
          <a:noFill/>
          <a:ln w="1651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389120" y="3977640"/>
            <a:ext cx="365760" cy="365760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389120" y="405993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0" y="2103120"/>
            <a:ext cx="29260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Each node has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only 1 child →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always LEFT child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in binary tree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188720" y="2011680"/>
            <a:ext cx="365760" cy="365760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188720" y="209397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00200" y="205740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DE047"/>
                </a:solidFill>
              </a:rPr>
              <a:t>Root 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196596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</a:rPr>
              <a:t>Binary Tree (building):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DE047"/>
                </a:solidFill>
              </a:rPr>
              <a:t>Rule: Root stays as root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</a:rPr>
              <a:t>Example 2  ›  Step 2 of 2:  B→Left of A, C→Left of B, D→Left of C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818C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713232"/>
            <a:ext cx="8321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Each node is the ONLY child of its parent. Only child = first child → always becomes LEFT child.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595360" cy="3429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5087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</a:rPr>
              <a:t>Linear general tree  →  Left-skewed binary tree: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98264" y="1746504"/>
            <a:ext cx="347472" cy="347472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398264" y="181965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flipH="1">
            <a:off x="3931920" y="2093976"/>
            <a:ext cx="640080" cy="42976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758184" y="2523744"/>
            <a:ext cx="347472" cy="347472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758184" y="259689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 flipH="1">
            <a:off x="3291840" y="2871216"/>
            <a:ext cx="640080" cy="42976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118104" y="3300984"/>
            <a:ext cx="347472" cy="347472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118104" y="337413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flipH="1">
            <a:off x="2651760" y="3648456"/>
            <a:ext cx="640080" cy="42976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2478024" y="4078224"/>
            <a:ext cx="347472" cy="347472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478024" y="415137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66160" y="2240280"/>
            <a:ext cx="457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</a:rPr>
              <a:t>Left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926080" y="3017520"/>
            <a:ext cx="457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</a:rPr>
              <a:t>Left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86000" y="3794760"/>
            <a:ext cx="457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</a:rPr>
              <a:t>Left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2560320"/>
            <a:ext cx="39319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DE047"/>
                </a:solidFill>
              </a:rPr>
              <a:t>⚠  A linear (single-child) general tree becomes a LEFT-SKEWED binary tree!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383280"/>
            <a:ext cx="3931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No right children exist because no node has a next sibling.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DE047"/>
                </a:solidFill>
              </a:rPr>
              <a:t>Rule: Only child = first child → Left child in binary tree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Example 3: Wide Tree — A→{B,C,D,E}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</a:rPr>
              <a:t>General Tree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93192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066544" y="1335024"/>
            <a:ext cx="347472" cy="347472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066544" y="140817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flipH="1">
            <a:off x="868680" y="1682496"/>
            <a:ext cx="1371600" cy="429768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94944" y="2112264"/>
            <a:ext cx="347472" cy="347472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94944" y="218541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flipH="1">
            <a:off x="1783080" y="1682496"/>
            <a:ext cx="457200" cy="429768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609344" y="2112264"/>
            <a:ext cx="347472" cy="347472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609344" y="218541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40280" y="1682496"/>
            <a:ext cx="457200" cy="429768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523744" y="2112264"/>
            <a:ext cx="347472" cy="347472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523744" y="218541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40280" y="1682496"/>
            <a:ext cx="1371600" cy="429768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438144" y="2112264"/>
            <a:ext cx="347472" cy="347472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438144" y="218541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43400" y="2834640"/>
            <a:ext cx="457200" cy="0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343400" y="265176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18CF8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937760" y="77724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</a:rPr>
              <a:t>Binary Tree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37760" y="1097280"/>
            <a:ext cx="393192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181344" y="1335024"/>
            <a:ext cx="347472" cy="347472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181344" y="140817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 flipH="1">
            <a:off x="5852160" y="1682496"/>
            <a:ext cx="502920" cy="429768"/>
          </a:xfrm>
          <a:prstGeom prst="line">
            <a:avLst/>
          </a:prstGeom>
          <a:noFill/>
          <a:ln w="16510">
            <a:solidFill>
              <a:srgbClr val="34D399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678424" y="2112264"/>
            <a:ext cx="347472" cy="347472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678424" y="218541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52160" y="2459736"/>
            <a:ext cx="502920" cy="429768"/>
          </a:xfrm>
          <a:prstGeom prst="line">
            <a:avLst/>
          </a:prstGeom>
          <a:noFill/>
          <a:ln w="15240">
            <a:solidFill>
              <a:srgbClr val="FB923C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181344" y="2889504"/>
            <a:ext cx="347472" cy="347472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181344" y="296265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55080" y="3236976"/>
            <a:ext cx="502920" cy="429768"/>
          </a:xfrm>
          <a:prstGeom prst="line">
            <a:avLst/>
          </a:prstGeom>
          <a:noFill/>
          <a:ln w="15240">
            <a:solidFill>
              <a:srgbClr val="FB923C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684264" y="3666744"/>
            <a:ext cx="347472" cy="347472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684264" y="373989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58000" y="4014216"/>
            <a:ext cx="411480" cy="429768"/>
          </a:xfrm>
          <a:prstGeom prst="line">
            <a:avLst/>
          </a:prstGeom>
          <a:noFill/>
          <a:ln w="15240">
            <a:solidFill>
              <a:srgbClr val="FB923C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7095744" y="4443984"/>
            <a:ext cx="347472" cy="347472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095744" y="451713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4 siblings B,C,D,E create a right-skewed chain under A's left subtree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</a:rPr>
              <a:t>Example 3  ›  Step 1 of 2:  Root A has 4 children: B, C, D, 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818C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713232"/>
            <a:ext cx="8321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 has four children. B is the first child → LEFT child of A. C,D,E are siblings of B and will chain as right children.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595360" cy="3429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5087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</a:rPr>
              <a:t>General Tree: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12264" y="1837944"/>
            <a:ext cx="347472" cy="347472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112264" y="191109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flipH="1">
            <a:off x="914400" y="2185416"/>
            <a:ext cx="1371600" cy="384048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40664" y="2569464"/>
            <a:ext cx="347472" cy="347472"/>
          </a:xfrm>
          <a:prstGeom prst="ellipse">
            <a:avLst/>
          </a:prstGeom>
          <a:solidFill>
            <a:srgbClr val="1E40AF"/>
          </a:solidFill>
          <a:ln w="25400">
            <a:solidFill>
              <a:srgbClr val="FDE04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40664" y="264261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 flipH="1">
            <a:off x="1554480" y="2185416"/>
            <a:ext cx="731520" cy="384048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380744" y="2569464"/>
            <a:ext cx="347472" cy="347472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380744" y="264261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0" y="2185416"/>
            <a:ext cx="731520" cy="384048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2843784" y="2569464"/>
            <a:ext cx="347472" cy="347472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843784" y="264261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86000" y="2185416"/>
            <a:ext cx="1371600" cy="384048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483864" y="2569464"/>
            <a:ext cx="347472" cy="347472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483864" y="264261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2926080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DE047"/>
                </a:solidFill>
              </a:rPr>
              <a:t>1st child ↑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45920" y="2926080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B923C"/>
                </a:solidFill>
              </a:rPr>
              <a:t>siblings →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0" y="150876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</a:rPr>
              <a:t>Binary Tree (so far):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27064" y="1837944"/>
            <a:ext cx="347472" cy="347472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227064" y="191109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 flipH="1">
            <a:off x="5760720" y="2185416"/>
            <a:ext cx="640080" cy="38404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586984" y="2569464"/>
            <a:ext cx="347472" cy="347472"/>
          </a:xfrm>
          <a:prstGeom prst="ellipse">
            <a:avLst/>
          </a:prstGeom>
          <a:solidFill>
            <a:srgbClr val="065F46"/>
          </a:solidFill>
          <a:ln w="25400">
            <a:solidFill>
              <a:srgbClr val="FDE047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586984" y="264261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03520" y="265176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DE047"/>
                </a:solidFill>
              </a:rPr>
              <a:t>Left 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26480" y="292608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923C"/>
                </a:solidFill>
              </a:rPr>
              <a:t>C, D, E will become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B923C"/>
                </a:solidFill>
              </a:rPr>
              <a:t>right-child chain of 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DE047"/>
                </a:solidFill>
              </a:rPr>
              <a:t>Rule: First child → Left; remaining siblings → chain of right children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</a:rPr>
              <a:t>Example 3  ›  Step 2 of 2:  C→Right of B, D→Right of C, E→Right of 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818C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713232"/>
            <a:ext cx="8321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 is next sibling of B → right child of B. D is next sibling of C → right child of C. E is next sibling of D → right child of 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595360" cy="4041775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45923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</a:rPr>
              <a:t>All 4 children of A form a right-skewed chain under B: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55464" y="1700784"/>
            <a:ext cx="347472" cy="347472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855464" y="177393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flipH="1">
            <a:off x="4297680" y="2048256"/>
            <a:ext cx="731520" cy="38404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123944" y="2432304"/>
            <a:ext cx="347472" cy="347472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123944" y="250545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7680" y="2779776"/>
            <a:ext cx="731520" cy="384048"/>
          </a:xfrm>
          <a:prstGeom prst="line">
            <a:avLst/>
          </a:prstGeom>
          <a:noFill/>
          <a:ln w="16510">
            <a:solidFill>
              <a:srgbClr val="FB923C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855464" y="3163824"/>
            <a:ext cx="347472" cy="347472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855464" y="323697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0" y="3511296"/>
            <a:ext cx="731520" cy="384048"/>
          </a:xfrm>
          <a:prstGeom prst="line">
            <a:avLst/>
          </a:prstGeom>
          <a:noFill/>
          <a:ln w="16510">
            <a:solidFill>
              <a:srgbClr val="FB923C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586984" y="3895344"/>
            <a:ext cx="347472" cy="347472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586984" y="396849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60720" y="4242816"/>
            <a:ext cx="731520" cy="384048"/>
          </a:xfrm>
          <a:prstGeom prst="line">
            <a:avLst/>
          </a:prstGeom>
          <a:noFill/>
          <a:ln w="16510">
            <a:solidFill>
              <a:srgbClr val="FB923C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318504" y="4626864"/>
            <a:ext cx="347472" cy="347472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318504" y="470001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2651760"/>
            <a:ext cx="36576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68680" y="256032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</a:rPr>
              <a:t>Left child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926080"/>
            <a:ext cx="365760" cy="0"/>
          </a:xfrm>
          <a:prstGeom prst="line">
            <a:avLst/>
          </a:prstGeom>
          <a:noFill/>
          <a:ln w="25400">
            <a:solidFill>
              <a:srgbClr val="FB923C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68680" y="2834640"/>
            <a:ext cx="2011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B923C"/>
                </a:solidFill>
              </a:rPr>
              <a:t>Right child (sibling chain)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-257175" y="43891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DE047"/>
                </a:solidFill>
              </a:rPr>
              <a:t>💡 Wide trees produce right-skewed subtrees in binary representation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DE047"/>
                </a:solidFill>
              </a:rPr>
              <a:t>Rule: Siblings form a right-chain in binary tree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Example 4: Multi-level: A→{B,C}, B→{D,E}, C→{F}, D→{G}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</a:rPr>
              <a:t>General Tree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93192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075688" y="1252728"/>
            <a:ext cx="329184" cy="329184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075688" y="131673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flipH="1">
            <a:off x="1508760" y="1581912"/>
            <a:ext cx="731520" cy="493776"/>
          </a:xfrm>
          <a:prstGeom prst="line">
            <a:avLst/>
          </a:prstGeom>
          <a:noFill/>
          <a:ln w="1651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240280" y="1581912"/>
            <a:ext cx="731520" cy="493776"/>
          </a:xfrm>
          <a:prstGeom prst="line">
            <a:avLst/>
          </a:prstGeom>
          <a:noFill/>
          <a:ln w="1651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344168" y="2075688"/>
            <a:ext cx="329184" cy="329184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344168" y="213969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07208" y="2075688"/>
            <a:ext cx="329184" cy="329184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807208" y="213969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flipH="1">
            <a:off x="1051560" y="2404872"/>
            <a:ext cx="457200" cy="493776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508760" y="2404872"/>
            <a:ext cx="457200" cy="493776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86968" y="2898648"/>
            <a:ext cx="329184" cy="329184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86968" y="296265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801368" y="2898648"/>
            <a:ext cx="329184" cy="329184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801368" y="296265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971800" y="2404872"/>
            <a:ext cx="9144" cy="493776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2807208" y="2898648"/>
            <a:ext cx="329184" cy="329184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807208" y="296265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51560" y="3227832"/>
            <a:ext cx="9144" cy="493776"/>
          </a:xfrm>
          <a:prstGeom prst="line">
            <a:avLst/>
          </a:prstGeom>
          <a:noFill/>
          <a:ln w="1397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86968" y="3721608"/>
            <a:ext cx="329184" cy="329184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86968" y="378561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343400" y="2834640"/>
            <a:ext cx="457200" cy="0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343400" y="265176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18CF8"/>
                </a:solidFill>
              </a:rPr>
              <a:t>→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937760" y="77724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</a:rPr>
              <a:t>Binary Tree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937760" y="1097280"/>
            <a:ext cx="393192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556248" y="1252728"/>
            <a:ext cx="329184" cy="329184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556248" y="131673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 flipH="1">
            <a:off x="6035040" y="1581912"/>
            <a:ext cx="685800" cy="493776"/>
          </a:xfrm>
          <a:prstGeom prst="line">
            <a:avLst/>
          </a:prstGeom>
          <a:noFill/>
          <a:ln w="16510">
            <a:solidFill>
              <a:srgbClr val="34D399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5870448" y="2075688"/>
            <a:ext cx="329184" cy="329184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870448" y="213969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035040" y="2404872"/>
            <a:ext cx="685800" cy="493776"/>
          </a:xfrm>
          <a:prstGeom prst="line">
            <a:avLst/>
          </a:prstGeom>
          <a:noFill/>
          <a:ln w="15240">
            <a:solidFill>
              <a:srgbClr val="FB923C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6556248" y="2898648"/>
            <a:ext cx="329184" cy="329184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556248" y="296265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 flipH="1">
            <a:off x="5532120" y="2404872"/>
            <a:ext cx="502920" cy="493776"/>
          </a:xfrm>
          <a:prstGeom prst="line">
            <a:avLst/>
          </a:prstGeom>
          <a:noFill/>
          <a:ln w="15240">
            <a:solidFill>
              <a:srgbClr val="34D399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5367528" y="2898648"/>
            <a:ext cx="329184" cy="329184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367528" y="296265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532120" y="3227832"/>
            <a:ext cx="502920" cy="493776"/>
          </a:xfrm>
          <a:prstGeom prst="line">
            <a:avLst/>
          </a:prstGeom>
          <a:noFill/>
          <a:ln w="13970">
            <a:solidFill>
              <a:srgbClr val="FB923C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5870448" y="3721608"/>
            <a:ext cx="329184" cy="329184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870448" y="378561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 flipH="1">
            <a:off x="5212080" y="3227832"/>
            <a:ext cx="320040" cy="493776"/>
          </a:xfrm>
          <a:prstGeom prst="line">
            <a:avLst/>
          </a:prstGeom>
          <a:noFill/>
          <a:ln w="13970">
            <a:solidFill>
              <a:srgbClr val="34D399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5047488" y="3721608"/>
            <a:ext cx="329184" cy="329184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5047488" y="378561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 flipH="1">
            <a:off x="6400800" y="3227832"/>
            <a:ext cx="320040" cy="493776"/>
          </a:xfrm>
          <a:prstGeom prst="line">
            <a:avLst/>
          </a:prstGeom>
          <a:noFill/>
          <a:ln w="13970">
            <a:solidFill>
              <a:srgbClr val="34D399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6236208" y="3721608"/>
            <a:ext cx="329184" cy="329184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236208" y="378561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Full multi-level example showing both left-child and right-sibling transformations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</a:rPr>
              <a:t>Example 4  ›  Step 1 of 2:  Process root A and its children B, C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818C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713232"/>
            <a:ext cx="8321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 has two children: B (first) and C (second). B → Left child of A. C → Right child of B (next sibling of B).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595360" cy="3429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508760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</a:rPr>
              <a:t>General Tree: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29384" y="1746504"/>
            <a:ext cx="347472" cy="347472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929384" y="181965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flipH="1">
            <a:off x="1371600" y="2093976"/>
            <a:ext cx="731520" cy="429768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97864" y="2523744"/>
            <a:ext cx="347472" cy="347472"/>
          </a:xfrm>
          <a:prstGeom prst="ellipse">
            <a:avLst/>
          </a:prstGeom>
          <a:solidFill>
            <a:srgbClr val="1E40AF"/>
          </a:solidFill>
          <a:ln w="25400">
            <a:solidFill>
              <a:srgbClr val="FDE04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97864" y="259689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103120" y="2093976"/>
            <a:ext cx="731520" cy="429768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660904" y="2523744"/>
            <a:ext cx="347472" cy="347472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660904" y="259689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flipH="1">
            <a:off x="914400" y="2871216"/>
            <a:ext cx="457200" cy="429768"/>
          </a:xfrm>
          <a:prstGeom prst="line">
            <a:avLst/>
          </a:prstGeom>
          <a:noFill/>
          <a:ln w="1397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40664" y="3300984"/>
            <a:ext cx="347472" cy="347472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0664" y="337413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371600" y="2871216"/>
            <a:ext cx="457200" cy="429768"/>
          </a:xfrm>
          <a:prstGeom prst="line">
            <a:avLst/>
          </a:prstGeom>
          <a:noFill/>
          <a:ln w="1397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655064" y="3300984"/>
            <a:ext cx="347472" cy="347472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655064" y="337413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834640" y="2871216"/>
            <a:ext cx="9144" cy="429768"/>
          </a:xfrm>
          <a:prstGeom prst="line">
            <a:avLst/>
          </a:prstGeom>
          <a:noFill/>
          <a:ln w="1397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2660904" y="3300984"/>
            <a:ext cx="347472" cy="347472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660904" y="337413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14400" y="3648456"/>
            <a:ext cx="9144" cy="338328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40664" y="3986784"/>
            <a:ext cx="347472" cy="347472"/>
          </a:xfrm>
          <a:prstGeom prst="ellipse">
            <a:avLst/>
          </a:prstGeom>
          <a:solidFill>
            <a:srgbClr val="1D4ED8"/>
          </a:solidFill>
          <a:ln w="254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40664" y="405993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389120" y="1508760"/>
            <a:ext cx="4389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</a:rPr>
              <a:t>Binary Tree (A level):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27064" y="1746504"/>
            <a:ext cx="347472" cy="347472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227064" y="181965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 flipH="1">
            <a:off x="5669280" y="2093976"/>
            <a:ext cx="731520" cy="429768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495544" y="2523744"/>
            <a:ext cx="347472" cy="347472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495544" y="259689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669280" y="2871216"/>
            <a:ext cx="731520" cy="429768"/>
          </a:xfrm>
          <a:prstGeom prst="line">
            <a:avLst/>
          </a:prstGeom>
          <a:noFill/>
          <a:ln w="19050">
            <a:solidFill>
              <a:srgbClr val="FB923C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227064" y="3300984"/>
            <a:ext cx="347472" cy="347472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227064" y="337413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166360" y="228600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</a:rPr>
              <a:t>Left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3017520"/>
            <a:ext cx="1554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B923C"/>
                </a:solidFill>
              </a:rPr>
              <a:t>Right (sibling)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DE047"/>
                </a:solidFill>
              </a:rPr>
              <a:t>Rule: First child → Left; Next sibling → Right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</a:rPr>
              <a:t>Example 4  ›  Step 2 of 2:  Process B's children D, E; C's child F; D's child 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818C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713232"/>
            <a:ext cx="8321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 = 1st child of B → Left of B. E = sibling of D → Right of D. F = 1st child of C → Left of C. G = 1st child of D → Left of 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595360" cy="3429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5087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</a:rPr>
              <a:t>Complete Binary Tree Result: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16552" y="1673352"/>
            <a:ext cx="310896" cy="310896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416552" y="1728216"/>
            <a:ext cx="3108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flipH="1">
            <a:off x="3840480" y="1984248"/>
            <a:ext cx="731520" cy="438912"/>
          </a:xfrm>
          <a:prstGeom prst="line">
            <a:avLst/>
          </a:prstGeom>
          <a:noFill/>
          <a:ln w="16510">
            <a:solidFill>
              <a:srgbClr val="34D399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685032" y="2423160"/>
            <a:ext cx="310896" cy="310896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685032" y="2478024"/>
            <a:ext cx="3108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0" y="2734056"/>
            <a:ext cx="731520" cy="438912"/>
          </a:xfrm>
          <a:prstGeom prst="line">
            <a:avLst/>
          </a:prstGeom>
          <a:noFill/>
          <a:ln w="15240">
            <a:solidFill>
              <a:srgbClr val="FB923C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416552" y="3172968"/>
            <a:ext cx="310896" cy="310896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416552" y="3227832"/>
            <a:ext cx="3108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flipH="1">
            <a:off x="3200400" y="2734056"/>
            <a:ext cx="640080" cy="438912"/>
          </a:xfrm>
          <a:prstGeom prst="line">
            <a:avLst/>
          </a:prstGeom>
          <a:noFill/>
          <a:ln w="15240">
            <a:solidFill>
              <a:srgbClr val="34D399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044952" y="3172968"/>
            <a:ext cx="310896" cy="310896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044952" y="3227832"/>
            <a:ext cx="3108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0" y="3483864"/>
            <a:ext cx="640080" cy="438912"/>
          </a:xfrm>
          <a:prstGeom prst="line">
            <a:avLst/>
          </a:prstGeom>
          <a:noFill/>
          <a:ln w="13970">
            <a:solidFill>
              <a:srgbClr val="FB923C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685032" y="3922776"/>
            <a:ext cx="310896" cy="310896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685032" y="3977640"/>
            <a:ext cx="3108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 flipH="1">
            <a:off x="2743200" y="3483864"/>
            <a:ext cx="457200" cy="438912"/>
          </a:xfrm>
          <a:prstGeom prst="line">
            <a:avLst/>
          </a:prstGeom>
          <a:noFill/>
          <a:ln w="13970">
            <a:solidFill>
              <a:srgbClr val="34D399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2587752" y="3922776"/>
            <a:ext cx="310896" cy="310896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587752" y="3977640"/>
            <a:ext cx="3108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 flipH="1">
            <a:off x="4206240" y="3483864"/>
            <a:ext cx="365760" cy="438912"/>
          </a:xfrm>
          <a:prstGeom prst="line">
            <a:avLst/>
          </a:prstGeom>
          <a:noFill/>
          <a:ln w="13970">
            <a:solidFill>
              <a:srgbClr val="34D399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050792" y="3922776"/>
            <a:ext cx="310896" cy="310896"/>
          </a:xfrm>
          <a:prstGeom prst="ellipse">
            <a:avLst/>
          </a:prstGeom>
          <a:solidFill>
            <a:srgbClr val="065F46"/>
          </a:solidFill>
          <a:ln w="25400">
            <a:solidFill>
              <a:srgbClr val="6EE7B7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050792" y="3977640"/>
            <a:ext cx="3108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468880" y="2560320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</a:rPr>
              <a:t>D=left(B)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63440" y="2560320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B923C"/>
                </a:solidFill>
              </a:rPr>
              <a:t>C=right(B)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011680" y="3291840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</a:rPr>
              <a:t>G=left(D)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931920" y="3291840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B923C"/>
                </a:solidFill>
              </a:rPr>
              <a:t>E=right(D)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206240" y="4023360"/>
            <a:ext cx="1097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</a:rPr>
              <a:t>F=left(C)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DE047"/>
                </a:solidFill>
              </a:rPr>
              <a:t>Rule: Apply all rules recursively at every level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Summary — General Tree to Binary Tree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834640" cy="132588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777240"/>
            <a:ext cx="2834640" cy="3200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77724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Rule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124712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</a:rPr>
              <a:t>Root → Root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Root of general tree becomes root of binary tree.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777240"/>
            <a:ext cx="2834640" cy="1325880"/>
          </a:xfrm>
          <a:prstGeom prst="rect">
            <a:avLst/>
          </a:prstGeom>
          <a:solidFill>
            <a:srgbClr val="1E293B"/>
          </a:solidFill>
          <a:ln w="254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200400" y="777240"/>
            <a:ext cx="2834640" cy="3200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200400" y="77724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Rule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124712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</a:rPr>
              <a:t>1st Child → Left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417320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First (leftmost) child becomes left child.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777240"/>
            <a:ext cx="2834640" cy="1325880"/>
          </a:xfrm>
          <a:prstGeom prst="rect">
            <a:avLst/>
          </a:prstGeom>
          <a:solidFill>
            <a:srgbClr val="1E293B"/>
          </a:solidFill>
          <a:ln w="25400">
            <a:solidFill>
              <a:srgbClr val="FB923C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26480" y="777240"/>
            <a:ext cx="2834640" cy="3200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77724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Rule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1124712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923C"/>
                </a:solidFill>
              </a:rPr>
              <a:t>Next Sibling → Right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1417320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Next sibling of a node becomes its right child.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224028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18CF8"/>
                </a:solidFill>
              </a:rPr>
              <a:t>Examples Covered: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2606040"/>
            <a:ext cx="2103120" cy="411480"/>
          </a:xfrm>
          <a:prstGeom prst="rect">
            <a:avLst/>
          </a:prstGeom>
          <a:solidFill>
            <a:srgbClr val="1E3A5F"/>
          </a:solidFill>
          <a:ln w="635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20040" y="2642616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18CF8"/>
                </a:solidFill>
              </a:rPr>
              <a:t>#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23160" y="2606040"/>
            <a:ext cx="2103120" cy="411480"/>
          </a:xfrm>
          <a:prstGeom prst="rect">
            <a:avLst/>
          </a:prstGeom>
          <a:solidFill>
            <a:srgbClr val="1E3A5F"/>
          </a:solidFill>
          <a:ln w="635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2468880" y="2642616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18CF8"/>
                </a:solidFill>
              </a:rPr>
              <a:t>General Tree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2606040"/>
            <a:ext cx="2103120" cy="411480"/>
          </a:xfrm>
          <a:prstGeom prst="rect">
            <a:avLst/>
          </a:prstGeom>
          <a:solidFill>
            <a:srgbClr val="1E3A5F"/>
          </a:solidFill>
          <a:ln w="635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617720" y="2642616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18CF8"/>
                </a:solidFill>
              </a:rPr>
              <a:t>Binary Tree Result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20840" y="2606040"/>
            <a:ext cx="2103120" cy="411480"/>
          </a:xfrm>
          <a:prstGeom prst="rect">
            <a:avLst/>
          </a:prstGeom>
          <a:solidFill>
            <a:srgbClr val="1E3A5F"/>
          </a:solidFill>
          <a:ln w="635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766560" y="2642616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18CF8"/>
                </a:solidFill>
              </a:rPr>
              <a:t>Key Observation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044952"/>
            <a:ext cx="210312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20040" y="3081528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423160" y="3044952"/>
            <a:ext cx="210312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468880" y="3081528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A→{B,C,D}, B→{E,F}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0" y="3044952"/>
            <a:ext cx="210312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617720" y="3081528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Left+right chain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20840" y="3044952"/>
            <a:ext cx="210312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766560" y="3081528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Mixed left/right children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3483864"/>
            <a:ext cx="210312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20040" y="352044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423160" y="3483864"/>
            <a:ext cx="210312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468880" y="352044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A→B→C→D (linear)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0" y="3483864"/>
            <a:ext cx="210312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4617720" y="352044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Left-skewed tree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720840" y="3483864"/>
            <a:ext cx="210312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766560" y="352044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Only child = always left child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3922776"/>
            <a:ext cx="210312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320040" y="3959352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3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423160" y="3922776"/>
            <a:ext cx="210312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2468880" y="3959352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A→{B,C,D,E}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0" y="3922776"/>
            <a:ext cx="210312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4617720" y="3959352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Right-skewed chain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720840" y="3922776"/>
            <a:ext cx="210312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6766560" y="3959352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Many siblings = right chain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74320" y="4361688"/>
            <a:ext cx="210312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320040" y="4398264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4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423160" y="4361688"/>
            <a:ext cx="210312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2468880" y="4398264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A→{B,C}, B→{D,E}, C→{F}, D→{G}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72000" y="4361688"/>
            <a:ext cx="210312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4617720" y="4398264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Full binary tree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720840" y="4361688"/>
            <a:ext cx="210312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6766560" y="4398264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Multi-level recursive conversion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B4D8"/>
                </a:solidFill>
              </a:rPr>
              <a:t>Section 4</a:t>
            </a:r>
            <a:endParaRPr sz="2200" b="0" i="0">
              <a:solidFill>
                <a:srgbClr val="00B4D8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Traversing a Binary Tree</a:t>
            </a:r>
            <a:endParaRPr sz="4000" b="1" i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41832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E5FF"/>
                </a:solidFill>
              </a:rPr>
              <a:t>Inorder, Preorder, Postorder, Level-Order</a:t>
            </a:r>
            <a:endParaRPr sz="2200" b="0" i="0">
              <a:solidFill>
                <a:srgbClr val="CCE5FF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is Tree Traversal?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Traversal = Visiting every node of the tree exactly ONCE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Unlike linear structures (array, list), trees can be traversed in multiple ways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Each traversal gives nodes in a different ORDER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The order of visiting Left (L), Node (N), Right (R) determines the traversal type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4 main traversals:</a:t>
            </a:r>
            <a:endParaRPr sz="1800" b="1">
              <a:solidFill>
                <a:srgbClr val="1A236A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1. Inorder   (L → N → R)  — gives sorted output for BST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2. Preorder  (N → L → R)  — used to copy/serialize a tree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3. Postorder (L → R → N)  — used to delete/evaluate a tree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4. Level-Order (BFS)      — visits nodes level by level</a:t>
            </a:r>
            <a:endParaRPr sz="1600" b="0">
              <a:solidFill>
                <a:srgbClr val="005C97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Time complexity: O(n) for all traversals (visit every node once)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Space complexity: O(h) for recursive (stack depth = tree height)</a:t>
            </a:r>
            <a:endParaRPr sz="1800" b="1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Tree Used for Traversal Examples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943600" cy="5394960"/>
          </a:xfrm>
          <a:prstGeom prst="rect">
            <a:avLst/>
          </a:prstGeom>
          <a:solidFill>
            <a:srgbClr val="1E1E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5669280" cy="5212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          [1]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         /   \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       [2]   [3]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      /   \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    [4]   [5]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   /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 [6]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endParaRPr sz="1500"/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Use this tree for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all traversal examples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on the following slides.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92240" y="1234440"/>
            <a:ext cx="5394960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Tree has 6 nodes: 1, 2, 3, 4, 5, 6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Root = 1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Left subtree of 1 = {2, 4, 5, 6}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Right subtree of 1 = {3}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Left subtree of 2 = {4, 6}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Right subtree of 2 = {5}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4 has left child 6 (leaf)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3, 5, 6 are LEAF nodes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We will trace each traversal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step-by-step on this tree</a:t>
            </a:r>
            <a:endParaRPr sz="1600" b="1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28600"/>
            <a:ext cx="11612880" cy="635508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172A"/>
                </a:solidFill>
              </a:rPr>
              <a:t>Tree Construction - C Code (week12A/week12B)</a:t>
            </a:r>
            <a:endParaRPr sz="2200" b="1">
              <a:solidFill>
                <a:srgbClr val="0F172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E40AF"/>
                </a:solidFill>
              </a:rPr>
              <a:t>Inserted after tree traversal topic start slide</a:t>
            </a:r>
            <a:endParaRPr sz="1200" b="1">
              <a:solidFill>
                <a:srgbClr val="1E40A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409319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E40AF"/>
                </a:solidFill>
              </a:rPr>
              <a:t>Tree construction in non-recursive file (main)</a:t>
            </a:r>
            <a:endParaRPr sz="1100" b="1">
              <a:solidFill>
                <a:srgbClr val="1E40A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1783080"/>
            <a:ext cx="107899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11827"/>
                </a:solidFill>
                <a:latin typeface="Consolas" panose="020B0609020204030204"/>
              </a:rPr>
              <a:t>/* Sample tree construction (week12A main style) */
struct Node* root  = newNode(1);
root-&gt;left         = newNode(2);
root-&gt;right        = newNode(3);
root-&gt;left-&gt;left   = newNode(4);
root-&gt;left-&gt;right  = newNode(5);
root-&gt;left-&gt;left-&gt;left = newNode(6);</a:t>
            </a:r>
            <a:endParaRPr sz="900">
              <a:solidFill>
                <a:srgbClr val="111827"/>
              </a:solidFill>
              <a:latin typeface="Consolas" panose="020B0609020204030204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Inorder Traversal (L → N → R)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66928" cy="566928"/>
          </a:xfrm>
          <a:prstGeom prst="rect">
            <a:avLst/>
          </a:prstGeom>
          <a:solidFill>
            <a:srgbClr val="00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77824" y="114300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14300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1: Start at ROOT node (Node 1)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4320" y="1783080"/>
            <a:ext cx="566928" cy="56692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7830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77824" y="178308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78308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2: Recursively traverse the LEFT subtree first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4320" y="2423160"/>
            <a:ext cx="566928" cy="56692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42316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77824" y="242316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42316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3: Visit the CURRENT node (print/process it)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4320" y="3063240"/>
            <a:ext cx="566928" cy="566928"/>
          </a:xfrm>
          <a:prstGeom prst="rect">
            <a:avLst/>
          </a:prstGeom>
          <a:solidFill>
            <a:srgbClr val="FF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0632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77824" y="306324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8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06324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4: Recursively traverse the RIGHT subtree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74320" y="3703320"/>
            <a:ext cx="566928" cy="566928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7033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77824" y="370332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70332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5: Apply recursively — first go all the way LEFT before visiting any node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74320" y="4343400"/>
            <a:ext cx="566928" cy="5669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43434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77824" y="434340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34340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Trace: 1→Left(2)→Left(4)→Left(6)→VISIT 6 → VISIT 4 → Right(4)=null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74320" y="4983480"/>
            <a:ext cx="566928" cy="56692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49834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7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77824" y="498348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98348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       → VISIT 2 → Right(2)=5 → VISIT 5 → VISIT 1 → Right(1)=3 → VISIT 3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74320" y="5623560"/>
            <a:ext cx="566928" cy="566928"/>
          </a:xfrm>
          <a:prstGeom prst="rect">
            <a:avLst/>
          </a:prstGeom>
          <a:solidFill>
            <a:srgbClr val="1A2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562356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8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77824" y="562356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2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562356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Result: 6 → 4 → 2 → 5 → 1 → 3  (LEFT most first!)</a:t>
            </a:r>
            <a:endParaRPr sz="1700" b="0" i="0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Inorder Traversal — C Code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1612880" cy="5120640"/>
          </a:xfrm>
          <a:prstGeom prst="rect">
            <a:avLst/>
          </a:prstGeom>
          <a:solidFill>
            <a:srgbClr val="1E1E2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846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500">
                <a:solidFill>
                  <a:srgbClr val="6A9955"/>
                </a:solidFill>
                <a:latin typeface="Courier New" panose="02070309020205020404"/>
              </a:rPr>
              <a:t>#include &lt;stdio.h&gt;</a:t>
            </a:r>
            <a:endParaRPr sz="1500">
              <a:solidFill>
                <a:srgbClr val="6A9955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6A9955"/>
                </a:solidFill>
                <a:latin typeface="Courier New" panose="02070309020205020404"/>
              </a:rPr>
              <a:t>#include &lt;stdlib.h&gt;</a:t>
            </a:r>
            <a:endParaRPr sz="1500">
              <a:solidFill>
                <a:srgbClr val="6A9955"/>
              </a:solidFill>
              <a:latin typeface="Courier New" panose="02070309020205020404"/>
            </a:endParaRPr>
          </a:p>
          <a:p>
            <a:endParaRPr sz="1500"/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struct Node {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int data;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struct Node *left, *right;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};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endParaRPr sz="1500"/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void inorder(struct Node* node) {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C586C0"/>
                </a:solidFill>
                <a:latin typeface="Courier New" panose="02070309020205020404"/>
              </a:rPr>
              <a:t>    if (node == NULL) return;  /* Base case */</a:t>
            </a:r>
            <a:endParaRPr sz="1500">
              <a:solidFill>
                <a:srgbClr val="C586C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inorder(node-&gt;left);       /* 1. Traverse LEFT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printf("%d ", node-&gt;data); /* 2. Visit NODE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inorder(node-&gt;right);      /* 3. Traverse RIGHT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}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endParaRPr sz="1500"/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/* Output for example tree: 6  4  2  5  1  3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/* KEY USE: Gives SORTED output for a BST! 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6355080"/>
            <a:ext cx="1161288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8600"/>
                </a:solidFill>
              </a:rPr>
              <a:t>📝  Inorder of a BST always gives elements in ascending sorted order.</a:t>
            </a:r>
            <a:endParaRPr sz="1300" b="0" i="1">
              <a:solidFill>
                <a:srgbClr val="FF860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Inorder Traversal - Example 1 - Step 1/7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2.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2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2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2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15468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8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97180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06908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14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Inorder Traversal - Example 1 - Step 2/7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4.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2, 4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4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2 -&gt; 4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15468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8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97180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06908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14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Inorder Traversal - Example 1 - Step 3/7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6.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2, 4, 6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6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2 -&gt; 4 -&gt; 6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15468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8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97180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06908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14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Inorder Traversal - Example 1 - Step 4/7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8.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2, 4, 6, 8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8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2 -&gt; 4 -&gt; 6 -&gt; 8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15468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8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97180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06908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14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Inorder Traversal - Example 1 - Step 5/7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10.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2, 4, 6, 8, 10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10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2 -&gt; 4 -&gt; 6 -&gt; 8 -&gt; 10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15468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8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971800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06908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14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Inorder Traversal - Example 1 - Step 6/7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12.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2, 4, 6, 8, 10, 12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12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2 -&gt; 4 -&gt; 6 -&gt; 8 -&gt; 10 -&gt; 12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15468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8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97180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06908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14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Inorder Traversal - Example 1 - Step 7/7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14.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2, 4, 6, 8, 10, 12, 14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14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2 -&gt; 4 -&gt; 6 -&gt; 8 -&gt; 10 -&gt; 12 -&gt; 14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15468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8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97180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069080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14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Inorder Traversal - Example 2 - Step 1/7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F.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F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F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F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18872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29184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R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K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Y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05840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01167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N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10896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T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11480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Z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Inorder Traversal - Example 2 - Step 2/7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K.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F, K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K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F -&gt; K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18872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29184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R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K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Y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0584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01167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N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10896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T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11480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Z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Inorder Traversal - Example 2 - Step 3/7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N.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F, K, N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N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F -&gt; K -&gt; N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18872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29184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R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K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Y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0584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011679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N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10896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T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11480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Z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Inorder Traversal - Example 2 - Step 4/7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R.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F, K, N, R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R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F -&gt; K -&gt; N -&gt; R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18872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29184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R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K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Y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0584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01167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N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10896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T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11480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Z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Inorder Traversal - Example 2 - Step 5/7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T.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F, K, N, R, T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T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F -&gt; K -&gt; N -&gt; R -&gt; T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18872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29184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R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K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Y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0584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01167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N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108960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T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11480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Z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Inorder Traversal - Example 2 - Step 6/7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Y.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F, K, N, R, T, Y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Y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F -&gt; K -&gt; N -&gt; R -&gt; T -&gt; Y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18872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29184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R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K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Y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0584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01167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N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1089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T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11480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Z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Inorder Traversal - Example 2 - Step 7/7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Z.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F, K, N, R, T, Y, Z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Z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F -&gt; K -&gt; N -&gt; R -&gt; T -&gt; Y -&gt; Z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18872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29184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R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K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Y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0584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01167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N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1089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T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114800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Z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Inorder Traversal - Example 3 - Step 1/7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20.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20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20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20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474720" y="2926080"/>
            <a:ext cx="1828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74720" y="4023360"/>
            <a:ext cx="685800" cy="8686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50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30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70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29183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3977639" y="4709159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69080" y="48006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65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Inorder Traversal - Example 3 - Step 2/7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30.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20, 30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30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20 -&gt; 30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474720" y="2926080"/>
            <a:ext cx="1828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74720" y="4023360"/>
            <a:ext cx="685800" cy="8686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50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30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70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29183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3977639" y="4709159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69080" y="48006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65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Inorder Traversal - Example 3 - Step 3/7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40.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20, 30, 40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40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20 -&gt; 30 -&gt; 40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474720" y="2926080"/>
            <a:ext cx="1828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74720" y="4023360"/>
            <a:ext cx="685800" cy="8686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50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30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70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29183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3977639" y="4709159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69080" y="48006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65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Inorder Traversal - Example 3 - Step 4/7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50.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20, 30, 40, 50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50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20 -&gt; 30 -&gt; 40 -&gt; 50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474720" y="2926080"/>
            <a:ext cx="1828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74720" y="4023360"/>
            <a:ext cx="685800" cy="8686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50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30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70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29183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3977639" y="4709159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69080" y="48006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65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Inorder Traversal - Example 3 - Step 5/7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60.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20, 30, 40, 50, 60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60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20 -&gt; 30 -&gt; 40 -&gt; 50 -&gt; 60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474720" y="2926080"/>
            <a:ext cx="1828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74720" y="4023360"/>
            <a:ext cx="685800" cy="8686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50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30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70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291839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3977639" y="4709159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69080" y="48006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65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Inorder Traversal - Example 3 - Step 6/7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65.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20, 30, 40, 50, 60, 65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65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20 -&gt; 30 -&gt; 40 -&gt; 50 -&gt; 60 -&gt; 65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474720" y="2926080"/>
            <a:ext cx="1828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74720" y="4023360"/>
            <a:ext cx="685800" cy="8686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50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30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70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29183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3977639" y="4709159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69080" y="48006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65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Inorder Traversal - Example 3 - Step 7/7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70.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20, 30, 40, 50, 60, 65, 70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70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20 -&gt; 30 -&gt; 40 -&gt; 50 -&gt; 60 -&gt; 65 -&gt; 70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474720" y="2926080"/>
            <a:ext cx="1828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74720" y="4023360"/>
            <a:ext cx="685800" cy="8686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50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30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70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29183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3977639" y="4709159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69080" y="48006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65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28600"/>
            <a:ext cx="11612880" cy="635508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172A"/>
                </a:solidFill>
              </a:rPr>
              <a:t>Inorder Traversal - C Functions (Recursive + Non-Recursive)</a:t>
            </a:r>
            <a:endParaRPr sz="2200" b="1">
              <a:solidFill>
                <a:srgbClr val="0F172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E40AF"/>
                </a:solidFill>
              </a:rPr>
              <a:t>Based on week12B_tree_traversal_recursive.c and week12A_tree_traversal_nonrecursive.c</a:t>
            </a:r>
            <a:endParaRPr sz="1200" b="1">
              <a:solidFill>
                <a:srgbClr val="1E40A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333881"/>
            <a:ext cx="1202055" cy="260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E40AF"/>
                </a:solidFill>
              </a:rPr>
              <a:t>Tree construction</a:t>
            </a:r>
            <a:endParaRPr sz="1100" b="1">
              <a:solidFill>
                <a:srgbClr val="1E40A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1690497"/>
            <a:ext cx="107899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11827"/>
                </a:solidFill>
                <a:latin typeface="Consolas" panose="020B0609020204030204"/>
              </a:rPr>
              <a:t>/* Sample tree construction (week12A main style) */
struct Node* root  = newNode(1);
root-&gt;left         = newNode(2);
root-&gt;right        = newNode(3);
root-&gt;left-&gt;left   = newNode(4);
root-&gt;left-&gt;right  = newNode(5);
root-&gt;left-&gt;left-&gt;left = newNode(6);</a:t>
            </a:r>
            <a:endParaRPr sz="900">
              <a:solidFill>
                <a:srgbClr val="111827"/>
              </a:solidFill>
              <a:latin typeface="Consolas" panose="020B0609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293522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E40AF"/>
                </a:solidFill>
              </a:rPr>
              <a:t>Recursive inorder()</a:t>
            </a:r>
            <a:endParaRPr sz="1100" b="1">
              <a:solidFill>
                <a:srgbClr val="1E40A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3308985"/>
            <a:ext cx="107899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11827"/>
                </a:solidFill>
                <a:latin typeface="Consolas" panose="020B0609020204030204"/>
              </a:rPr>
              <a:t>void inorder(struct Node* node) {
    if (node == NULL)    /* Base case: empty subtree — stop recursion */
        return;
    inorder(node-&gt;left);           /* Step 1: Go LEFT */
    printf("%d ", node-&gt;data);     /* Step 2: VISIT (print) current node */
    inorder(node-&gt;right);          /* Step 3: Go RIGHT */
}</a:t>
            </a:r>
            <a:endParaRPr sz="900">
              <a:solidFill>
                <a:srgbClr val="111827"/>
              </a:solidFill>
              <a:latin typeface="Consolas" panose="020B0609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89428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E40AF"/>
                </a:solidFill>
              </a:rPr>
              <a:t>Non-recursive inorder()</a:t>
            </a:r>
            <a:endParaRPr sz="1100" b="1">
              <a:solidFill>
                <a:srgbClr val="1E40A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9162288"/>
            <a:ext cx="107899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11827"/>
                </a:solidFill>
                <a:latin typeface="Consolas" panose="020B0609020204030204"/>
              </a:rPr>
              <a:t>void inorder(struct Node* root) {
    struct Node* stack[MAX];   /* plain array as stack */
    int top = -1;
    int result[MAX];
    int size = 0;
    struct Node* cur = root;
    while (cur != NULL || top != -1) {
        /* Go left, pushing each node */
        while (cur != NULL) {
            stack[++top] = cur;
            cur = cur-&gt;left;
        }
        /* Pop, visit, then go right */
        cur = stack[top--];
        result[size++] = cur-&gt;data;
        cur = cur-&gt;right;
    }
    printf("Inorder   (L-&gt;Node-&gt;R) : ");
    int i;
    for (i = 0; i &lt; size; i++)
        printf("%d ", result[i]);
    printf("\n");
}</a:t>
            </a:r>
            <a:endParaRPr sz="900">
              <a:solidFill>
                <a:srgbClr val="111827"/>
              </a:solidFill>
              <a:latin typeface="Consolas" panose="020B0609020204030204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Preorder Traversal (N → L → R)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66928" cy="566928"/>
          </a:xfrm>
          <a:prstGeom prst="rect">
            <a:avLst/>
          </a:prstGeom>
          <a:solidFill>
            <a:srgbClr val="00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77824" y="114300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14300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1: Visit the CURRENT (root) node FIRST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4320" y="1783080"/>
            <a:ext cx="566928" cy="56692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7830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77824" y="178308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78308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2: Recursively traverse the LEFT subtree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4320" y="2423160"/>
            <a:ext cx="566928" cy="56692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42316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77824" y="242316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42316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3: Recursively traverse the RIGHT subtree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4320" y="3063240"/>
            <a:ext cx="566928" cy="566928"/>
          </a:xfrm>
          <a:prstGeom prst="rect">
            <a:avLst/>
          </a:prstGeom>
          <a:solidFill>
            <a:srgbClr val="FF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0632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77824" y="306324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8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06324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4: Recursion: at each node, print it BEFORE going to children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74320" y="3703320"/>
            <a:ext cx="566928" cy="566928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7033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77824" y="370332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70332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Trace: VISIT 1 → Left(2) → VISIT 2 → Left(4) → VISIT 4 → Left(6)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74320" y="4343400"/>
            <a:ext cx="566928" cy="5669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43434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77824" y="434340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34340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       → VISIT 6 → Right(4)=null → Right(2)=5 → VISIT 5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74320" y="4983480"/>
            <a:ext cx="566928" cy="56692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49834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7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77824" y="498348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98348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       → Right(1)=3 → VISIT 3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74320" y="5623560"/>
            <a:ext cx="566928" cy="566928"/>
          </a:xfrm>
          <a:prstGeom prst="rect">
            <a:avLst/>
          </a:prstGeom>
          <a:solidFill>
            <a:srgbClr val="1A2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562356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8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77824" y="562356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2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562356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Result: 1 → 2 → 4 → 6 → 5 → 3  (Root first!)</a:t>
            </a:r>
            <a:endParaRPr sz="1700" b="0" i="0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Preorder Traversal — C Code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1612880" cy="5120640"/>
          </a:xfrm>
          <a:prstGeom prst="rect">
            <a:avLst/>
          </a:prstGeom>
          <a:solidFill>
            <a:srgbClr val="1E1E2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846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void preorder(struct Node* node) {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C586C0"/>
                </a:solidFill>
                <a:latin typeface="Courier New" panose="02070309020205020404"/>
              </a:rPr>
              <a:t>    if (node == NULL) return;   /* Base case */</a:t>
            </a:r>
            <a:endParaRPr sz="1500">
              <a:solidFill>
                <a:srgbClr val="C586C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printf("%d ", node-&gt;data);  /* 1. Visit NODE first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preorder(node-&gt;left);        /* 2. Traverse LEFT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preorder(node-&gt;right);       /* 3. Traverse RIGHT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}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endParaRPr sz="1500"/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/* Output: 1  2  4  6  5  3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endParaRPr sz="1500"/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/* USE CASES: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/* - Copy / Clone a tree (parent before children)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/* - Serialize a tree to a file and restore it 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/* - Prefix expression evaluation (Polish notation)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/* - Print directory structure (folder before files)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6355080"/>
            <a:ext cx="1161288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8600"/>
                </a:solidFill>
              </a:rPr>
              <a:t>📝  Preorder visits Root BEFORE its children — useful for tree serialization.</a:t>
            </a:r>
            <a:endParaRPr sz="1300" b="0" i="1">
              <a:solidFill>
                <a:srgbClr val="FF8600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Preorder Traversal - Example 1 - Step 1/7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8.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8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8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8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15468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8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97180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06908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14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Preorder Traversal - Example 1 - Step 2/7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4.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8, 4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4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8 -&gt; 4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15468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8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97180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06908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14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Preorder Traversal - Example 1 - Step 3/7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2.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8, 4, 2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2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8 -&gt; 4 -&gt; 2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15468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8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97180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06908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14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Preorder Traversal - Example 1 - Step 4/7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6.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8, 4, 2, 6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6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8 -&gt; 4 -&gt; 2 -&gt; 6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15468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8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97180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06908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14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Preorder Traversal - Example 1 - Step 5/7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12.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8, 4, 2, 6, 12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12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8 -&gt; 4 -&gt; 2 -&gt; 6 -&gt; 12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15468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8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97180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06908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14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Preorder Traversal - Example 1 - Step 6/7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10.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8, 4, 2, 6, 12, 10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10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8 -&gt; 4 -&gt; 2 -&gt; 6 -&gt; 12 -&gt; 10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15468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8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971800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06908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14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Preorder Traversal - Example 1 - Step 7/7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14.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8, 4, 2, 6, 12, 10, 14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14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8 -&gt; 4 -&gt; 2 -&gt; 6 -&gt; 12 -&gt; 10 -&gt; 14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15468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8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97180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069080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14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Preorder Traversal - Example 2 - Step 1/7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R.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R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R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R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18872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29184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R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K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Y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0584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01167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N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10896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T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11480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Z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Preorder Traversal - Example 2 - Step 2/7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K.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R, K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K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R -&gt; K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18872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29184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R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K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Y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0584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01167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N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10896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T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11480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Z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Preorder Traversal - Example 2 - Step 3/7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F.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R, K, F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F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R -&gt; K -&gt; F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18872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29184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R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K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Y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05840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01167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N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10896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T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11480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Z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Preorder Traversal - Example 2 - Step 4/7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N.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R, K, F, N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N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R -&gt; K -&gt; F -&gt; N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18872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29184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R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K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Y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0584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011679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N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10896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T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11480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Z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Preorder Traversal - Example 2 - Step 5/7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Y.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R, K, F, N, Y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Y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R -&gt; K -&gt; F -&gt; N -&gt; Y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18872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29184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R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K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Y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0584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01167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N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10896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T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11480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Z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Preorder Traversal - Example 2 - Step 6/7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T.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R, K, F, N, Y, T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T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R -&gt; K -&gt; F -&gt; N -&gt; Y -&gt; T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18872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29184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R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K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Y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0584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01167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N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108960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T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11480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Z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Preorder Traversal - Example 2 - Step 7/7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Z.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R, K, F, N, Y, T, Z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Z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R -&gt; K -&gt; F -&gt; N -&gt; Y -&gt; T -&gt; Z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18872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29184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R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K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Y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0584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01167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N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1089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T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114800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Z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Preorder Traversal - Example 3 - Step 1/7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50.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50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50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50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474720" y="2926080"/>
            <a:ext cx="1828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74720" y="4023360"/>
            <a:ext cx="685800" cy="8686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50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30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70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29183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3977639" y="4709159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69080" y="48006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65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Preorder Traversal - Example 3 - Step 2/7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30.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50, 30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30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50 -&gt; 30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474720" y="2926080"/>
            <a:ext cx="1828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74720" y="4023360"/>
            <a:ext cx="685800" cy="8686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50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30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70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29183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3977639" y="4709159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69080" y="48006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65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Preorder Traversal - Example 3 - Step 3/7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20.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50, 30, 20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20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50 -&gt; 30 -&gt; 20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474720" y="2926080"/>
            <a:ext cx="1828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74720" y="4023360"/>
            <a:ext cx="685800" cy="8686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50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30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70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29183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3977639" y="4709159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69080" y="48006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65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Preorder Traversal - Example 3 - Step 4/7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40.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50, 30, 20, 40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40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50 -&gt; 30 -&gt; 20 -&gt; 40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474720" y="2926080"/>
            <a:ext cx="1828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74720" y="4023360"/>
            <a:ext cx="685800" cy="8686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50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30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70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29183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3977639" y="4709159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69080" y="48006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65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Preorder Traversal - Example 3 - Step 5/7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70.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50, 30, 20, 40, 70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70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50 -&gt; 30 -&gt; 20 -&gt; 40 -&gt; 70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474720" y="2926080"/>
            <a:ext cx="1828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74720" y="4023360"/>
            <a:ext cx="685800" cy="8686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50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30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70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29183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3977639" y="4709159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69080" y="48006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65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Preorder Traversal - Example 3 - Step 6/7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60.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50, 30, 20, 40, 70, 60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60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50 -&gt; 30 -&gt; 20 -&gt; 40 -&gt; 70 -&gt; 60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474720" y="2926080"/>
            <a:ext cx="1828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74720" y="4023360"/>
            <a:ext cx="685800" cy="8686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50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30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70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291839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3977639" y="4709159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69080" y="48006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65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Preorder Traversal - Example 3 - Step 7/7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65.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50, 30, 20, 40, 70, 60, 65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65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50 -&gt; 30 -&gt; 20 -&gt; 40 -&gt; 70 -&gt; 60 -&gt; 65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474720" y="2926080"/>
            <a:ext cx="1828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74720" y="4023360"/>
            <a:ext cx="685800" cy="8686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50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30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70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29183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3977639" y="4709159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69080" y="48006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65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28600"/>
            <a:ext cx="11612880" cy="635508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172A"/>
                </a:solidFill>
              </a:rPr>
              <a:t>Preorder Traversal - C Functions (Recursive + Non-Recursive)</a:t>
            </a:r>
            <a:endParaRPr sz="2200" b="1">
              <a:solidFill>
                <a:srgbClr val="0F172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E40AF"/>
                </a:solidFill>
              </a:rPr>
              <a:t>Based on week12B_tree_traversal_recursive.c and week12A_tree_traversal_nonrecursive.c</a:t>
            </a:r>
            <a:endParaRPr sz="1200" b="1">
              <a:solidFill>
                <a:srgbClr val="1E40A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207516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E40AF"/>
                </a:solidFill>
              </a:rPr>
              <a:t>Tree construction (non-recursive file)</a:t>
            </a:r>
            <a:endParaRPr sz="1100" b="1">
              <a:solidFill>
                <a:srgbClr val="1E40A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1614297"/>
            <a:ext cx="107899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11827"/>
                </a:solidFill>
                <a:latin typeface="Consolas" panose="020B0609020204030204"/>
              </a:rPr>
              <a:t>/* Sample tree construction (week12A main style) */
struct Node* root  = newNode(1);
root-&gt;left         = newNode(2);
root-&gt;right        = newNode(3);
root-&gt;left-&gt;left   = newNode(4);
root-&gt;left-&gt;right  = newNode(5);
root-&gt;left-&gt;left-&gt;left = newNode(6);</a:t>
            </a:r>
            <a:endParaRPr sz="900">
              <a:solidFill>
                <a:srgbClr val="111827"/>
              </a:solidFill>
              <a:latin typeface="Consolas" panose="020B0609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3041269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E40AF"/>
                </a:solidFill>
              </a:rPr>
              <a:t>Recursive preorder()</a:t>
            </a:r>
            <a:endParaRPr sz="1100" b="1">
              <a:solidFill>
                <a:srgbClr val="1E40A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3622675"/>
            <a:ext cx="107899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11827"/>
                </a:solidFill>
                <a:latin typeface="Consolas" panose="020B0609020204030204"/>
              </a:rPr>
              <a:t>void preorder(struct Node* node) {
    if (node == NULL)    /* Base case */
        return;
    printf("%d ", node-&gt;data);     /* Step 1: VISIT (print) current node FIRST */
    preorder(node-&gt;left);          /* Step 2: Go LEFT */
    preorder(node-&gt;right);         /* Step 3: Go RIGHT */
}</a:t>
            </a:r>
            <a:endParaRPr sz="900">
              <a:solidFill>
                <a:srgbClr val="111827"/>
              </a:solidFill>
              <a:latin typeface="Consolas" panose="020B0609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89428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E40AF"/>
                </a:solidFill>
              </a:rPr>
              <a:t>Non-recursive preorder()</a:t>
            </a:r>
            <a:endParaRPr sz="1100" b="1">
              <a:solidFill>
                <a:srgbClr val="1E40A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9162288"/>
            <a:ext cx="107899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11827"/>
                </a:solidFill>
                <a:latin typeface="Consolas" panose="020B0609020204030204"/>
              </a:rPr>
              <a:t>void preorder(struct Node* root) {
    if (root == NULL) return;
    struct Node* stack[MAX];
    int top = -1;
    int result[MAX];
    int size = 0;
    stack[++top] = root;
    while (top != -1) {
        struct Node* node = stack[top--];  /* Pop and visit */
        result[size++] = node-&gt;data;
        /* Push right first so left is processed first */
        if (node-&gt;right != NULL) stack[++top] = node-&gt;right;
        if (node-&gt;left  != NULL) stack[++top] = node-&gt;left;
    }
    printf("Preorder  (Node-&gt;L-&gt;R) : ");
    int i;
    for (i = 0; i &lt; size; i++)
        printf("%d ", result[i]);
    printf("\n");
}</a:t>
            </a:r>
            <a:endParaRPr sz="900">
              <a:solidFill>
                <a:srgbClr val="111827"/>
              </a:solidFill>
              <a:latin typeface="Consolas" panose="020B0609020204030204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Postorder Traversal (L → R → N)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66928" cy="566928"/>
          </a:xfrm>
          <a:prstGeom prst="rect">
            <a:avLst/>
          </a:prstGeom>
          <a:solidFill>
            <a:srgbClr val="00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77824" y="114300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14300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1: Recursively traverse the LEFT subtree first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4320" y="1783080"/>
            <a:ext cx="566928" cy="56692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7830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77824" y="178308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78308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2: Recursively traverse the RIGHT subtree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4320" y="2423160"/>
            <a:ext cx="566928" cy="56692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42316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77824" y="242316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42316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3: Visit the CURRENT node LAST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4320" y="3063240"/>
            <a:ext cx="566928" cy="566928"/>
          </a:xfrm>
          <a:prstGeom prst="rect">
            <a:avLst/>
          </a:prstGeom>
          <a:solidFill>
            <a:srgbClr val="FF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0632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77824" y="306324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8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06324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4: Children are processed BEFORE the parent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74320" y="3703320"/>
            <a:ext cx="566928" cy="566928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7033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77824" y="370332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70332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Trace: Left(1)→Left(2)→Left(4)→Left(6)→null → Right(6)=null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74320" y="4343400"/>
            <a:ext cx="566928" cy="5669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43434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77824" y="434340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34340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       → VISIT 6 → VISIT 4 → Right(2)=5→VISIT 5 → VISIT 2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74320" y="4983480"/>
            <a:ext cx="566928" cy="56692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49834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7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77824" y="498348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98348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       → Right(1)=3 → VISIT 3 → VISIT 1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74320" y="5623560"/>
            <a:ext cx="566928" cy="566928"/>
          </a:xfrm>
          <a:prstGeom prst="rect">
            <a:avLst/>
          </a:prstGeom>
          <a:solidFill>
            <a:srgbClr val="1A2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562356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8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77824" y="562356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2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562356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Result: 6 → 4 → 5 → 2 → 3 → 1  (Root LAST!)</a:t>
            </a:r>
            <a:endParaRPr sz="1700" b="0" i="0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Postorder Traversal — C Code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1612880" cy="5120640"/>
          </a:xfrm>
          <a:prstGeom prst="rect">
            <a:avLst/>
          </a:prstGeom>
          <a:solidFill>
            <a:srgbClr val="1E1E2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846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void postorder(struct Node* node) {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C586C0"/>
                </a:solidFill>
                <a:latin typeface="Courier New" panose="02070309020205020404"/>
              </a:rPr>
              <a:t>    if (node == NULL) return;   /* Base case */</a:t>
            </a:r>
            <a:endParaRPr sz="1500">
              <a:solidFill>
                <a:srgbClr val="C586C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postorder(node-&gt;left);       /* 1. Traverse LEFT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postorder(node-&gt;right);      /* 2. Traverse RIGHT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printf("%d ", node-&gt;data);  /* 3. Visit NODE last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}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endParaRPr sz="1500"/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/* Output: 6  4  5  2  3  1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endParaRPr sz="1500"/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/* USE CASES: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/* - Delete a tree (delete children before parent)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/* - Evaluate arithmetic expression trees        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/* - Postfix expression (Reverse Polish Notation)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/* - Computing size/height of a tree             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6355080"/>
            <a:ext cx="1161288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8600"/>
                </a:solidFill>
              </a:rPr>
              <a:t>📝  Postorder visits children BEFORE parent — useful for deletion and evaluation.</a:t>
            </a:r>
            <a:endParaRPr sz="1300" b="0" i="1">
              <a:solidFill>
                <a:srgbClr val="FF8600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Postorder Traversal - Example 1 - Step 1/7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2.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2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2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2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15468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8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97180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06908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14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Postorder Traversal - Example 1 - Step 2/7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6.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2, 6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6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2 -&gt; 6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15468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8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97180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06908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14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Postorder Traversal - Example 1 - Step 3/7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4.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2, 6, 4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4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2 -&gt; 6 -&gt; 4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15468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8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97180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06908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14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Postorder Traversal - Example 1 - Step 4/7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10.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2, 6, 4, 10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10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2 -&gt; 6 -&gt; 4 -&gt; 10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15468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8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971800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06908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14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Postorder Traversal - Example 1 - Step 5/7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14.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2, 6, 4, 10, 14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14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2 -&gt; 6 -&gt; 4 -&gt; 10 -&gt; 14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15468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8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97180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069080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14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Postorder Traversal - Example 1 - Step 6/7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12.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2, 6, 4, 10, 14, 12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12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2 -&gt; 6 -&gt; 4 -&gt; 10 -&gt; 14 -&gt; 12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15468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8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97180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06908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14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Postorder Traversal - Example 1 - Step 7/7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8.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2, 6, 4, 10, 14, 12, 8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8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2 -&gt; 6 -&gt; 4 -&gt; 10 -&gt; 14 -&gt; 12 -&gt; 8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15468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8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97180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06908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14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Postorder Traversal - Example 2 - Step 1/7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F.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F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F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F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18872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29184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R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K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Y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05840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01167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N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10896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T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11480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Z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Postorder Traversal - Example 2 - Step 2/7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N.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F, N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N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F -&gt; N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18872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29184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R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K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Y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0584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011679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N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10896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T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11480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Z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Postorder Traversal - Example 2 - Step 3/7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K.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F, N, K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K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F -&gt; N -&gt; K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18872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29184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R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K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Y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0584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01167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N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10896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T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11480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Z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Postorder Traversal - Example 2 - Step 4/7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T.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F, N, K, T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T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F -&gt; N -&gt; K -&gt; T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18872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29184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R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K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Y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0584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01167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N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108960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T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11480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Z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Postorder Traversal - Example 2 - Step 5/7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Z.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F, N, K, T, Z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Z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F -&gt; N -&gt; K -&gt; T -&gt; Z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18872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29184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R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K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Y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0584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01167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N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1089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T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114800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Z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Postorder Traversal - Example 2 - Step 6/7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Y.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F, N, K, T, Z, Y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Y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F -&gt; N -&gt; K -&gt; T -&gt; Z -&gt; Y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18872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29184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R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K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Y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0584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01167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N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1089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T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11480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Z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Postorder Traversal - Example 2 - Step 7/7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R.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F, N, K, T, Z, Y, R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R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F -&gt; N -&gt; K -&gt; T -&gt; Z -&gt; Y -&gt; R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18872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29184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R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K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Y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0584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01167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N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1089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T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11480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Z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Postorder Traversal - Example 3 - Step 1/7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20.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20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20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20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474720" y="2926080"/>
            <a:ext cx="1828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74720" y="4023360"/>
            <a:ext cx="685800" cy="8686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50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30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70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29183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3977639" y="4709159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69080" y="48006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65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Postorder Traversal - Example 3 - Step 2/7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40.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20, 40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40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20 -&gt; 40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474720" y="2926080"/>
            <a:ext cx="1828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74720" y="4023360"/>
            <a:ext cx="685800" cy="8686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50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30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70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29183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3977639" y="4709159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69080" y="48006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65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Postorder Traversal - Example 3 - Step 3/7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30.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20, 40, 30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30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20 -&gt; 40 -&gt; 30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474720" y="2926080"/>
            <a:ext cx="1828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74720" y="4023360"/>
            <a:ext cx="685800" cy="8686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50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30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70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29183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3977639" y="4709159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69080" y="48006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65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Postorder Traversal - Example 3 - Step 4/7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65.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20, 40, 30, 65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65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20 -&gt; 40 -&gt; 30 -&gt; 65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474720" y="2926080"/>
            <a:ext cx="1828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74720" y="4023360"/>
            <a:ext cx="685800" cy="8686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50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30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70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29183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3977639" y="4709159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69080" y="48006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65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Postorder Traversal - Example 3 - Step 5/7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60.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20, 40, 30, 65, 60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60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20 -&gt; 40 -&gt; 30 -&gt; 65 -&gt; 60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474720" y="2926080"/>
            <a:ext cx="1828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74720" y="4023360"/>
            <a:ext cx="685800" cy="8686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50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30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70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291839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3977639" y="4709159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69080" y="48006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65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Postorder Traversal - Example 3 - Step 6/7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70.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20, 40, 30, 65, 60, 70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70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20 -&gt; 40 -&gt; 30 -&gt; 65 -&gt; 60 -&gt; 70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474720" y="2926080"/>
            <a:ext cx="1828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74720" y="4023360"/>
            <a:ext cx="685800" cy="8686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50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30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70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29183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3977639" y="4709159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69080" y="48006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65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Postorder Traversal - Example 3 - Step 7/7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50.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20, 40, 30, 65, 60, 70, 50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50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20 -&gt; 40 -&gt; 30 -&gt; 65 -&gt; 60 -&gt; 70 -&gt; 50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474720" y="2926080"/>
            <a:ext cx="1828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74720" y="4023360"/>
            <a:ext cx="685800" cy="8686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50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30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70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29183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3977639" y="4709159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69080" y="48006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65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28600"/>
            <a:ext cx="11612880" cy="635508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172A"/>
                </a:solidFill>
              </a:rPr>
              <a:t>Postorder Traversal - C Functions (Recursive + Non-Recursive)</a:t>
            </a:r>
            <a:endParaRPr sz="2200" b="1">
              <a:solidFill>
                <a:srgbClr val="0F172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E40AF"/>
                </a:solidFill>
              </a:rPr>
              <a:t>Based on week12B_tree_traversal_recursive.c and week12A_tree_traversal_nonrecursive.c</a:t>
            </a:r>
            <a:endParaRPr sz="1200" b="1">
              <a:solidFill>
                <a:srgbClr val="1E40A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642491"/>
            <a:ext cx="1233805" cy="260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E40AF"/>
                </a:solidFill>
              </a:rPr>
              <a:t>Tree construction </a:t>
            </a:r>
            <a:endParaRPr sz="1100" b="1">
              <a:solidFill>
                <a:srgbClr val="1E40A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1964817"/>
            <a:ext cx="107899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11827"/>
                </a:solidFill>
                <a:latin typeface="Consolas" panose="020B0609020204030204"/>
              </a:rPr>
              <a:t>/* Sample tree construction (week12A main style) */
struct Node* root  = newNode(1);
root-&gt;left         = newNode(2);
root-&gt;right        = newNode(3);
root-&gt;left-&gt;left   = newNode(4);
root-&gt;left-&gt;right  = newNode(5);
root-&gt;left-&gt;left-&gt;left = newNode(6);</a:t>
            </a:r>
            <a:endParaRPr sz="900">
              <a:solidFill>
                <a:srgbClr val="111827"/>
              </a:solidFill>
              <a:latin typeface="Consolas" panose="020B0609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089529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E40AF"/>
                </a:solidFill>
              </a:rPr>
              <a:t>Recursive postorder()</a:t>
            </a:r>
            <a:endParaRPr sz="1100" b="1">
              <a:solidFill>
                <a:srgbClr val="1E40A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3360420"/>
            <a:ext cx="107899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11827"/>
                </a:solidFill>
                <a:latin typeface="Consolas" panose="020B0609020204030204"/>
              </a:rPr>
              <a:t>void postorder(struct Node* node) {
    if (node == NULL)    /* Base case */
        return;
    postorder(node-&gt;left);         /* Step 1: Go LEFT */
    postorder(node-&gt;right);        /* Step 2: Go RIGHT */
    printf("%d ", node-&gt;data);     /* Step 3: VISIT (print) current node LAST */
}</a:t>
            </a:r>
            <a:endParaRPr sz="900">
              <a:solidFill>
                <a:srgbClr val="111827"/>
              </a:solidFill>
              <a:latin typeface="Consolas" panose="020B0609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89428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E40AF"/>
                </a:solidFill>
              </a:rPr>
              <a:t>Non-recursive postorder()</a:t>
            </a:r>
            <a:endParaRPr sz="1100" b="1">
              <a:solidFill>
                <a:srgbClr val="1E40A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9162288"/>
            <a:ext cx="107899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11827"/>
                </a:solidFill>
                <a:latin typeface="Consolas" panose="020B0609020204030204"/>
              </a:rPr>
              <a:t>void postorder(struct Node* root) {
    if (root == NULL) return;
    struct Node* s1[MAX];   /* stack 1: traversal */
    struct Node* s2[MAX];   /* stack 2: result collector */
    int t1 = -1, t2 = -1;
    s1[++t1] = root;
    while (t1 != -1) {
        struct Node* node = s1[t1--];  /* Pop from stack1 */
        s2[++t2] = node;               /* Push to stack2 */
        /* Push left then right to stack1 */
        if (node-&gt;left  != NULL) s1[++t1] = node-&gt;left;
        if (node-&gt;right != NULL) s1[++t1] = node-&gt;right;
    }
    /* Pop stack2 for postorder result */
    int result[MAX];
    int size = 0;
    while (t2 != -1)
        result[size++] = s2[t2--]-&gt;data;
    printf("Postorder (L-&gt;R-&gt;Node) : ");
    int i;
    for (i = 0; i &lt; size; i++)
        printf("%d ", result[i]);
    printf("\n");
}</a:t>
            </a:r>
            <a:endParaRPr sz="900">
              <a:solidFill>
                <a:srgbClr val="111827"/>
              </a:solidFill>
              <a:latin typeface="Consolas" panose="020B0609020204030204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Level-Order Traversal (BFS)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66928" cy="566928"/>
          </a:xfrm>
          <a:prstGeom prst="rect">
            <a:avLst/>
          </a:prstGeom>
          <a:solidFill>
            <a:srgbClr val="00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77824" y="114300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14300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1: Start at ROOT — add it to a QUEUE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4320" y="1783080"/>
            <a:ext cx="566928" cy="56692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7830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77824" y="178308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78308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2: Dequeue the front node, VISIT (print) it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4320" y="2423160"/>
            <a:ext cx="566928" cy="56692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42316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77824" y="242316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42316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3: Enqueue its LEFT child (if exists)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4320" y="3063240"/>
            <a:ext cx="566928" cy="566928"/>
          </a:xfrm>
          <a:prstGeom prst="rect">
            <a:avLst/>
          </a:prstGeom>
          <a:solidFill>
            <a:srgbClr val="FF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0632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77824" y="306324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8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06324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4: Enqueue its RIGHT child (if exists)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74320" y="3703320"/>
            <a:ext cx="566928" cy="566928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7033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77824" y="370332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70332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5: Repeat Steps 2-4 until queue is EMPTY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74320" y="4343400"/>
            <a:ext cx="566928" cy="5669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43434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77824" y="434340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34340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6: Nodes are visited level by level, left to right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74320" y="4983480"/>
            <a:ext cx="566928" cy="56692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49834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7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77824" y="498348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98348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Trace: Queue=[1] → Visit 1, Enqueue 2,3 → Queue=[2,3]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74320" y="5623560"/>
            <a:ext cx="566928" cy="566928"/>
          </a:xfrm>
          <a:prstGeom prst="rect">
            <a:avLst/>
          </a:prstGeom>
          <a:solidFill>
            <a:srgbClr val="1A2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562356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8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77824" y="562356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2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562356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       Visit 2, Enqueue 4,5 → Queue=[3,4,5] → Visit 3,4,5,6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74320" y="6263640"/>
            <a:ext cx="566928" cy="566928"/>
          </a:xfrm>
          <a:prstGeom prst="rect">
            <a:avLst/>
          </a:prstGeom>
          <a:solidFill>
            <a:srgbClr val="00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2636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9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877824" y="626364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626364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Result: 1 → 2 → 3 → 4 → 5 → 6  (Level by level!)</a:t>
            </a:r>
            <a:endParaRPr sz="1700" b="0" i="0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Level-Order Traversal — C Code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1612880" cy="5120640"/>
          </a:xfrm>
          <a:prstGeom prst="rect">
            <a:avLst/>
          </a:prstGeom>
          <a:solidFill>
            <a:srgbClr val="1E1E2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846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500">
                <a:solidFill>
                  <a:srgbClr val="6A9955"/>
                </a:solidFill>
                <a:latin typeface="Courier New" panose="02070309020205020404"/>
              </a:rPr>
              <a:t>#define MAX 100</a:t>
            </a:r>
            <a:endParaRPr sz="1500">
              <a:solidFill>
                <a:srgbClr val="6A9955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void levelOrder(struct Node* root) {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C586C0"/>
                </a:solidFill>
                <a:latin typeface="Courier New" panose="02070309020205020404"/>
              </a:rPr>
              <a:t>    if (root == NULL) return;</a:t>
            </a:r>
            <a:endParaRPr sz="1500">
              <a:solidFill>
                <a:srgbClr val="C586C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struct Node* queue[MAX];  /* Array-based queue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int front = 0, rear = 0;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queue[rear++] = root;     /* Enqueue root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C586C0"/>
                </a:solidFill>
                <a:latin typeface="Courier New" panose="02070309020205020404"/>
              </a:rPr>
              <a:t>    while (front &lt; rear) {</a:t>
            </a:r>
            <a:endParaRPr sz="1500">
              <a:solidFill>
                <a:srgbClr val="C586C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    struct Node* node = queue[front++]; /* Dequeue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    printf("%d ", node-&gt;data);  /* Visit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C586C0"/>
                </a:solidFill>
                <a:latin typeface="Courier New" panose="02070309020205020404"/>
              </a:rPr>
              <a:t>        if (node-&gt;left)              /* Enqueue left */</a:t>
            </a:r>
            <a:endParaRPr sz="1500">
              <a:solidFill>
                <a:srgbClr val="C586C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        queue[rear++] = node-&gt;left;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C586C0"/>
                </a:solidFill>
                <a:latin typeface="Courier New" panose="02070309020205020404"/>
              </a:rPr>
              <a:t>        if (node-&gt;right)             /* Enqueue right */</a:t>
            </a:r>
            <a:endParaRPr sz="1500">
              <a:solidFill>
                <a:srgbClr val="C586C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        queue[rear++] = node-&gt;right;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}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}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/* Output: 1  2  3  4  5  6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/* Queue: FIFO — front pointer increments on dequeue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6355080"/>
            <a:ext cx="1161288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8600"/>
                </a:solidFill>
              </a:rPr>
              <a:t>📝  Level-Order uses a QUEUE (FIFO). Array-based queue used here for simplicity.</a:t>
            </a:r>
            <a:endParaRPr sz="1300" b="0" i="1">
              <a:solidFill>
                <a:srgbClr val="FF8600"/>
              </a:solidFill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Level-order Traversal - Example 1 - Step 1/7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8.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8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8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8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15468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8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97180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06908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14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Level-order Traversal - Example 1 - Step 2/7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4.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8, 4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4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8 -&gt; 4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15468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8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97180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06908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14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Level-order Traversal - Example 1 - Step 3/7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12.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8, 4, 12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12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8 -&gt; 4 -&gt; 12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15468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8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97180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06908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14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Level-order Traversal - Example 1 - Step 4/7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2.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8, 4, 12, 2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2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8 -&gt; 4 -&gt; 12 -&gt; 2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15468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8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97180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06908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14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Level-order Traversal - Example 1 - Step 5/7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6.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8, 4, 12, 2, 6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6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8 -&gt; 4 -&gt; 12 -&gt; 2 -&gt; 6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15468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8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97180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06908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14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Level-order Traversal - Example 1 - Step 6/7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10.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8, 4, 12, 2, 6, 10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10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8 -&gt; 4 -&gt; 12 -&gt; 2 -&gt; 6 -&gt; 10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15468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8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971800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06908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14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Level-order Traversal - Example 1 - Step 7/7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14.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8, 4, 12, 2, 6, 10, 14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14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8 -&gt; 4 -&gt; 12 -&gt; 2 -&gt; 6 -&gt; 10 -&gt; 14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15468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8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97180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069080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14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Level-order Traversal - Example 2 - Step 1/7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R.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R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R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R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18872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29184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R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K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Y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0584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01167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N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10896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T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11480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Z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Level-order Traversal - Example 2 - Step 2/7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K.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R, K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K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R -&gt; K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18872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29184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R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K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Y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0584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01167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N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10896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T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11480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Z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Level-order Traversal - Example 2 - Step 3/7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Y.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R, K, Y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Y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R -&gt; K -&gt; Y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18872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29184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R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K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Y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0584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01167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N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10896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T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11480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Z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Level-order Traversal - Example 2 - Step 4/7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F.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R, K, Y, F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F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R -&gt; K -&gt; Y -&gt; F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18872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29184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R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K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Y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05840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01167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N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10896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T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11480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Z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Level-order Traversal - Example 2 - Step 5/7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N.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R, K, Y, F, N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N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R -&gt; K -&gt; Y -&gt; F -&gt; N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18872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29184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R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K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Y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0584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011679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N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10896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T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11480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Z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Level-order Traversal - Example 2 - Step 6/7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T.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R, K, Y, F, N, T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T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R -&gt; K -&gt; Y -&gt; F -&gt; N -&gt; T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18872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29184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R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K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Y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0584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01167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N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108960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T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11480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Z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Level-order Traversal - Example 2 - Step 7/7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Z.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R, K, Y, F, N, T, Z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Z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R -&gt; K -&gt; Y -&gt; F -&gt; N -&gt; T -&gt; Z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18872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291840" y="2926080"/>
            <a:ext cx="3657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926080"/>
            <a:ext cx="6400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R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K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Y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0584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01167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N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1089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T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114800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Z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Level-order Traversal - Example 3 - Step 1/7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50.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50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50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50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474720" y="2926080"/>
            <a:ext cx="1828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74720" y="4023360"/>
            <a:ext cx="685800" cy="8686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50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30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70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29183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3977639" y="4709159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69080" y="48006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65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Level-order Traversal - Example 3 - Step 2/7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30.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50, 30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30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50 -&gt; 30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474720" y="2926080"/>
            <a:ext cx="1828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74720" y="4023360"/>
            <a:ext cx="685800" cy="8686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50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30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70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29183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3977639" y="4709159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69080" y="48006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65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Level-order Traversal - Example 3 - Step 3/7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70.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50, 30, 70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70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50 -&gt; 30 -&gt; 70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474720" y="2926080"/>
            <a:ext cx="1828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74720" y="4023360"/>
            <a:ext cx="685800" cy="8686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50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30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70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29183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3977639" y="4709159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69080" y="48006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65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Level-order Traversal - Example 3 - Step 4/7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20.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50, 30, 70, 20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20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50 -&gt; 30 -&gt; 70 -&gt; 20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474720" y="2926080"/>
            <a:ext cx="1828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74720" y="4023360"/>
            <a:ext cx="685800" cy="8686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50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30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70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29183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3977639" y="4709159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69080" y="48006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65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Level-order Traversal - Example 3 - Step 5/7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40.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50, 30, 70, 20, 40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40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50 -&gt; 30 -&gt; 70 -&gt; 20 -&gt; 40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474720" y="2926080"/>
            <a:ext cx="1828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74720" y="4023360"/>
            <a:ext cx="685800" cy="8686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50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30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70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291839" y="3840480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3977639" y="4709159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69080" y="48006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65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Level-order Traversal - Example 3 - Step 6/7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60.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50, 30, 70, 20, 40, 60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60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50 -&gt; 30 -&gt; 70 -&gt; 20 -&gt; 40 -&gt; 60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474720" y="2926080"/>
            <a:ext cx="1828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74720" y="4023360"/>
            <a:ext cx="685800" cy="8686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50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30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70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291839" y="3840480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3977639" y="4709159"/>
            <a:ext cx="365760" cy="365760"/>
          </a:xfrm>
          <a:prstGeom prst="ellipse">
            <a:avLst/>
          </a:prstGeom>
          <a:solidFill>
            <a:srgbClr val="E6EBF0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69080" y="48006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65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Level-order Traversal - Example 3 - Step 7/7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Visit node 65.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50, 30, 70, 20, 40, 60, 65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65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50 -&gt; 30 -&gt; 70 -&gt; 20 -&gt; 40 -&gt; 60 -&gt; 65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96528" y="4663440"/>
            <a:ext cx="164592" cy="164592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636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96528" y="4983479"/>
            <a:ext cx="164592" cy="164592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5984" y="4956047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796528" y="5303520"/>
            <a:ext cx="164592" cy="164592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5276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43200" y="1920240"/>
            <a:ext cx="914400" cy="100584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34440" y="2926080"/>
            <a:ext cx="59436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0" y="2926080"/>
            <a:ext cx="50292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474720" y="2926080"/>
            <a:ext cx="182880" cy="10972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74720" y="4023360"/>
            <a:ext cx="685800" cy="86868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50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30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70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1051560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20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214883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40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291839" y="3840480"/>
            <a:ext cx="365760" cy="365760"/>
          </a:xfrm>
          <a:prstGeom prst="ellipse">
            <a:avLst/>
          </a:prstGeom>
          <a:solidFill>
            <a:srgbClr val="66BB6A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60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3977639" y="4709159"/>
            <a:ext cx="365760" cy="365760"/>
          </a:xfrm>
          <a:prstGeom prst="ellipse">
            <a:avLst/>
          </a:prstGeom>
          <a:solidFill>
            <a:srgbClr val="FFB74D"/>
          </a:solidFill>
          <a:ln w="1524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69080" y="48006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65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28600"/>
            <a:ext cx="11612880" cy="635508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172A"/>
                </a:solidFill>
              </a:rPr>
              <a:t>Level-order Traversal - C Functions (Recursive + Non-Recursive)</a:t>
            </a:r>
            <a:endParaRPr sz="2200" b="1">
              <a:solidFill>
                <a:srgbClr val="0F172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E40AF"/>
                </a:solidFill>
              </a:rPr>
              <a:t>Recursive version + queue-based non-recursive version in week12 style</a:t>
            </a:r>
            <a:endParaRPr sz="1200" b="1">
              <a:solidFill>
                <a:srgbClr val="1E40A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E40AF"/>
                </a:solidFill>
              </a:rPr>
              <a:t>Tree construction (recursive file)</a:t>
            </a:r>
            <a:endParaRPr sz="1100" b="1">
              <a:solidFill>
                <a:srgbClr val="1E40A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426464"/>
            <a:ext cx="107899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11827"/>
                </a:solidFill>
                <a:latin typeface="Consolas" panose="020B0609020204030204"/>
              </a:rPr>
              <a:t>/* Function not found */</a:t>
            </a:r>
            <a:endParaRPr sz="900">
              <a:solidFill>
                <a:srgbClr val="111827"/>
              </a:solidFill>
              <a:latin typeface="Consolas" panose="020B0609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933956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E40AF"/>
                </a:solidFill>
              </a:rPr>
              <a:t>Tree construction (non-recursive file)</a:t>
            </a:r>
            <a:endParaRPr sz="1100" b="1">
              <a:solidFill>
                <a:srgbClr val="1E40A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2187702"/>
            <a:ext cx="107899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11827"/>
                </a:solidFill>
                <a:latin typeface="Consolas" panose="020B0609020204030204"/>
              </a:rPr>
              <a:t>/* Sample tree construction (week12A main style) */
struct Node* root  = newNode(1);
root-&gt;left         = newNode(2);
root-&gt;right        = newNode(3);
root-&gt;left-&gt;left   = newNode(4);
root-&gt;left-&gt;right  = newNode(5);
root-&gt;left-&gt;left-&gt;left = newNode(6);</a:t>
            </a:r>
            <a:endParaRPr sz="900">
              <a:solidFill>
                <a:srgbClr val="111827"/>
              </a:solidFill>
              <a:latin typeface="Consolas" panose="020B0609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398139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E40AF"/>
                </a:solidFill>
              </a:rPr>
              <a:t>Recursive level-order</a:t>
            </a:r>
            <a:endParaRPr sz="1100" b="1">
              <a:solidFill>
                <a:srgbClr val="1E40A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3600450"/>
            <a:ext cx="107899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11827"/>
                </a:solidFill>
                <a:latin typeface="Consolas" panose="020B0609020204030204"/>
              </a:rPr>
              <a:t>void printGivenLevel(struct Node* root, int level) {
    if (root == NULL) return;
    if (level == 1) printf("%d ", root-&gt;data);
    else {
        printGivenLevel(root-&gt;left, level - 1);
        printGivenLevel(root-&gt;right, level - 1);
    }
}
int height(struct Node* root) {
    if (root == NULL) return 0;
    int lh = height(root-&gt;left), rh = height(root-&gt;right);
    return (lh &gt; rh ? lh : rh) + 1;
}
void levelOrderRecursive(struct Node* root) {
    int h = height(root);
    for (int i = 1; i &lt;= h; i++)
        printGivenLevel(root, i);
}</a:t>
            </a:r>
            <a:endParaRPr sz="900">
              <a:solidFill>
                <a:srgbClr val="111827"/>
              </a:solidFill>
              <a:latin typeface="Consolas" panose="020B0609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89428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E40AF"/>
                </a:solidFill>
              </a:rPr>
              <a:t>Non-recursive levelOrder()</a:t>
            </a:r>
            <a:endParaRPr sz="1100" b="1">
              <a:solidFill>
                <a:srgbClr val="1E40A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9162288"/>
            <a:ext cx="107899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11827"/>
                </a:solidFill>
                <a:latin typeface="Consolas" panose="020B0609020204030204"/>
              </a:rPr>
              <a:t>void levelOrder(struct Node* root) {
    if (root == NULL) return;
    struct Node* queue[MAX];
    int front = 0, rear = 0;
    queue[rear++] = root;
    while (front &lt; rear) {
        struct Node* cur = queue[front++];
        printf("%d ", cur-&gt;data);
        if (cur-&gt;left != NULL) queue[rear++] = cur-&gt;left;
        if (cur-&gt;right != NULL) queue[rear++] = cur-&gt;right;
    }
}</a:t>
            </a:r>
            <a:endParaRPr sz="900">
              <a:solidFill>
                <a:srgbClr val="111827"/>
              </a:solidFill>
              <a:latin typeface="Consolas" panose="020B0609020204030204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Traversal Comparison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394960" cy="502920"/>
          </a:xfrm>
          <a:prstGeom prst="rect">
            <a:avLst/>
          </a:prstGeom>
          <a:solidFill>
            <a:srgbClr val="00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07008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Traversal Summary</a:t>
            </a:r>
            <a:endParaRPr sz="2000" b="1" i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43600" y="1188720"/>
            <a:ext cx="5943600" cy="5029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89320" y="1207008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Use Cases</a:t>
            </a:r>
            <a:endParaRPr sz="2000" b="1" i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5212080" cy="4754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Inorder   (L→N→R): 6,4,2,5,1,3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Preorder  (N→L→R): 1,2,4,6,5,3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Postorder (L→R→N): 6,4,5,2,3,1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Level-Order (BFS): 1,2,3,4,5,6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Time:  O(n) for all traversals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Space: O(h) recursive stack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       O(n) for Level-Order queue</a:t>
            </a:r>
            <a:endParaRPr sz="1600">
              <a:solidFill>
                <a:srgbClr val="1A236A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35040" y="1828800"/>
            <a:ext cx="5760720" cy="4754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Inorder → Sorted output from BST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Inorder → Infix expression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Preorder → Copy/clone a tree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Preorder → Prefix expression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Postorder → Delete a tree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Postorder → Postfix expression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Level-Order → Shortest path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Level-Order → Print by levels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Level-Order → Connect level nodes</a:t>
            </a:r>
            <a:endParaRPr sz="1600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B4D8"/>
                </a:solidFill>
              </a:rPr>
              <a:t>Section 5</a:t>
            </a:r>
            <a:endParaRPr sz="2200" b="0" i="0">
              <a:solidFill>
                <a:srgbClr val="00B4D8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Binary Search Trees (BST)</a:t>
            </a:r>
            <a:endParaRPr sz="4000" b="1" i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41832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E5FF"/>
                </a:solidFill>
              </a:rPr>
              <a:t>Ordered Binary Tree for Efficient Searching</a:t>
            </a:r>
            <a:endParaRPr sz="2200" b="0" i="0">
              <a:solidFill>
                <a:srgbClr val="CCE5FF"/>
              </a:solidFill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F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is a Binary Search Tree?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A BST is a Binary Tree with a special ORDERING PROPERTY:</a:t>
            </a:r>
            <a:endParaRPr sz="1800" b="1">
              <a:solidFill>
                <a:srgbClr val="1A236A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For every node N: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▸ All values in the LEFT subtree are LESS THAN N's value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▸ All values in the RIGHT subtree are GREATER THAN N's value</a:t>
            </a:r>
            <a:endParaRPr sz="1600" b="0">
              <a:solidFill>
                <a:srgbClr val="005C97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This property holds for EVERY node in the tree, not just the root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No duplicate values allowed (in standard BST)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The left and right subtrees are themselves valid BSTs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Inorder traversal of a BST always produces a SORTED sequence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Example BST with root 50:</a:t>
            </a:r>
            <a:endParaRPr sz="1800" b="1">
              <a:solidFill>
                <a:srgbClr val="1A236A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50:  Left subtree &lt; 50,  Right subtree &gt; 50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30:  Left subtree &lt; 30,  Right subtree 30-50</a:t>
            </a:r>
            <a:endParaRPr sz="1600" b="0">
              <a:solidFill>
                <a:srgbClr val="005C97"/>
              </a:solidFill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F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BST Example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943600" cy="5394960"/>
          </a:xfrm>
          <a:prstGeom prst="rect">
            <a:avLst/>
          </a:prstGeom>
          <a:solidFill>
            <a:srgbClr val="1E1E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5669280" cy="5212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           [50]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          /    \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        [30]   [70]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       /   \   /  \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     [20] [40][60] [80]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     /       \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   [10]      [45]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endParaRPr sz="1500"/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BST Property verified: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50 → Left&lt;50, Right&gt;50 ✓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30 → Left&lt;30, Right&gt;30 ✓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70 → Left&lt;70, Right&gt;70 ✓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92240" y="1234440"/>
            <a:ext cx="5394960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BST Ordering Property: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236A"/>
                </a:solidFill>
              </a:rPr>
              <a:t>    ◦  Left subtree &lt; Parent &lt; Right subtree</a:t>
            </a:r>
            <a:endParaRPr sz="1600" b="0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Inorder gives: 10,20,30,40,45,50,60,70,80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236A"/>
                </a:solidFill>
              </a:rPr>
              <a:t>    ◦  → Always SORTED (ascending)!</a:t>
            </a:r>
            <a:endParaRPr sz="1600" b="0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Search efficiency: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236A"/>
                </a:solidFill>
              </a:rPr>
              <a:t>    ◦  Balanced BST: O(log n)</a:t>
            </a:r>
            <a:endParaRPr sz="1600" b="0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236A"/>
                </a:solidFill>
              </a:rPr>
              <a:t>    ◦  Skewed BST:   O(n) worst case</a:t>
            </a:r>
            <a:endParaRPr sz="1600" b="0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Height of this BST = 3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n = 9 nodes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Balanced → efficient search</a:t>
            </a:r>
            <a:endParaRPr sz="1600" b="1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F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BST vs Binary Tree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Binary Tree:</a:t>
            </a:r>
            <a:endParaRPr sz="1800" b="1">
              <a:solidFill>
                <a:srgbClr val="1A236A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No ordering — any value can go anywhere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Cannot efficiently search for a value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Searching requires visiting ALL nodes: O(n)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Example: [10, 5, 20, 3, 15] in any arrangement</a:t>
            </a:r>
            <a:endParaRPr sz="1600" b="0">
              <a:solidFill>
                <a:srgbClr val="005C97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Binary Search Tree:</a:t>
            </a:r>
            <a:endParaRPr sz="1800" b="1">
              <a:solidFill>
                <a:srgbClr val="1A236A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Strict ordering: left &lt; node &lt; right for every node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Search is efficient: O(log n) for balanced BST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Inorder traversal always gives SORTED output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Used in: databases, sets, maps, priority queues</a:t>
            </a:r>
            <a:endParaRPr sz="1600" b="0">
              <a:solidFill>
                <a:srgbClr val="005C97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Key insight: BST = Binary Tree + Ordering property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The ordering property is what makes BST useful!</a:t>
            </a:r>
            <a:endParaRPr sz="1800" b="1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F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BST Properties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1. Every node has at most 2 children (inherited from Binary Tree)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2. Left subtree contains ONLY values SMALLER than the node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3. Right subtree contains ONLY values GREATER than the node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4. Both subtrees are valid BSTs (recursive definition)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5. Inorder traversal produces elements in ascending sorted order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6. Minimum value: Go LEFT as far as possible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7. Maximum value: Go RIGHT as far as possible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8. Search, Insert, Delete: O(log n) average, O(n) worst case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9. Worst case occurs when tree is skewed (like a linked list)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10. Self-balancing BSTs (AVL, Red-Black) guarantee O(log n)</a:t>
            </a:r>
            <a:endParaRPr sz="1800" b="1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B4D8"/>
                </a:solidFill>
              </a:rPr>
              <a:t>Section 6</a:t>
            </a:r>
            <a:endParaRPr sz="2200" b="0" i="0">
              <a:solidFill>
                <a:srgbClr val="00B4D8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BST Operations</a:t>
            </a:r>
            <a:endParaRPr sz="4000" b="1" i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41832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E5FF"/>
                </a:solidFill>
              </a:rPr>
              <a:t>Search, Insertion &amp; Deletion with Step-by-Step Examples</a:t>
            </a:r>
            <a:endParaRPr sz="2200" b="0" i="0">
              <a:solidFill>
                <a:srgbClr val="CCE5FF"/>
              </a:solidFill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BST Search — Algorithm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Goal: Find whether a given VALUE exists in the BST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Key Insight: At every node, we can ELIMINATE half the tree!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Algorithm:</a:t>
            </a:r>
            <a:endParaRPr sz="1800" b="1">
              <a:solidFill>
                <a:srgbClr val="1A236A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1. Start at the ROOT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2. If current node is NULL → value NOT FOUND → return False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3. If value == current node → FOUND! → return True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4. If value &lt; current node → go to LEFT subtree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5. If value &gt; current node → go to RIGHT subtree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6. Repeat until found or NULL reached</a:t>
            </a:r>
            <a:endParaRPr sz="1600" b="0">
              <a:solidFill>
                <a:srgbClr val="005C97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Time: O(log n) balanced, O(n) skewed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Space: O(h) recursive stack | O(1) iterative</a:t>
            </a:r>
            <a:endParaRPr sz="1800" b="1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dr"/>
          <p:cNvSpPr/>
          <p:nvPr/>
        </p:nvSpPr>
        <p:spPr>
          <a:xfrm>
            <a:off x="0" y="0"/>
            <a:ext cx="12188825" cy="96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  BST Search: Find 45  —  Step 1 of 4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3" name="StepBadge"/>
          <p:cNvSpPr/>
          <p:nvPr/>
        </p:nvSpPr>
        <p:spPr>
          <a:xfrm>
            <a:off x="10500000" y="150000"/>
            <a:ext cx="1500000" cy="660000"/>
          </a:xfrm>
          <a:prstGeom prst="roundRect">
            <a:avLst>
              <a:gd name="adj" fmla="val 30000"/>
            </a:avLst>
          </a:prstGeom>
          <a:solidFill>
            <a:srgbClr val="FFD700"/>
          </a:solidFill>
          <a:ln>
            <a:noFill/>
          </a:ln>
        </p:spPr>
        <p:txBody>
          <a:bodyPr anchor="ctr"/>
          <a:lstStyle/>
          <a:p>
            <a:pPr algn="ctr"/>
            <a:r>
              <a:rPr sz="1600" b="1">
                <a:solidFill>
                  <a:srgbClr val="000000"/>
                </a:solidFill>
              </a:rPr>
              <a:t>Step 1/4</a:t>
            </a:r>
            <a:endParaRPr sz="1600" b="1">
              <a:solidFill>
                <a:srgbClr val="000000"/>
              </a:solidFill>
            </a:endParaRPr>
          </a:p>
        </p:txBody>
      </p:sp>
      <p:sp>
        <p:nvSpPr>
          <p:cNvPr id="4" name="BgContent"/>
          <p:cNvSpPr/>
          <p:nvPr/>
        </p:nvSpPr>
        <p:spPr>
          <a:xfrm>
            <a:off x="0" y="960000"/>
            <a:ext cx="12188825" cy="589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0" name="E20"/>
          <p:cNvCxnSpPr/>
          <p:nvPr/>
        </p:nvCxnSpPr>
        <p:spPr>
          <a:xfrm flipH="1">
            <a:off x="1900000" y="1700000"/>
            <a:ext cx="1300000" cy="100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1" name="E21"/>
          <p:cNvCxnSpPr/>
          <p:nvPr/>
        </p:nvCxnSpPr>
        <p:spPr>
          <a:xfrm>
            <a:off x="3200000" y="1700000"/>
            <a:ext cx="1300000" cy="100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2" name="E22"/>
          <p:cNvCxnSpPr/>
          <p:nvPr/>
        </p:nvCxnSpPr>
        <p:spPr>
          <a:xfrm flipH="1">
            <a:off x="11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3" name="E23"/>
          <p:cNvCxnSpPr/>
          <p:nvPr/>
        </p:nvCxnSpPr>
        <p:spPr>
          <a:xfrm>
            <a:off x="19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4" name="E24"/>
          <p:cNvCxnSpPr/>
          <p:nvPr/>
        </p:nvCxnSpPr>
        <p:spPr>
          <a:xfrm>
            <a:off x="2700000" y="3750000"/>
            <a:ext cx="4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5" name="E25"/>
          <p:cNvCxnSpPr/>
          <p:nvPr/>
        </p:nvCxnSpPr>
        <p:spPr>
          <a:xfrm flipH="1">
            <a:off x="37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6" name="E26"/>
          <p:cNvCxnSpPr/>
          <p:nvPr/>
        </p:nvCxnSpPr>
        <p:spPr>
          <a:xfrm>
            <a:off x="45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7" name="E27"/>
          <p:cNvCxnSpPr/>
          <p:nvPr/>
        </p:nvCxnSpPr>
        <p:spPr>
          <a:xfrm flipH="1">
            <a:off x="700000" y="3750000"/>
            <a:ext cx="4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sp>
        <p:nvSpPr>
          <p:cNvPr id="28" name="N28"/>
          <p:cNvSpPr/>
          <p:nvPr/>
        </p:nvSpPr>
        <p:spPr>
          <a:xfrm>
            <a:off x="2830000" y="1330000"/>
            <a:ext cx="740000" cy="740000"/>
          </a:xfrm>
          <a:prstGeom prst="ellipse">
            <a:avLst/>
          </a:prstGeom>
          <a:solidFill>
            <a:srgbClr val="FF8C00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50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29" name="N29"/>
          <p:cNvSpPr/>
          <p:nvPr/>
        </p:nvSpPr>
        <p:spPr>
          <a:xfrm>
            <a:off x="1530000" y="23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30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0" name="N30"/>
          <p:cNvSpPr/>
          <p:nvPr/>
        </p:nvSpPr>
        <p:spPr>
          <a:xfrm>
            <a:off x="4130000" y="23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70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1" name="N31"/>
          <p:cNvSpPr/>
          <p:nvPr/>
        </p:nvSpPr>
        <p:spPr>
          <a:xfrm>
            <a:off x="7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20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2" name="N32"/>
          <p:cNvSpPr/>
          <p:nvPr/>
        </p:nvSpPr>
        <p:spPr>
          <a:xfrm>
            <a:off x="23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40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3" name="N33"/>
          <p:cNvSpPr/>
          <p:nvPr/>
        </p:nvSpPr>
        <p:spPr>
          <a:xfrm>
            <a:off x="33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60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4" name="N34"/>
          <p:cNvSpPr/>
          <p:nvPr/>
        </p:nvSpPr>
        <p:spPr>
          <a:xfrm>
            <a:off x="49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80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5" name="N35"/>
          <p:cNvSpPr/>
          <p:nvPr/>
        </p:nvSpPr>
        <p:spPr>
          <a:xfrm>
            <a:off x="330000" y="44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10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6" name="N36"/>
          <p:cNvSpPr/>
          <p:nvPr/>
        </p:nvSpPr>
        <p:spPr>
          <a:xfrm>
            <a:off x="2730000" y="44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45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7" name="IB37"/>
          <p:cNvSpPr/>
          <p:nvPr/>
        </p:nvSpPr>
        <p:spPr>
          <a:xfrm>
            <a:off x="6700000" y="1050000"/>
            <a:ext cx="5200000" cy="1400000"/>
          </a:xfrm>
          <a:prstGeom prst="rect">
            <a:avLst/>
          </a:prstGeom>
          <a:solidFill>
            <a:srgbClr val="FFF9E6"/>
          </a:solidFill>
          <a:ln w="19050">
            <a:solidFill>
              <a:srgbClr val="FF8C00"/>
            </a:solidFill>
          </a:ln>
        </p:spPr>
        <p:txBody>
          <a:bodyPr>
            <a:spAutoFit/>
          </a:bodyPr>
          <a:lstStyle/>
          <a:p>
            <a:pPr algn="l">
              <a:spcBef>
                <a:spcPts val="300"/>
              </a:spcBef>
            </a:pPr>
            <a:r>
              <a:rPr sz="1500" b="1">
                <a:solidFill>
                  <a:srgbClr val="1E3A5F"/>
                </a:solidFill>
              </a:rPr>
              <a:t>Step 1: Visit ROOT node 50</a:t>
            </a:r>
            <a:endParaRPr sz="1500" b="1">
              <a:solidFill>
                <a:srgbClr val="1E3A5F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555555"/>
                </a:solidFill>
              </a:rPr>
              <a:t>Compare: 45 vs 50</a:t>
            </a:r>
            <a:endParaRPr sz="1300" b="0">
              <a:solidFill>
                <a:srgbClr val="555555"/>
              </a:solidFill>
            </a:endParaRPr>
          </a:p>
          <a:p>
            <a:pPr algn="l">
              <a:spcBef>
                <a:spcPts val="300"/>
              </a:spcBef>
            </a:pPr>
            <a:r>
              <a:rPr sz="1400" b="1">
                <a:solidFill>
                  <a:srgbClr val="E74C3C"/>
                </a:solidFill>
              </a:rPr>
              <a:t>45 &lt; 50  →  Go LEFT subtree</a:t>
            </a:r>
            <a:endParaRPr sz="1400" b="1">
              <a:solidFill>
                <a:srgbClr val="E74C3C"/>
              </a:solidFill>
            </a:endParaRPr>
          </a:p>
        </p:txBody>
      </p:sp>
      <p:sp>
        <p:nvSpPr>
          <p:cNvPr id="38" name="IB38"/>
          <p:cNvSpPr/>
          <p:nvPr/>
        </p:nvSpPr>
        <p:spPr>
          <a:xfrm>
            <a:off x="6700000" y="2600000"/>
            <a:ext cx="5200000" cy="39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txBody>
          <a:bodyPr>
            <a:spAutoFit/>
          </a:bodyPr>
          <a:lstStyle/>
          <a:p>
            <a:pPr algn="l">
              <a:spcBef>
                <a:spcPts val="300"/>
              </a:spcBef>
            </a:pPr>
            <a:r>
              <a:rPr sz="1300" b="1">
                <a:solidFill>
                  <a:srgbClr val="1E3A5F"/>
                </a:solidFill>
              </a:rPr>
              <a:t>How BST Search Works:</a:t>
            </a:r>
            <a:endParaRPr sz="1300" b="1">
              <a:solidFill>
                <a:srgbClr val="1E3A5F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At each node, compare target with current value.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2980B9"/>
                </a:solidFill>
              </a:rPr>
              <a:t>If target &lt; node  →  go LEFT (smaller values)</a:t>
            </a:r>
            <a:endParaRPr sz="1200" b="0">
              <a:solidFill>
                <a:srgbClr val="2980B9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8E44AD"/>
                </a:solidFill>
              </a:rPr>
              <a:t>If target &gt; node  →  go RIGHT (larger values)</a:t>
            </a:r>
            <a:endParaRPr sz="1200" b="0">
              <a:solidFill>
                <a:srgbClr val="8E44AD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6D6A0"/>
                </a:solidFill>
              </a:rPr>
              <a:t>If target == node  →  FOUND!</a:t>
            </a:r>
            <a:endParaRPr sz="1200" b="0">
              <a:solidFill>
                <a:srgbClr val="06D6A0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E74C3C"/>
                </a:solidFill>
              </a:rPr>
              <a:t>If NULL reached  →  NOT FOUND</a:t>
            </a:r>
            <a:endParaRPr sz="1200" b="0">
              <a:solidFill>
                <a:srgbClr val="E74C3C"/>
              </a:solidFill>
            </a:endParaRPr>
          </a:p>
          <a:p>
            <a:pPr algn="l">
              <a:spcBef>
                <a:spcPts val="300"/>
              </a:spcBef>
            </a:p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888888"/>
                </a:solidFill>
              </a:rPr>
              <a:t>Path so far: 50</a:t>
            </a:r>
            <a:endParaRPr sz="1200" b="0">
              <a:solidFill>
                <a:srgbClr val="888888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 b="1">
                <a:solidFill>
                  <a:srgbClr val="1E3A5F"/>
                </a:solidFill>
              </a:rPr>
              <a:t>Target: 45</a:t>
            </a:r>
            <a:endParaRPr sz="1300" b="1">
              <a:solidFill>
                <a:srgbClr val="1E3A5F"/>
              </a:solidFill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dr"/>
          <p:cNvSpPr/>
          <p:nvPr/>
        </p:nvSpPr>
        <p:spPr>
          <a:xfrm>
            <a:off x="0" y="0"/>
            <a:ext cx="12188825" cy="96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  BST Search: Find 45  —  Step 2 of 4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3" name="StepBadge"/>
          <p:cNvSpPr/>
          <p:nvPr/>
        </p:nvSpPr>
        <p:spPr>
          <a:xfrm>
            <a:off x="10500000" y="150000"/>
            <a:ext cx="1500000" cy="660000"/>
          </a:xfrm>
          <a:prstGeom prst="roundRect">
            <a:avLst>
              <a:gd name="adj" fmla="val 30000"/>
            </a:avLst>
          </a:prstGeom>
          <a:solidFill>
            <a:srgbClr val="FFD700"/>
          </a:solidFill>
          <a:ln>
            <a:noFill/>
          </a:ln>
        </p:spPr>
        <p:txBody>
          <a:bodyPr anchor="ctr"/>
          <a:lstStyle/>
          <a:p>
            <a:pPr algn="ctr"/>
            <a:r>
              <a:rPr sz="1600" b="1">
                <a:solidFill>
                  <a:srgbClr val="000000"/>
                </a:solidFill>
              </a:rPr>
              <a:t>Step 2/4</a:t>
            </a:r>
            <a:endParaRPr sz="1600" b="1">
              <a:solidFill>
                <a:srgbClr val="000000"/>
              </a:solidFill>
            </a:endParaRPr>
          </a:p>
        </p:txBody>
      </p:sp>
      <p:sp>
        <p:nvSpPr>
          <p:cNvPr id="4" name="BgContent"/>
          <p:cNvSpPr/>
          <p:nvPr/>
        </p:nvSpPr>
        <p:spPr>
          <a:xfrm>
            <a:off x="0" y="960000"/>
            <a:ext cx="12188825" cy="589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0" name="E20"/>
          <p:cNvCxnSpPr/>
          <p:nvPr/>
        </p:nvCxnSpPr>
        <p:spPr>
          <a:xfrm flipH="1">
            <a:off x="1900000" y="1700000"/>
            <a:ext cx="1300000" cy="1000000"/>
          </a:xfrm>
          <a:prstGeom prst="line">
            <a:avLst/>
          </a:prstGeom>
          <a:ln w="38100">
            <a:solidFill>
              <a:srgbClr val="FFD700"/>
            </a:solidFill>
          </a:ln>
        </p:spPr>
      </p:cxnSp>
      <p:cxnSp>
        <p:nvCxnSpPr>
          <p:cNvPr id="21" name="E21"/>
          <p:cNvCxnSpPr/>
          <p:nvPr/>
        </p:nvCxnSpPr>
        <p:spPr>
          <a:xfrm>
            <a:off x="3200000" y="1700000"/>
            <a:ext cx="1300000" cy="100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2" name="E22"/>
          <p:cNvCxnSpPr/>
          <p:nvPr/>
        </p:nvCxnSpPr>
        <p:spPr>
          <a:xfrm flipH="1">
            <a:off x="11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3" name="E23"/>
          <p:cNvCxnSpPr/>
          <p:nvPr/>
        </p:nvCxnSpPr>
        <p:spPr>
          <a:xfrm>
            <a:off x="19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4" name="E24"/>
          <p:cNvCxnSpPr/>
          <p:nvPr/>
        </p:nvCxnSpPr>
        <p:spPr>
          <a:xfrm>
            <a:off x="2700000" y="3750000"/>
            <a:ext cx="4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5" name="E25"/>
          <p:cNvCxnSpPr/>
          <p:nvPr/>
        </p:nvCxnSpPr>
        <p:spPr>
          <a:xfrm flipH="1">
            <a:off x="37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6" name="E26"/>
          <p:cNvCxnSpPr/>
          <p:nvPr/>
        </p:nvCxnSpPr>
        <p:spPr>
          <a:xfrm>
            <a:off x="45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7" name="E27"/>
          <p:cNvCxnSpPr/>
          <p:nvPr/>
        </p:nvCxnSpPr>
        <p:spPr>
          <a:xfrm flipH="1">
            <a:off x="700000" y="3750000"/>
            <a:ext cx="4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sp>
        <p:nvSpPr>
          <p:cNvPr id="28" name="N28"/>
          <p:cNvSpPr/>
          <p:nvPr/>
        </p:nvSpPr>
        <p:spPr>
          <a:xfrm>
            <a:off x="2830000" y="1330000"/>
            <a:ext cx="740000" cy="740000"/>
          </a:xfrm>
          <a:prstGeom prst="ellipse">
            <a:avLst/>
          </a:prstGeom>
          <a:solidFill>
            <a:srgbClr val="E67E22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50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29" name="N29"/>
          <p:cNvSpPr/>
          <p:nvPr/>
        </p:nvSpPr>
        <p:spPr>
          <a:xfrm>
            <a:off x="1530000" y="2330000"/>
            <a:ext cx="740000" cy="740000"/>
          </a:xfrm>
          <a:prstGeom prst="ellipse">
            <a:avLst/>
          </a:prstGeom>
          <a:solidFill>
            <a:srgbClr val="FF8C00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30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0" name="N30"/>
          <p:cNvSpPr/>
          <p:nvPr/>
        </p:nvSpPr>
        <p:spPr>
          <a:xfrm>
            <a:off x="4130000" y="23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70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1" name="N31"/>
          <p:cNvSpPr/>
          <p:nvPr/>
        </p:nvSpPr>
        <p:spPr>
          <a:xfrm>
            <a:off x="7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20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2" name="N32"/>
          <p:cNvSpPr/>
          <p:nvPr/>
        </p:nvSpPr>
        <p:spPr>
          <a:xfrm>
            <a:off x="23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40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3" name="N33"/>
          <p:cNvSpPr/>
          <p:nvPr/>
        </p:nvSpPr>
        <p:spPr>
          <a:xfrm>
            <a:off x="33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60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4" name="N34"/>
          <p:cNvSpPr/>
          <p:nvPr/>
        </p:nvSpPr>
        <p:spPr>
          <a:xfrm>
            <a:off x="49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80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5" name="N35"/>
          <p:cNvSpPr/>
          <p:nvPr/>
        </p:nvSpPr>
        <p:spPr>
          <a:xfrm>
            <a:off x="330000" y="44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10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6" name="N36"/>
          <p:cNvSpPr/>
          <p:nvPr/>
        </p:nvSpPr>
        <p:spPr>
          <a:xfrm>
            <a:off x="2730000" y="44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45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7" name="IB37"/>
          <p:cNvSpPr/>
          <p:nvPr/>
        </p:nvSpPr>
        <p:spPr>
          <a:xfrm>
            <a:off x="6700000" y="1050000"/>
            <a:ext cx="5200000" cy="1400000"/>
          </a:xfrm>
          <a:prstGeom prst="rect">
            <a:avLst/>
          </a:prstGeom>
          <a:solidFill>
            <a:srgbClr val="FFF9E6"/>
          </a:solidFill>
          <a:ln w="19050">
            <a:solidFill>
              <a:srgbClr val="FF8C00"/>
            </a:solidFill>
          </a:ln>
        </p:spPr>
        <p:txBody>
          <a:bodyPr>
            <a:spAutoFit/>
          </a:bodyPr>
          <a:lstStyle/>
          <a:p>
            <a:pPr algn="l">
              <a:spcBef>
                <a:spcPts val="300"/>
              </a:spcBef>
            </a:pPr>
            <a:r>
              <a:rPr sz="1500" b="1">
                <a:solidFill>
                  <a:srgbClr val="1E3A5F"/>
                </a:solidFill>
              </a:rPr>
              <a:t>Step 2: Visit node 30</a:t>
            </a:r>
            <a:endParaRPr sz="1500" b="1">
              <a:solidFill>
                <a:srgbClr val="1E3A5F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555555"/>
                </a:solidFill>
              </a:rPr>
              <a:t>Compare: 45 vs 30</a:t>
            </a:r>
            <a:endParaRPr sz="1300" b="0">
              <a:solidFill>
                <a:srgbClr val="555555"/>
              </a:solidFill>
            </a:endParaRPr>
          </a:p>
          <a:p>
            <a:pPr algn="l">
              <a:spcBef>
                <a:spcPts val="300"/>
              </a:spcBef>
            </a:pPr>
            <a:r>
              <a:rPr sz="1400" b="1">
                <a:solidFill>
                  <a:srgbClr val="8E44AD"/>
                </a:solidFill>
              </a:rPr>
              <a:t>45 &gt; 30  →  Go RIGHT subtree</a:t>
            </a:r>
            <a:endParaRPr sz="1400" b="1">
              <a:solidFill>
                <a:srgbClr val="8E44AD"/>
              </a:solidFill>
            </a:endParaRPr>
          </a:p>
        </p:txBody>
      </p:sp>
      <p:sp>
        <p:nvSpPr>
          <p:cNvPr id="38" name="IB38"/>
          <p:cNvSpPr/>
          <p:nvPr/>
        </p:nvSpPr>
        <p:spPr>
          <a:xfrm>
            <a:off x="6700000" y="2600000"/>
            <a:ext cx="5200000" cy="39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txBody>
          <a:bodyPr>
            <a:spAutoFit/>
          </a:bodyPr>
          <a:lstStyle/>
          <a:p>
            <a:pPr algn="l">
              <a:spcBef>
                <a:spcPts val="300"/>
              </a:spcBef>
            </a:pPr>
            <a:r>
              <a:rPr sz="1300" b="1">
                <a:solidFill>
                  <a:srgbClr val="1E3A5F"/>
                </a:solidFill>
              </a:rPr>
              <a:t>Why RIGHT?</a:t>
            </a:r>
            <a:endParaRPr sz="1300" b="1">
              <a:solidFill>
                <a:srgbClr val="1E3A5F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BST property: all values in the RIGHT subtree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of node 30 are GREATER than 30.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Since 45 &gt; 30, the target MUST be in the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right subtree if it exists at all.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888888"/>
                </a:solidFill>
              </a:rPr>
              <a:t>Path so far: 50 (visited) → 30 (current)</a:t>
            </a:r>
            <a:endParaRPr sz="1200" b="0">
              <a:solidFill>
                <a:srgbClr val="888888"/>
              </a:solidFill>
            </a:endParaRP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888888"/>
                </a:solidFill>
              </a:rPr>
              <a:t>Nodes eliminated: 20, 10 (left subtree of 30)</a:t>
            </a:r>
            <a:endParaRPr sz="1100" b="0">
              <a:solidFill>
                <a:srgbClr val="888888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06D6A0"/>
                </a:solidFill>
              </a:rPr>
              <a:t>Remaining to check: 40, 45 subtree</a:t>
            </a:r>
            <a:endParaRPr sz="1200" b="1">
              <a:solidFill>
                <a:srgbClr val="06D6A0"/>
              </a:solidFill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dr"/>
          <p:cNvSpPr/>
          <p:nvPr/>
        </p:nvSpPr>
        <p:spPr>
          <a:xfrm>
            <a:off x="0" y="0"/>
            <a:ext cx="12188825" cy="96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  BST Search: Find 45  —  Step 3 of 4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3" name="StepBadge"/>
          <p:cNvSpPr/>
          <p:nvPr/>
        </p:nvSpPr>
        <p:spPr>
          <a:xfrm>
            <a:off x="10500000" y="150000"/>
            <a:ext cx="1500000" cy="660000"/>
          </a:xfrm>
          <a:prstGeom prst="roundRect">
            <a:avLst>
              <a:gd name="adj" fmla="val 30000"/>
            </a:avLst>
          </a:prstGeom>
          <a:solidFill>
            <a:srgbClr val="FFD700"/>
          </a:solidFill>
          <a:ln>
            <a:noFill/>
          </a:ln>
        </p:spPr>
        <p:txBody>
          <a:bodyPr anchor="ctr"/>
          <a:lstStyle/>
          <a:p>
            <a:pPr algn="ctr"/>
            <a:r>
              <a:rPr sz="1600" b="1">
                <a:solidFill>
                  <a:srgbClr val="000000"/>
                </a:solidFill>
              </a:rPr>
              <a:t>Step 3/4</a:t>
            </a:r>
            <a:endParaRPr sz="1600" b="1">
              <a:solidFill>
                <a:srgbClr val="000000"/>
              </a:solidFill>
            </a:endParaRPr>
          </a:p>
        </p:txBody>
      </p:sp>
      <p:sp>
        <p:nvSpPr>
          <p:cNvPr id="4" name="BgContent"/>
          <p:cNvSpPr/>
          <p:nvPr/>
        </p:nvSpPr>
        <p:spPr>
          <a:xfrm>
            <a:off x="0" y="960000"/>
            <a:ext cx="12188825" cy="589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0" name="E20"/>
          <p:cNvCxnSpPr/>
          <p:nvPr/>
        </p:nvCxnSpPr>
        <p:spPr>
          <a:xfrm flipH="1">
            <a:off x="1900000" y="1700000"/>
            <a:ext cx="1300000" cy="1000000"/>
          </a:xfrm>
          <a:prstGeom prst="line">
            <a:avLst/>
          </a:prstGeom>
          <a:ln w="38100">
            <a:solidFill>
              <a:srgbClr val="FFD700"/>
            </a:solidFill>
          </a:ln>
        </p:spPr>
      </p:cxnSp>
      <p:cxnSp>
        <p:nvCxnSpPr>
          <p:cNvPr id="21" name="E21"/>
          <p:cNvCxnSpPr/>
          <p:nvPr/>
        </p:nvCxnSpPr>
        <p:spPr>
          <a:xfrm>
            <a:off x="3200000" y="1700000"/>
            <a:ext cx="1300000" cy="100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2" name="E22"/>
          <p:cNvCxnSpPr/>
          <p:nvPr/>
        </p:nvCxnSpPr>
        <p:spPr>
          <a:xfrm flipH="1">
            <a:off x="11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3" name="E23"/>
          <p:cNvCxnSpPr/>
          <p:nvPr/>
        </p:nvCxnSpPr>
        <p:spPr>
          <a:xfrm>
            <a:off x="1900000" y="2700000"/>
            <a:ext cx="800000" cy="1050000"/>
          </a:xfrm>
          <a:prstGeom prst="line">
            <a:avLst/>
          </a:prstGeom>
          <a:ln w="38100">
            <a:solidFill>
              <a:srgbClr val="FFD700"/>
            </a:solidFill>
          </a:ln>
        </p:spPr>
      </p:cxnSp>
      <p:cxnSp>
        <p:nvCxnSpPr>
          <p:cNvPr id="24" name="E24"/>
          <p:cNvCxnSpPr/>
          <p:nvPr/>
        </p:nvCxnSpPr>
        <p:spPr>
          <a:xfrm>
            <a:off x="2700000" y="3750000"/>
            <a:ext cx="4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5" name="E25"/>
          <p:cNvCxnSpPr/>
          <p:nvPr/>
        </p:nvCxnSpPr>
        <p:spPr>
          <a:xfrm flipH="1">
            <a:off x="37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6" name="E26"/>
          <p:cNvCxnSpPr/>
          <p:nvPr/>
        </p:nvCxnSpPr>
        <p:spPr>
          <a:xfrm>
            <a:off x="45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7" name="E27"/>
          <p:cNvCxnSpPr/>
          <p:nvPr/>
        </p:nvCxnSpPr>
        <p:spPr>
          <a:xfrm flipH="1">
            <a:off x="700000" y="3750000"/>
            <a:ext cx="4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sp>
        <p:nvSpPr>
          <p:cNvPr id="28" name="N28"/>
          <p:cNvSpPr/>
          <p:nvPr/>
        </p:nvSpPr>
        <p:spPr>
          <a:xfrm>
            <a:off x="2830000" y="1330000"/>
            <a:ext cx="740000" cy="740000"/>
          </a:xfrm>
          <a:prstGeom prst="ellipse">
            <a:avLst/>
          </a:prstGeom>
          <a:solidFill>
            <a:srgbClr val="E67E22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50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29" name="N29"/>
          <p:cNvSpPr/>
          <p:nvPr/>
        </p:nvSpPr>
        <p:spPr>
          <a:xfrm>
            <a:off x="1530000" y="2330000"/>
            <a:ext cx="740000" cy="740000"/>
          </a:xfrm>
          <a:prstGeom prst="ellipse">
            <a:avLst/>
          </a:prstGeom>
          <a:solidFill>
            <a:srgbClr val="E67E22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30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0" name="N30"/>
          <p:cNvSpPr/>
          <p:nvPr/>
        </p:nvSpPr>
        <p:spPr>
          <a:xfrm>
            <a:off x="4130000" y="23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70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1" name="N31"/>
          <p:cNvSpPr/>
          <p:nvPr/>
        </p:nvSpPr>
        <p:spPr>
          <a:xfrm>
            <a:off x="7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20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2" name="N32"/>
          <p:cNvSpPr/>
          <p:nvPr/>
        </p:nvSpPr>
        <p:spPr>
          <a:xfrm>
            <a:off x="2330000" y="3380000"/>
            <a:ext cx="740000" cy="740000"/>
          </a:xfrm>
          <a:prstGeom prst="ellipse">
            <a:avLst/>
          </a:prstGeom>
          <a:solidFill>
            <a:srgbClr val="FF8C00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40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3" name="N33"/>
          <p:cNvSpPr/>
          <p:nvPr/>
        </p:nvSpPr>
        <p:spPr>
          <a:xfrm>
            <a:off x="33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60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4" name="N34"/>
          <p:cNvSpPr/>
          <p:nvPr/>
        </p:nvSpPr>
        <p:spPr>
          <a:xfrm>
            <a:off x="49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80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5" name="N35"/>
          <p:cNvSpPr/>
          <p:nvPr/>
        </p:nvSpPr>
        <p:spPr>
          <a:xfrm>
            <a:off x="330000" y="44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10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6" name="N36"/>
          <p:cNvSpPr/>
          <p:nvPr/>
        </p:nvSpPr>
        <p:spPr>
          <a:xfrm>
            <a:off x="2730000" y="44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45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7" name="IB37"/>
          <p:cNvSpPr/>
          <p:nvPr/>
        </p:nvSpPr>
        <p:spPr>
          <a:xfrm>
            <a:off x="6700000" y="1050000"/>
            <a:ext cx="5200000" cy="1400000"/>
          </a:xfrm>
          <a:prstGeom prst="rect">
            <a:avLst/>
          </a:prstGeom>
          <a:solidFill>
            <a:srgbClr val="FFF9E6"/>
          </a:solidFill>
          <a:ln w="19050">
            <a:solidFill>
              <a:srgbClr val="FF8C00"/>
            </a:solidFill>
          </a:ln>
        </p:spPr>
        <p:txBody>
          <a:bodyPr>
            <a:spAutoFit/>
          </a:bodyPr>
          <a:lstStyle/>
          <a:p>
            <a:pPr algn="l">
              <a:spcBef>
                <a:spcPts val="300"/>
              </a:spcBef>
            </a:pPr>
            <a:r>
              <a:rPr sz="1500" b="1">
                <a:solidFill>
                  <a:srgbClr val="1E3A5F"/>
                </a:solidFill>
              </a:rPr>
              <a:t>Step 3: Visit node 40</a:t>
            </a:r>
            <a:endParaRPr sz="1500" b="1">
              <a:solidFill>
                <a:srgbClr val="1E3A5F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555555"/>
                </a:solidFill>
              </a:rPr>
              <a:t>Compare: 45 vs 40</a:t>
            </a:r>
            <a:endParaRPr sz="1300" b="0">
              <a:solidFill>
                <a:srgbClr val="555555"/>
              </a:solidFill>
            </a:endParaRPr>
          </a:p>
          <a:p>
            <a:pPr algn="l">
              <a:spcBef>
                <a:spcPts val="300"/>
              </a:spcBef>
            </a:pPr>
            <a:r>
              <a:rPr sz="1400" b="1">
                <a:solidFill>
                  <a:srgbClr val="8E44AD"/>
                </a:solidFill>
              </a:rPr>
              <a:t>45 &gt; 40  →  Go RIGHT subtree</a:t>
            </a:r>
            <a:endParaRPr sz="1400" b="1">
              <a:solidFill>
                <a:srgbClr val="8E44AD"/>
              </a:solidFill>
            </a:endParaRPr>
          </a:p>
        </p:txBody>
      </p:sp>
      <p:sp>
        <p:nvSpPr>
          <p:cNvPr id="38" name="IB38"/>
          <p:cNvSpPr/>
          <p:nvPr/>
        </p:nvSpPr>
        <p:spPr>
          <a:xfrm>
            <a:off x="6700000" y="2600000"/>
            <a:ext cx="5200000" cy="39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txBody>
          <a:bodyPr>
            <a:spAutoFit/>
          </a:bodyPr>
          <a:lstStyle/>
          <a:p>
            <a:pPr algn="l">
              <a:spcBef>
                <a:spcPts val="300"/>
              </a:spcBef>
            </a:pPr>
            <a:r>
              <a:rPr sz="1300" b="1">
                <a:solidFill>
                  <a:srgbClr val="1E3A5F"/>
                </a:solidFill>
              </a:rPr>
              <a:t>Still narrowing down!</a:t>
            </a:r>
            <a:endParaRPr sz="1300" b="1">
              <a:solidFill>
                <a:srgbClr val="1E3A5F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45 &gt; 40, so target must be in the right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subtree of 40.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888888"/>
                </a:solidFill>
              </a:rPr>
              <a:t>Nodes eliminated so far:</a:t>
            </a:r>
            <a:endParaRPr sz="1200" b="1">
              <a:solidFill>
                <a:srgbClr val="888888"/>
              </a:solidFill>
            </a:endParaRP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888888"/>
                </a:solidFill>
              </a:rPr>
              <a:t>20, 10 (left of 30)</a:t>
            </a:r>
            <a:endParaRPr sz="1100" b="0">
              <a:solidFill>
                <a:srgbClr val="888888"/>
              </a:solidFill>
            </a:endParaRP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888888"/>
                </a:solidFill>
              </a:rPr>
              <a:t>60, 80, 70 right branch (went left at root)</a:t>
            </a:r>
            <a:endParaRPr sz="1100" b="0">
              <a:solidFill>
                <a:srgbClr val="888888"/>
              </a:solidFill>
            </a:endParaRPr>
          </a:p>
          <a:p>
            <a:pPr algn="l">
              <a:spcBef>
                <a:spcPts val="300"/>
              </a:spcBef>
            </a:pP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E67E22"/>
                </a:solidFill>
              </a:rPr>
              <a:t>Path so far: 50 → 30 → 40</a:t>
            </a:r>
            <a:endParaRPr sz="1200" b="1">
              <a:solidFill>
                <a:srgbClr val="E67E22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 b="1">
                <a:solidFill>
                  <a:srgbClr val="06D6A0"/>
                </a:solidFill>
              </a:rPr>
              <a:t>Only 40-&gt;right remains to check!</a:t>
            </a:r>
            <a:endParaRPr sz="1300" b="1">
              <a:solidFill>
                <a:srgbClr val="06D6A0"/>
              </a:solidFill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dr"/>
          <p:cNvSpPr/>
          <p:nvPr/>
        </p:nvSpPr>
        <p:spPr>
          <a:xfrm>
            <a:off x="0" y="0"/>
            <a:ext cx="12188825" cy="960000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txBody>
          <a:bodyPr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  BST Search: Find 45  —  Step 4 of 4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3" name="StepBadge"/>
          <p:cNvSpPr/>
          <p:nvPr/>
        </p:nvSpPr>
        <p:spPr>
          <a:xfrm>
            <a:off x="10500000" y="150000"/>
            <a:ext cx="1500000" cy="660000"/>
          </a:xfrm>
          <a:prstGeom prst="roundRect">
            <a:avLst>
              <a:gd name="adj" fmla="val 30000"/>
            </a:avLst>
          </a:prstGeom>
          <a:solidFill>
            <a:srgbClr val="FFD700"/>
          </a:solidFill>
          <a:ln>
            <a:noFill/>
          </a:ln>
        </p:spPr>
        <p:txBody>
          <a:bodyPr anchor="ctr"/>
          <a:lstStyle/>
          <a:p>
            <a:pPr algn="ctr"/>
            <a:r>
              <a:rPr sz="1600" b="1">
                <a:solidFill>
                  <a:srgbClr val="000000"/>
                </a:solidFill>
              </a:rPr>
              <a:t>✓ FOUND</a:t>
            </a:r>
            <a:endParaRPr sz="1600" b="1">
              <a:solidFill>
                <a:srgbClr val="000000"/>
              </a:solidFill>
            </a:endParaRPr>
          </a:p>
        </p:txBody>
      </p:sp>
      <p:sp>
        <p:nvSpPr>
          <p:cNvPr id="4" name="BgContent"/>
          <p:cNvSpPr/>
          <p:nvPr/>
        </p:nvSpPr>
        <p:spPr>
          <a:xfrm>
            <a:off x="0" y="960000"/>
            <a:ext cx="12188825" cy="589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0" name="E20"/>
          <p:cNvCxnSpPr/>
          <p:nvPr/>
        </p:nvCxnSpPr>
        <p:spPr>
          <a:xfrm flipH="1">
            <a:off x="1900000" y="1700000"/>
            <a:ext cx="1300000" cy="1000000"/>
          </a:xfrm>
          <a:prstGeom prst="line">
            <a:avLst/>
          </a:prstGeom>
          <a:ln w="38100">
            <a:solidFill>
              <a:srgbClr val="FFD700"/>
            </a:solidFill>
          </a:ln>
        </p:spPr>
      </p:cxnSp>
      <p:cxnSp>
        <p:nvCxnSpPr>
          <p:cNvPr id="21" name="E21"/>
          <p:cNvCxnSpPr/>
          <p:nvPr/>
        </p:nvCxnSpPr>
        <p:spPr>
          <a:xfrm>
            <a:off x="3200000" y="1700000"/>
            <a:ext cx="1300000" cy="100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2" name="E22"/>
          <p:cNvCxnSpPr/>
          <p:nvPr/>
        </p:nvCxnSpPr>
        <p:spPr>
          <a:xfrm flipH="1">
            <a:off x="11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3" name="E23"/>
          <p:cNvCxnSpPr/>
          <p:nvPr/>
        </p:nvCxnSpPr>
        <p:spPr>
          <a:xfrm>
            <a:off x="1900000" y="2700000"/>
            <a:ext cx="800000" cy="1050000"/>
          </a:xfrm>
          <a:prstGeom prst="line">
            <a:avLst/>
          </a:prstGeom>
          <a:ln w="38100">
            <a:solidFill>
              <a:srgbClr val="FFD700"/>
            </a:solidFill>
          </a:ln>
        </p:spPr>
      </p:cxnSp>
      <p:cxnSp>
        <p:nvCxnSpPr>
          <p:cNvPr id="24" name="E24"/>
          <p:cNvCxnSpPr/>
          <p:nvPr/>
        </p:nvCxnSpPr>
        <p:spPr>
          <a:xfrm>
            <a:off x="2700000" y="3750000"/>
            <a:ext cx="400000" cy="1050000"/>
          </a:xfrm>
          <a:prstGeom prst="line">
            <a:avLst/>
          </a:prstGeom>
          <a:ln w="38100">
            <a:solidFill>
              <a:srgbClr val="FFD700"/>
            </a:solidFill>
          </a:ln>
        </p:spPr>
      </p:cxnSp>
      <p:cxnSp>
        <p:nvCxnSpPr>
          <p:cNvPr id="25" name="E25"/>
          <p:cNvCxnSpPr/>
          <p:nvPr/>
        </p:nvCxnSpPr>
        <p:spPr>
          <a:xfrm flipH="1">
            <a:off x="37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6" name="E26"/>
          <p:cNvCxnSpPr/>
          <p:nvPr/>
        </p:nvCxnSpPr>
        <p:spPr>
          <a:xfrm>
            <a:off x="45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7" name="E27"/>
          <p:cNvCxnSpPr/>
          <p:nvPr/>
        </p:nvCxnSpPr>
        <p:spPr>
          <a:xfrm flipH="1">
            <a:off x="700000" y="3750000"/>
            <a:ext cx="4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sp>
        <p:nvSpPr>
          <p:cNvPr id="28" name="N28"/>
          <p:cNvSpPr/>
          <p:nvPr/>
        </p:nvSpPr>
        <p:spPr>
          <a:xfrm>
            <a:off x="2830000" y="1330000"/>
            <a:ext cx="740000" cy="740000"/>
          </a:xfrm>
          <a:prstGeom prst="ellipse">
            <a:avLst/>
          </a:prstGeom>
          <a:solidFill>
            <a:srgbClr val="E67E22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50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29" name="N29"/>
          <p:cNvSpPr/>
          <p:nvPr/>
        </p:nvSpPr>
        <p:spPr>
          <a:xfrm>
            <a:off x="1530000" y="2330000"/>
            <a:ext cx="740000" cy="740000"/>
          </a:xfrm>
          <a:prstGeom prst="ellipse">
            <a:avLst/>
          </a:prstGeom>
          <a:solidFill>
            <a:srgbClr val="E67E22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30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0" name="N30"/>
          <p:cNvSpPr/>
          <p:nvPr/>
        </p:nvSpPr>
        <p:spPr>
          <a:xfrm>
            <a:off x="4130000" y="23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70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1" name="N31"/>
          <p:cNvSpPr/>
          <p:nvPr/>
        </p:nvSpPr>
        <p:spPr>
          <a:xfrm>
            <a:off x="7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20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2" name="N32"/>
          <p:cNvSpPr/>
          <p:nvPr/>
        </p:nvSpPr>
        <p:spPr>
          <a:xfrm>
            <a:off x="2330000" y="3380000"/>
            <a:ext cx="740000" cy="740000"/>
          </a:xfrm>
          <a:prstGeom prst="ellipse">
            <a:avLst/>
          </a:prstGeom>
          <a:solidFill>
            <a:srgbClr val="E67E22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40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3" name="N33"/>
          <p:cNvSpPr/>
          <p:nvPr/>
        </p:nvSpPr>
        <p:spPr>
          <a:xfrm>
            <a:off x="33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60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4" name="N34"/>
          <p:cNvSpPr/>
          <p:nvPr/>
        </p:nvSpPr>
        <p:spPr>
          <a:xfrm>
            <a:off x="49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80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5" name="N35"/>
          <p:cNvSpPr/>
          <p:nvPr/>
        </p:nvSpPr>
        <p:spPr>
          <a:xfrm>
            <a:off x="330000" y="44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10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6" name="N36"/>
          <p:cNvSpPr/>
          <p:nvPr/>
        </p:nvSpPr>
        <p:spPr>
          <a:xfrm>
            <a:off x="2730000" y="4430000"/>
            <a:ext cx="740000" cy="740000"/>
          </a:xfrm>
          <a:prstGeom prst="ellipse">
            <a:avLst/>
          </a:prstGeom>
          <a:solidFill>
            <a:srgbClr val="06D6A0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45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7" name="IB37"/>
          <p:cNvSpPr/>
          <p:nvPr/>
        </p:nvSpPr>
        <p:spPr>
          <a:xfrm>
            <a:off x="6700000" y="1050000"/>
            <a:ext cx="5200000" cy="1600000"/>
          </a:xfrm>
          <a:prstGeom prst="rect">
            <a:avLst/>
          </a:prstGeom>
          <a:solidFill>
            <a:srgbClr val="E8FDF5"/>
          </a:solidFill>
          <a:ln w="19050">
            <a:solidFill>
              <a:srgbClr val="06D6A0"/>
            </a:solidFill>
          </a:ln>
        </p:spPr>
        <p:txBody>
          <a:bodyPr>
            <a:spAutoFit/>
          </a:bodyPr>
          <a:lstStyle/>
          <a:p>
            <a:pPr algn="l">
              <a:spcBef>
                <a:spcPts val="300"/>
              </a:spcBef>
            </a:pPr>
            <a:r>
              <a:rPr sz="1500" b="1">
                <a:solidFill>
                  <a:srgbClr val="06D6A0"/>
                </a:solidFill>
              </a:rPr>
              <a:t>Step 4: Visit node 45  ✓  FOUND!</a:t>
            </a:r>
            <a:endParaRPr sz="1500" b="1">
              <a:solidFill>
                <a:srgbClr val="06D6A0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555555"/>
                </a:solidFill>
              </a:rPr>
              <a:t>Compare: 45 vs 45</a:t>
            </a:r>
            <a:endParaRPr sz="1300" b="0">
              <a:solidFill>
                <a:srgbClr val="555555"/>
              </a:solidFill>
            </a:endParaRPr>
          </a:p>
          <a:p>
            <a:pPr algn="l">
              <a:spcBef>
                <a:spcPts val="300"/>
              </a:spcBef>
            </a:pPr>
            <a:r>
              <a:rPr sz="1400" b="1">
                <a:solidFill>
                  <a:srgbClr val="06D6A0"/>
                </a:solidFill>
              </a:rPr>
              <a:t>45 == 45  →  TARGET FOUND! Return TRUE</a:t>
            </a:r>
            <a:endParaRPr sz="1400" b="1">
              <a:solidFill>
                <a:srgbClr val="06D6A0"/>
              </a:solidFill>
            </a:endParaRPr>
          </a:p>
        </p:txBody>
      </p:sp>
      <p:sp>
        <p:nvSpPr>
          <p:cNvPr id="38" name="IB38"/>
          <p:cNvSpPr/>
          <p:nvPr/>
        </p:nvSpPr>
        <p:spPr>
          <a:xfrm>
            <a:off x="6700000" y="2800000"/>
            <a:ext cx="5200000" cy="37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txBody>
          <a:bodyPr>
            <a:spAutoFit/>
          </a:bodyPr>
          <a:lstStyle/>
          <a:p>
            <a:pPr algn="l">
              <a:spcBef>
                <a:spcPts val="300"/>
              </a:spcBef>
            </a:pPr>
            <a:r>
              <a:rPr sz="1400" b="1">
                <a:solidFill>
                  <a:srgbClr val="1E3A5F"/>
                </a:solidFill>
              </a:rPr>
              <a:t>Search Complete! ✓</a:t>
            </a:r>
            <a:endParaRPr sz="1400" b="1">
              <a:solidFill>
                <a:srgbClr val="1E3A5F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 b="1">
                <a:solidFill>
                  <a:srgbClr val="E74C3C"/>
                </a:solidFill>
              </a:rPr>
              <a:t>Path: 50 → 30 → 40 → 45</a:t>
            </a:r>
            <a:endParaRPr sz="1300" b="1">
              <a:solidFill>
                <a:srgbClr val="E74C3C"/>
              </a:solidFill>
            </a:endParaRPr>
          </a:p>
          <a:p>
            <a:pPr algn="l">
              <a:spcBef>
                <a:spcPts val="300"/>
              </a:spcBef>
            </a:pPr>
          </a:p>
          <a:p>
            <a:pPr algn="l">
              <a:spcBef>
                <a:spcPts val="300"/>
              </a:spcBef>
            </a:pPr>
            <a:r>
              <a:rPr sz="1300" b="1">
                <a:solidFill>
                  <a:srgbClr val="1E3A5F"/>
                </a:solidFill>
              </a:rPr>
              <a:t>Only 4 comparisons for 9 nodes!</a:t>
            </a:r>
            <a:endParaRPr sz="1300" b="1">
              <a:solidFill>
                <a:srgbClr val="1E3A5F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888888"/>
                </a:solidFill>
              </a:rPr>
              <a:t>Without BST: up to 9 comparisons</a:t>
            </a:r>
            <a:endParaRPr sz="1200" b="0">
              <a:solidFill>
                <a:srgbClr val="888888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6D6A0"/>
                </a:solidFill>
              </a:rPr>
              <a:t>With BST: only 4 comparisons (log₂9 ≈ 3.2)</a:t>
            </a:r>
            <a:endParaRPr sz="1200" b="0">
              <a:solidFill>
                <a:srgbClr val="06D6A0"/>
              </a:solidFill>
            </a:endParaRPr>
          </a:p>
          <a:p>
            <a:pPr algn="l">
              <a:spcBef>
                <a:spcPts val="300"/>
              </a:spcBef>
            </a:p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2980B9"/>
                </a:solidFill>
              </a:rPr>
              <a:t>Time complexity: O(log n) balanced</a:t>
            </a:r>
            <a:endParaRPr sz="1200" b="0">
              <a:solidFill>
                <a:srgbClr val="2980B9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2980B9"/>
                </a:solidFill>
              </a:rPr>
              <a:t>Space complexity: O(h) recursive / O(1) iterative</a:t>
            </a:r>
            <a:endParaRPr sz="1200" b="0">
              <a:solidFill>
                <a:srgbClr val="2980B9"/>
              </a:solidFill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BST Search — Trace: Search 45 in BST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66928" cy="566928"/>
          </a:xfrm>
          <a:prstGeom prst="rect">
            <a:avLst/>
          </a:prstGeom>
          <a:solidFill>
            <a:srgbClr val="00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77824" y="114300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14300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BST: 50(root), left:30, right:70, 30's left:20, 30's right:40, 40's right:45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4320" y="1783080"/>
            <a:ext cx="566928" cy="56692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7830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77824" y="178308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78308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1: Start at ROOT = 50.  Is 45 == 50?  No. Is 45 &lt; 50? YES → Go LEFT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4320" y="2423160"/>
            <a:ext cx="566928" cy="56692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42316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77824" y="242316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42316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2: At node 30.  Is 45 == 30?  No. Is 45 &gt; 30? YES → Go RIGHT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4320" y="3063240"/>
            <a:ext cx="566928" cy="566928"/>
          </a:xfrm>
          <a:prstGeom prst="rect">
            <a:avLst/>
          </a:prstGeom>
          <a:solidFill>
            <a:srgbClr val="FF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0632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77824" y="306324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8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06324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3: At node 40.  Is 45 == 40?  No. Is 45 &gt; 40? YES → Go RIGHT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74320" y="3703320"/>
            <a:ext cx="566928" cy="566928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7033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77824" y="370332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70332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4: At node 45.  Is 45 == 45?  YES! → FOUND! Return True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74320" y="4343400"/>
            <a:ext cx="566928" cy="5669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43434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77824" y="434340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34340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Path taken: 50 → 30 → 40 → 45  (only 4 comparisons for 9-node tree!)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74320" y="4983480"/>
            <a:ext cx="566928" cy="56692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49834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7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77824" y="498348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98348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Without BST ordering: might need up to 9 comparisons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74320" y="5623560"/>
            <a:ext cx="566928" cy="566928"/>
          </a:xfrm>
          <a:prstGeom prst="rect">
            <a:avLst/>
          </a:prstGeom>
          <a:solidFill>
            <a:srgbClr val="1A2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562356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8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77824" y="562356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2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562356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BST reduced comparisons from 9 to 4 → Shows power of ordering</a:t>
            </a:r>
            <a:endParaRPr sz="1700" b="0" i="0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BST Search — C Code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1612880" cy="5120640"/>
          </a:xfrm>
          <a:prstGeom prst="rect">
            <a:avLst/>
          </a:prstGeom>
          <a:solidFill>
            <a:srgbClr val="1E1E2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846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/* Recursive Search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struct Node* search(struct Node* root, int val) {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C586C0"/>
                </a:solidFill>
                <a:latin typeface="Courier New" panose="02070309020205020404"/>
              </a:rPr>
              <a:t>    if (root == NULL) return NULL;  /* Not found */</a:t>
            </a:r>
            <a:endParaRPr sz="1500">
              <a:solidFill>
                <a:srgbClr val="C586C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C586C0"/>
                </a:solidFill>
                <a:latin typeface="Courier New" panose="02070309020205020404"/>
              </a:rPr>
              <a:t>    if (val == root-&gt;data) return root; /* Found! */</a:t>
            </a:r>
            <a:endParaRPr sz="1500">
              <a:solidFill>
                <a:srgbClr val="C586C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C586C0"/>
                </a:solidFill>
                <a:latin typeface="Courier New" panose="02070309020205020404"/>
              </a:rPr>
              <a:t>    if (val &lt; root-&gt;data)           /* Go LEFT  */</a:t>
            </a:r>
            <a:endParaRPr sz="1500">
              <a:solidFill>
                <a:srgbClr val="C586C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C586C0"/>
                </a:solidFill>
                <a:latin typeface="Courier New" panose="02070309020205020404"/>
              </a:rPr>
              <a:t>        return search(root-&gt;left, val);</a:t>
            </a:r>
            <a:endParaRPr sz="1500">
              <a:solidFill>
                <a:srgbClr val="C586C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else                            /* Go RIGHT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C586C0"/>
                </a:solidFill>
                <a:latin typeface="Courier New" panose="02070309020205020404"/>
              </a:rPr>
              <a:t>        return search(root-&gt;right, val);</a:t>
            </a:r>
            <a:endParaRPr sz="1500">
              <a:solidFill>
                <a:srgbClr val="C586C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}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endParaRPr sz="1500"/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/* Iterative Search — O(1) space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struct Node* searchIter(struct Node* root, int val) {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C586C0"/>
                </a:solidFill>
                <a:latin typeface="Courier New" panose="02070309020205020404"/>
              </a:rPr>
              <a:t>    while (root != NULL) {</a:t>
            </a:r>
            <a:endParaRPr sz="1500">
              <a:solidFill>
                <a:srgbClr val="C586C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C586C0"/>
                </a:solidFill>
                <a:latin typeface="Courier New" panose="02070309020205020404"/>
              </a:rPr>
              <a:t>        if (val == root-&gt;data) return root;</a:t>
            </a:r>
            <a:endParaRPr sz="1500">
              <a:solidFill>
                <a:srgbClr val="C586C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    else if (val &lt; root-&gt;data) root = root-&gt;left;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    else root = root-&gt;right;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}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C586C0"/>
                </a:solidFill>
                <a:latin typeface="Courier New" panose="02070309020205020404"/>
              </a:rPr>
              <a:t>    return NULL;  /* Not found */</a:t>
            </a:r>
            <a:endParaRPr sz="1500">
              <a:solidFill>
                <a:srgbClr val="C586C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}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6355080"/>
            <a:ext cx="1161288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8600"/>
                </a:solidFill>
              </a:rPr>
              <a:t>📝  Recursive search uses O(h) stack space. Iterative uses O(1) space.</a:t>
            </a:r>
            <a:endParaRPr sz="1300" b="0" i="1">
              <a:solidFill>
                <a:srgbClr val="FF8600"/>
              </a:solidFill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BST Insertion — Algorithm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Goal: Insert a new value while MAINTAINING BST Property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Key Rule: New node is ALWAYS inserted as a LEAF node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Algorithm:</a:t>
            </a:r>
            <a:endParaRPr sz="1800" b="1">
              <a:solidFill>
                <a:srgbClr val="1A236A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1. Start at the ROOT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2. If tree is empty → new node becomes ROOT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3. If value &lt; current node → go LEFT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4. If value &gt; current node → go RIGHT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5. If value == current node → Duplicate! (ignore or handle)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6. Repeat until you reach a NULL position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7. Insert the new node at the NULL position</a:t>
            </a:r>
            <a:endParaRPr sz="1600" b="0">
              <a:solidFill>
                <a:srgbClr val="005C97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Time: O(log n) balanced, O(n) skewed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After insertion, BST property is automatically maintained!</a:t>
            </a:r>
            <a:endParaRPr sz="1800" b="1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dr"/>
          <p:cNvSpPr/>
          <p:nvPr/>
        </p:nvSpPr>
        <p:spPr>
          <a:xfrm>
            <a:off x="0" y="0"/>
            <a:ext cx="12188825" cy="960000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txBody>
          <a:bodyPr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  BST Insert: Add 35  —  Step 1 of 5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3" name="StepBadge"/>
          <p:cNvSpPr/>
          <p:nvPr/>
        </p:nvSpPr>
        <p:spPr>
          <a:xfrm>
            <a:off x="10500000" y="150000"/>
            <a:ext cx="1500000" cy="660000"/>
          </a:xfrm>
          <a:prstGeom prst="roundRect">
            <a:avLst>
              <a:gd name="adj" fmla="val 30000"/>
            </a:avLst>
          </a:prstGeom>
          <a:solidFill>
            <a:srgbClr val="FFD700"/>
          </a:solidFill>
          <a:ln>
            <a:noFill/>
          </a:ln>
        </p:spPr>
        <p:txBody>
          <a:bodyPr anchor="ctr"/>
          <a:lstStyle/>
          <a:p>
            <a:pPr algn="ctr"/>
            <a:r>
              <a:rPr sz="1600" b="1">
                <a:solidFill>
                  <a:srgbClr val="000000"/>
                </a:solidFill>
              </a:rPr>
              <a:t>Step 1/5</a:t>
            </a:r>
            <a:endParaRPr sz="1600" b="1">
              <a:solidFill>
                <a:srgbClr val="000000"/>
              </a:solidFill>
            </a:endParaRPr>
          </a:p>
        </p:txBody>
      </p:sp>
      <p:sp>
        <p:nvSpPr>
          <p:cNvPr id="4" name="BgContent"/>
          <p:cNvSpPr/>
          <p:nvPr/>
        </p:nvSpPr>
        <p:spPr>
          <a:xfrm>
            <a:off x="0" y="960000"/>
            <a:ext cx="12188825" cy="589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0" name="E20"/>
          <p:cNvCxnSpPr/>
          <p:nvPr/>
        </p:nvCxnSpPr>
        <p:spPr>
          <a:xfrm flipH="1">
            <a:off x="1900000" y="1700000"/>
            <a:ext cx="1300000" cy="100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1" name="E21"/>
          <p:cNvCxnSpPr/>
          <p:nvPr/>
        </p:nvCxnSpPr>
        <p:spPr>
          <a:xfrm>
            <a:off x="3200000" y="1700000"/>
            <a:ext cx="1300000" cy="100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2" name="E22"/>
          <p:cNvCxnSpPr/>
          <p:nvPr/>
        </p:nvCxnSpPr>
        <p:spPr>
          <a:xfrm flipH="1">
            <a:off x="11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3" name="E23"/>
          <p:cNvCxnSpPr/>
          <p:nvPr/>
        </p:nvCxnSpPr>
        <p:spPr>
          <a:xfrm>
            <a:off x="19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4" name="E24"/>
          <p:cNvCxnSpPr/>
          <p:nvPr/>
        </p:nvCxnSpPr>
        <p:spPr>
          <a:xfrm>
            <a:off x="2700000" y="3750000"/>
            <a:ext cx="4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5" name="E25"/>
          <p:cNvCxnSpPr/>
          <p:nvPr/>
        </p:nvCxnSpPr>
        <p:spPr>
          <a:xfrm flipH="1">
            <a:off x="37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6" name="E26"/>
          <p:cNvCxnSpPr/>
          <p:nvPr/>
        </p:nvCxnSpPr>
        <p:spPr>
          <a:xfrm>
            <a:off x="45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7" name="E27"/>
          <p:cNvCxnSpPr/>
          <p:nvPr/>
        </p:nvCxnSpPr>
        <p:spPr>
          <a:xfrm flipH="1">
            <a:off x="700000" y="3750000"/>
            <a:ext cx="4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sp>
        <p:nvSpPr>
          <p:cNvPr id="28" name="N28"/>
          <p:cNvSpPr/>
          <p:nvPr/>
        </p:nvSpPr>
        <p:spPr>
          <a:xfrm>
            <a:off x="2830000" y="1330000"/>
            <a:ext cx="740000" cy="740000"/>
          </a:xfrm>
          <a:prstGeom prst="ellipse">
            <a:avLst/>
          </a:prstGeom>
          <a:solidFill>
            <a:srgbClr val="FF8C00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50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29" name="N29"/>
          <p:cNvSpPr/>
          <p:nvPr/>
        </p:nvSpPr>
        <p:spPr>
          <a:xfrm>
            <a:off x="1530000" y="23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30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0" name="N30"/>
          <p:cNvSpPr/>
          <p:nvPr/>
        </p:nvSpPr>
        <p:spPr>
          <a:xfrm>
            <a:off x="4130000" y="23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70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1" name="N31"/>
          <p:cNvSpPr/>
          <p:nvPr/>
        </p:nvSpPr>
        <p:spPr>
          <a:xfrm>
            <a:off x="7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20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2" name="N32"/>
          <p:cNvSpPr/>
          <p:nvPr/>
        </p:nvSpPr>
        <p:spPr>
          <a:xfrm>
            <a:off x="23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40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3" name="N33"/>
          <p:cNvSpPr/>
          <p:nvPr/>
        </p:nvSpPr>
        <p:spPr>
          <a:xfrm>
            <a:off x="33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60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4" name="N34"/>
          <p:cNvSpPr/>
          <p:nvPr/>
        </p:nvSpPr>
        <p:spPr>
          <a:xfrm>
            <a:off x="49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80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5" name="N35"/>
          <p:cNvSpPr/>
          <p:nvPr/>
        </p:nvSpPr>
        <p:spPr>
          <a:xfrm>
            <a:off x="330000" y="44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10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6" name="N36"/>
          <p:cNvSpPr/>
          <p:nvPr/>
        </p:nvSpPr>
        <p:spPr>
          <a:xfrm>
            <a:off x="2730000" y="44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45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7" name="IB37"/>
          <p:cNvSpPr/>
          <p:nvPr/>
        </p:nvSpPr>
        <p:spPr>
          <a:xfrm>
            <a:off x="6700000" y="1050000"/>
            <a:ext cx="5200000" cy="1400000"/>
          </a:xfrm>
          <a:prstGeom prst="rect">
            <a:avLst/>
          </a:prstGeom>
          <a:solidFill>
            <a:srgbClr val="EAFAF1"/>
          </a:solidFill>
          <a:ln w="19050">
            <a:solidFill>
              <a:srgbClr val="27AE60"/>
            </a:solidFill>
          </a:ln>
        </p:spPr>
        <p:txBody>
          <a:bodyPr>
            <a:spAutoFit/>
          </a:bodyPr>
          <a:lstStyle/>
          <a:p>
            <a:pPr algn="l">
              <a:spcBef>
                <a:spcPts val="300"/>
              </a:spcBef>
            </a:pPr>
            <a:r>
              <a:rPr sz="1500" b="1">
                <a:solidFill>
                  <a:srgbClr val="145A32"/>
                </a:solidFill>
              </a:rPr>
              <a:t>Step 1: Compare 35 with root 50</a:t>
            </a:r>
            <a:endParaRPr sz="1500" b="1">
              <a:solidFill>
                <a:srgbClr val="145A32"/>
              </a:solidFill>
            </a:endParaRPr>
          </a:p>
          <a:p>
            <a:pPr algn="l">
              <a:spcBef>
                <a:spcPts val="300"/>
              </a:spcBef>
            </a:pPr>
            <a:r>
              <a:rPr sz="1400" b="1">
                <a:solidFill>
                  <a:srgbClr val="E74C3C"/>
                </a:solidFill>
              </a:rPr>
              <a:t>35 &lt; 50  →  Go LEFT subtree</a:t>
            </a:r>
            <a:endParaRPr sz="1400" b="1">
              <a:solidFill>
                <a:srgbClr val="E74C3C"/>
              </a:solidFill>
            </a:endParaRPr>
          </a:p>
        </p:txBody>
      </p:sp>
      <p:sp>
        <p:nvSpPr>
          <p:cNvPr id="38" name="IB38"/>
          <p:cNvSpPr/>
          <p:nvPr/>
        </p:nvSpPr>
        <p:spPr>
          <a:xfrm>
            <a:off x="6700000" y="2600000"/>
            <a:ext cx="5200000" cy="39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txBody>
          <a:bodyPr>
            <a:spAutoFit/>
          </a:bodyPr>
          <a:lstStyle/>
          <a:p>
            <a:pPr algn="l">
              <a:spcBef>
                <a:spcPts val="300"/>
              </a:spcBef>
            </a:pPr>
            <a:r>
              <a:rPr sz="1300" b="1">
                <a:solidFill>
                  <a:srgbClr val="1E3A5F"/>
                </a:solidFill>
              </a:rPr>
              <a:t>BST Insertion Rule:</a:t>
            </a:r>
            <a:endParaRPr sz="1300" b="1">
              <a:solidFill>
                <a:srgbClr val="1E3A5F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New nodes are ALWAYS inserted as LEAF nodes.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Navigate exactly like Search: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2980B9"/>
                </a:solidFill>
              </a:rPr>
              <a:t>  value &lt; node  →  go LEFT</a:t>
            </a:r>
            <a:endParaRPr sz="1200" b="0">
              <a:solidFill>
                <a:srgbClr val="2980B9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8E44AD"/>
                </a:solidFill>
              </a:rPr>
              <a:t>  value &gt; node  →  go RIGHT</a:t>
            </a:r>
            <a:endParaRPr sz="1200" b="0">
              <a:solidFill>
                <a:srgbClr val="8E44AD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 b="1">
                <a:solidFill>
                  <a:srgbClr val="06D6A0"/>
                </a:solidFill>
              </a:rPr>
              <a:t>  NULL slot found  →  INSERT HERE</a:t>
            </a:r>
            <a:endParaRPr sz="1300" b="1">
              <a:solidFill>
                <a:srgbClr val="06D6A0"/>
              </a:solidFill>
            </a:endParaRPr>
          </a:p>
          <a:p>
            <a:pPr algn="l">
              <a:spcBef>
                <a:spcPts val="300"/>
              </a:spcBef>
            </a:pPr>
          </a:p>
          <a:p>
            <a:pPr algn="l">
              <a:spcBef>
                <a:spcPts val="300"/>
              </a:spcBef>
            </a:pPr>
            <a:r>
              <a:rPr sz="1300" b="1">
                <a:solidFill>
                  <a:srgbClr val="E74C3C"/>
                </a:solidFill>
              </a:rPr>
              <a:t>Inserting value: 35</a:t>
            </a:r>
            <a:endParaRPr sz="1300" b="1">
              <a:solidFill>
                <a:srgbClr val="E74C3C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888888"/>
                </a:solidFill>
              </a:rPr>
              <a:t>Current position: root (50)</a:t>
            </a:r>
            <a:endParaRPr sz="1200" b="0"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dr"/>
          <p:cNvSpPr/>
          <p:nvPr/>
        </p:nvSpPr>
        <p:spPr>
          <a:xfrm>
            <a:off x="0" y="0"/>
            <a:ext cx="12188825" cy="960000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txBody>
          <a:bodyPr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  BST Insert: Add 35  —  Step 2 of 5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3" name="StepBadge"/>
          <p:cNvSpPr/>
          <p:nvPr/>
        </p:nvSpPr>
        <p:spPr>
          <a:xfrm>
            <a:off x="10500000" y="150000"/>
            <a:ext cx="1500000" cy="660000"/>
          </a:xfrm>
          <a:prstGeom prst="roundRect">
            <a:avLst>
              <a:gd name="adj" fmla="val 30000"/>
            </a:avLst>
          </a:prstGeom>
          <a:solidFill>
            <a:srgbClr val="FFD700"/>
          </a:solidFill>
          <a:ln>
            <a:noFill/>
          </a:ln>
        </p:spPr>
        <p:txBody>
          <a:bodyPr anchor="ctr"/>
          <a:lstStyle/>
          <a:p>
            <a:pPr algn="ctr"/>
            <a:r>
              <a:rPr sz="1600" b="1">
                <a:solidFill>
                  <a:srgbClr val="000000"/>
                </a:solidFill>
              </a:rPr>
              <a:t>Step 2/5</a:t>
            </a:r>
            <a:endParaRPr sz="1600" b="1">
              <a:solidFill>
                <a:srgbClr val="000000"/>
              </a:solidFill>
            </a:endParaRPr>
          </a:p>
        </p:txBody>
      </p:sp>
      <p:sp>
        <p:nvSpPr>
          <p:cNvPr id="4" name="BgContent"/>
          <p:cNvSpPr/>
          <p:nvPr/>
        </p:nvSpPr>
        <p:spPr>
          <a:xfrm>
            <a:off x="0" y="960000"/>
            <a:ext cx="12188825" cy="589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0" name="E20"/>
          <p:cNvCxnSpPr/>
          <p:nvPr/>
        </p:nvCxnSpPr>
        <p:spPr>
          <a:xfrm flipH="1">
            <a:off x="1900000" y="1700000"/>
            <a:ext cx="1300000" cy="1000000"/>
          </a:xfrm>
          <a:prstGeom prst="line">
            <a:avLst/>
          </a:prstGeom>
          <a:ln w="38100">
            <a:solidFill>
              <a:srgbClr val="FFD700"/>
            </a:solidFill>
          </a:ln>
        </p:spPr>
      </p:cxnSp>
      <p:cxnSp>
        <p:nvCxnSpPr>
          <p:cNvPr id="21" name="E21"/>
          <p:cNvCxnSpPr/>
          <p:nvPr/>
        </p:nvCxnSpPr>
        <p:spPr>
          <a:xfrm>
            <a:off x="3200000" y="1700000"/>
            <a:ext cx="1300000" cy="100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2" name="E22"/>
          <p:cNvCxnSpPr/>
          <p:nvPr/>
        </p:nvCxnSpPr>
        <p:spPr>
          <a:xfrm flipH="1">
            <a:off x="11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3" name="E23"/>
          <p:cNvCxnSpPr/>
          <p:nvPr/>
        </p:nvCxnSpPr>
        <p:spPr>
          <a:xfrm>
            <a:off x="19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4" name="E24"/>
          <p:cNvCxnSpPr/>
          <p:nvPr/>
        </p:nvCxnSpPr>
        <p:spPr>
          <a:xfrm>
            <a:off x="2700000" y="3750000"/>
            <a:ext cx="4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5" name="E25"/>
          <p:cNvCxnSpPr/>
          <p:nvPr/>
        </p:nvCxnSpPr>
        <p:spPr>
          <a:xfrm flipH="1">
            <a:off x="37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6" name="E26"/>
          <p:cNvCxnSpPr/>
          <p:nvPr/>
        </p:nvCxnSpPr>
        <p:spPr>
          <a:xfrm>
            <a:off x="45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7" name="E27"/>
          <p:cNvCxnSpPr/>
          <p:nvPr/>
        </p:nvCxnSpPr>
        <p:spPr>
          <a:xfrm flipH="1">
            <a:off x="700000" y="3750000"/>
            <a:ext cx="4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sp>
        <p:nvSpPr>
          <p:cNvPr id="28" name="N28"/>
          <p:cNvSpPr/>
          <p:nvPr/>
        </p:nvSpPr>
        <p:spPr>
          <a:xfrm>
            <a:off x="2830000" y="1330000"/>
            <a:ext cx="740000" cy="740000"/>
          </a:xfrm>
          <a:prstGeom prst="ellipse">
            <a:avLst/>
          </a:prstGeom>
          <a:solidFill>
            <a:srgbClr val="E67E22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50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29" name="N29"/>
          <p:cNvSpPr/>
          <p:nvPr/>
        </p:nvSpPr>
        <p:spPr>
          <a:xfrm>
            <a:off x="1530000" y="2330000"/>
            <a:ext cx="740000" cy="740000"/>
          </a:xfrm>
          <a:prstGeom prst="ellipse">
            <a:avLst/>
          </a:prstGeom>
          <a:solidFill>
            <a:srgbClr val="FF8C00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30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0" name="N30"/>
          <p:cNvSpPr/>
          <p:nvPr/>
        </p:nvSpPr>
        <p:spPr>
          <a:xfrm>
            <a:off x="4130000" y="23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70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1" name="N31"/>
          <p:cNvSpPr/>
          <p:nvPr/>
        </p:nvSpPr>
        <p:spPr>
          <a:xfrm>
            <a:off x="7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20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2" name="N32"/>
          <p:cNvSpPr/>
          <p:nvPr/>
        </p:nvSpPr>
        <p:spPr>
          <a:xfrm>
            <a:off x="23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40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3" name="N33"/>
          <p:cNvSpPr/>
          <p:nvPr/>
        </p:nvSpPr>
        <p:spPr>
          <a:xfrm>
            <a:off x="33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60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4" name="N34"/>
          <p:cNvSpPr/>
          <p:nvPr/>
        </p:nvSpPr>
        <p:spPr>
          <a:xfrm>
            <a:off x="49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80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5" name="N35"/>
          <p:cNvSpPr/>
          <p:nvPr/>
        </p:nvSpPr>
        <p:spPr>
          <a:xfrm>
            <a:off x="330000" y="44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10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6" name="N36"/>
          <p:cNvSpPr/>
          <p:nvPr/>
        </p:nvSpPr>
        <p:spPr>
          <a:xfrm>
            <a:off x="2730000" y="44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45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7" name="IB37"/>
          <p:cNvSpPr/>
          <p:nvPr/>
        </p:nvSpPr>
        <p:spPr>
          <a:xfrm>
            <a:off x="6700000" y="1050000"/>
            <a:ext cx="5200000" cy="1400000"/>
          </a:xfrm>
          <a:prstGeom prst="rect">
            <a:avLst/>
          </a:prstGeom>
          <a:solidFill>
            <a:srgbClr val="EAFAF1"/>
          </a:solidFill>
          <a:ln w="19050">
            <a:solidFill>
              <a:srgbClr val="27AE60"/>
            </a:solidFill>
          </a:ln>
        </p:spPr>
        <p:txBody>
          <a:bodyPr>
            <a:spAutoFit/>
          </a:bodyPr>
          <a:lstStyle/>
          <a:p>
            <a:pPr algn="l">
              <a:spcBef>
                <a:spcPts val="300"/>
              </a:spcBef>
            </a:pPr>
            <a:r>
              <a:rPr sz="1500" b="1">
                <a:solidFill>
                  <a:srgbClr val="145A32"/>
                </a:solidFill>
              </a:rPr>
              <a:t>Step 2: Compare 35 with node 30</a:t>
            </a:r>
            <a:endParaRPr sz="1500" b="1">
              <a:solidFill>
                <a:srgbClr val="145A32"/>
              </a:solidFill>
            </a:endParaRPr>
          </a:p>
          <a:p>
            <a:pPr algn="l">
              <a:spcBef>
                <a:spcPts val="300"/>
              </a:spcBef>
            </a:pPr>
            <a:r>
              <a:rPr sz="1400" b="1">
                <a:solidFill>
                  <a:srgbClr val="8E44AD"/>
                </a:solidFill>
              </a:rPr>
              <a:t>35 &gt; 30  →  Go RIGHT subtree</a:t>
            </a:r>
            <a:endParaRPr sz="1400" b="1">
              <a:solidFill>
                <a:srgbClr val="8E44AD"/>
              </a:solidFill>
            </a:endParaRPr>
          </a:p>
        </p:txBody>
      </p:sp>
      <p:sp>
        <p:nvSpPr>
          <p:cNvPr id="38" name="IB38"/>
          <p:cNvSpPr/>
          <p:nvPr/>
        </p:nvSpPr>
        <p:spPr>
          <a:xfrm>
            <a:off x="6700000" y="2600000"/>
            <a:ext cx="5200000" cy="39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txBody>
          <a:bodyPr>
            <a:spAutoFit/>
          </a:bodyPr>
          <a:lstStyle/>
          <a:p>
            <a:pPr algn="l">
              <a:spcBef>
                <a:spcPts val="300"/>
              </a:spcBef>
            </a:pPr>
            <a:r>
              <a:rPr sz="1300" b="1">
                <a:solidFill>
                  <a:srgbClr val="E67E22"/>
                </a:solidFill>
              </a:rPr>
              <a:t>Path so far: 50 → 30</a:t>
            </a:r>
            <a:endParaRPr sz="1300" b="1">
              <a:solidFill>
                <a:srgbClr val="E67E22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35 &gt; 30, so 35 belongs in the RIGHT subtree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of node 30 to preserve BST ordering.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1E3A5F"/>
                </a:solidFill>
              </a:rPr>
              <a:t>What this means:</a:t>
            </a:r>
            <a:endParaRPr sz="1200" b="1">
              <a:solidFill>
                <a:srgbClr val="1E3A5F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6D6A0"/>
                </a:solidFill>
              </a:rPr>
              <a:t>Once inserted, 35 will be GREATER than 30 ✓</a:t>
            </a:r>
            <a:endParaRPr sz="1200" b="0">
              <a:solidFill>
                <a:srgbClr val="06D6A0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6D6A0"/>
                </a:solidFill>
              </a:rPr>
              <a:t>and LESS than 50 ✓</a:t>
            </a:r>
            <a:endParaRPr sz="1200" b="0">
              <a:solidFill>
                <a:srgbClr val="06D6A0"/>
              </a:solidFill>
            </a:endParaRPr>
          </a:p>
          <a:p>
            <a:pPr algn="l">
              <a:spcBef>
                <a:spcPts val="300"/>
              </a:spcBef>
            </a:p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888888"/>
                </a:solidFill>
              </a:rPr>
              <a:t>Moving to 30's right child: node 40</a:t>
            </a:r>
            <a:endParaRPr sz="1200" b="0"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dr"/>
          <p:cNvSpPr/>
          <p:nvPr/>
        </p:nvSpPr>
        <p:spPr>
          <a:xfrm>
            <a:off x="0" y="0"/>
            <a:ext cx="12188825" cy="960000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txBody>
          <a:bodyPr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  BST Insert: Add 35  —  Step 3 of 5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3" name="StepBadge"/>
          <p:cNvSpPr/>
          <p:nvPr/>
        </p:nvSpPr>
        <p:spPr>
          <a:xfrm>
            <a:off x="10500000" y="150000"/>
            <a:ext cx="1500000" cy="660000"/>
          </a:xfrm>
          <a:prstGeom prst="roundRect">
            <a:avLst>
              <a:gd name="adj" fmla="val 30000"/>
            </a:avLst>
          </a:prstGeom>
          <a:solidFill>
            <a:srgbClr val="FFD700"/>
          </a:solidFill>
          <a:ln>
            <a:noFill/>
          </a:ln>
        </p:spPr>
        <p:txBody>
          <a:bodyPr anchor="ctr"/>
          <a:lstStyle/>
          <a:p>
            <a:pPr algn="ctr"/>
            <a:r>
              <a:rPr sz="1600" b="1">
                <a:solidFill>
                  <a:srgbClr val="000000"/>
                </a:solidFill>
              </a:rPr>
              <a:t>Step 3/5</a:t>
            </a:r>
            <a:endParaRPr sz="1600" b="1">
              <a:solidFill>
                <a:srgbClr val="000000"/>
              </a:solidFill>
            </a:endParaRPr>
          </a:p>
        </p:txBody>
      </p:sp>
      <p:sp>
        <p:nvSpPr>
          <p:cNvPr id="4" name="BgContent"/>
          <p:cNvSpPr/>
          <p:nvPr/>
        </p:nvSpPr>
        <p:spPr>
          <a:xfrm>
            <a:off x="0" y="960000"/>
            <a:ext cx="12188825" cy="589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0" name="E20"/>
          <p:cNvCxnSpPr/>
          <p:nvPr/>
        </p:nvCxnSpPr>
        <p:spPr>
          <a:xfrm flipH="1">
            <a:off x="1900000" y="1700000"/>
            <a:ext cx="1300000" cy="1000000"/>
          </a:xfrm>
          <a:prstGeom prst="line">
            <a:avLst/>
          </a:prstGeom>
          <a:ln w="38100">
            <a:solidFill>
              <a:srgbClr val="FFD700"/>
            </a:solidFill>
          </a:ln>
        </p:spPr>
      </p:cxnSp>
      <p:cxnSp>
        <p:nvCxnSpPr>
          <p:cNvPr id="21" name="E21"/>
          <p:cNvCxnSpPr/>
          <p:nvPr/>
        </p:nvCxnSpPr>
        <p:spPr>
          <a:xfrm>
            <a:off x="3200000" y="1700000"/>
            <a:ext cx="1300000" cy="100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2" name="E22"/>
          <p:cNvCxnSpPr/>
          <p:nvPr/>
        </p:nvCxnSpPr>
        <p:spPr>
          <a:xfrm flipH="1">
            <a:off x="11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3" name="E23"/>
          <p:cNvCxnSpPr/>
          <p:nvPr/>
        </p:nvCxnSpPr>
        <p:spPr>
          <a:xfrm>
            <a:off x="1900000" y="2700000"/>
            <a:ext cx="800000" cy="1050000"/>
          </a:xfrm>
          <a:prstGeom prst="line">
            <a:avLst/>
          </a:prstGeom>
          <a:ln w="38100">
            <a:solidFill>
              <a:srgbClr val="FFD700"/>
            </a:solidFill>
          </a:ln>
        </p:spPr>
      </p:cxnSp>
      <p:cxnSp>
        <p:nvCxnSpPr>
          <p:cNvPr id="24" name="E24"/>
          <p:cNvCxnSpPr/>
          <p:nvPr/>
        </p:nvCxnSpPr>
        <p:spPr>
          <a:xfrm>
            <a:off x="2700000" y="3750000"/>
            <a:ext cx="4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5" name="E25"/>
          <p:cNvCxnSpPr/>
          <p:nvPr/>
        </p:nvCxnSpPr>
        <p:spPr>
          <a:xfrm flipH="1">
            <a:off x="37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6" name="E26"/>
          <p:cNvCxnSpPr/>
          <p:nvPr/>
        </p:nvCxnSpPr>
        <p:spPr>
          <a:xfrm>
            <a:off x="45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7" name="E27"/>
          <p:cNvCxnSpPr/>
          <p:nvPr/>
        </p:nvCxnSpPr>
        <p:spPr>
          <a:xfrm flipH="1">
            <a:off x="700000" y="3750000"/>
            <a:ext cx="4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sp>
        <p:nvSpPr>
          <p:cNvPr id="28" name="N28"/>
          <p:cNvSpPr/>
          <p:nvPr/>
        </p:nvSpPr>
        <p:spPr>
          <a:xfrm>
            <a:off x="2830000" y="1330000"/>
            <a:ext cx="740000" cy="740000"/>
          </a:xfrm>
          <a:prstGeom prst="ellipse">
            <a:avLst/>
          </a:prstGeom>
          <a:solidFill>
            <a:srgbClr val="E67E22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50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29" name="N29"/>
          <p:cNvSpPr/>
          <p:nvPr/>
        </p:nvSpPr>
        <p:spPr>
          <a:xfrm>
            <a:off x="1530000" y="2330000"/>
            <a:ext cx="740000" cy="740000"/>
          </a:xfrm>
          <a:prstGeom prst="ellipse">
            <a:avLst/>
          </a:prstGeom>
          <a:solidFill>
            <a:srgbClr val="E67E22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30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0" name="N30"/>
          <p:cNvSpPr/>
          <p:nvPr/>
        </p:nvSpPr>
        <p:spPr>
          <a:xfrm>
            <a:off x="4130000" y="23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70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1" name="N31"/>
          <p:cNvSpPr/>
          <p:nvPr/>
        </p:nvSpPr>
        <p:spPr>
          <a:xfrm>
            <a:off x="7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20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2" name="N32"/>
          <p:cNvSpPr/>
          <p:nvPr/>
        </p:nvSpPr>
        <p:spPr>
          <a:xfrm>
            <a:off x="2330000" y="3380000"/>
            <a:ext cx="740000" cy="740000"/>
          </a:xfrm>
          <a:prstGeom prst="ellipse">
            <a:avLst/>
          </a:prstGeom>
          <a:solidFill>
            <a:srgbClr val="FF8C00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40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3" name="N33"/>
          <p:cNvSpPr/>
          <p:nvPr/>
        </p:nvSpPr>
        <p:spPr>
          <a:xfrm>
            <a:off x="33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60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4" name="N34"/>
          <p:cNvSpPr/>
          <p:nvPr/>
        </p:nvSpPr>
        <p:spPr>
          <a:xfrm>
            <a:off x="49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80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5" name="N35"/>
          <p:cNvSpPr/>
          <p:nvPr/>
        </p:nvSpPr>
        <p:spPr>
          <a:xfrm>
            <a:off x="330000" y="44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10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6" name="N36"/>
          <p:cNvSpPr/>
          <p:nvPr/>
        </p:nvSpPr>
        <p:spPr>
          <a:xfrm>
            <a:off x="2730000" y="44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45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7" name="IB37"/>
          <p:cNvSpPr/>
          <p:nvPr/>
        </p:nvSpPr>
        <p:spPr>
          <a:xfrm>
            <a:off x="6700000" y="1050000"/>
            <a:ext cx="5200000" cy="1400000"/>
          </a:xfrm>
          <a:prstGeom prst="rect">
            <a:avLst/>
          </a:prstGeom>
          <a:solidFill>
            <a:srgbClr val="EAFAF1"/>
          </a:solidFill>
          <a:ln w="19050">
            <a:solidFill>
              <a:srgbClr val="27AE60"/>
            </a:solidFill>
          </a:ln>
        </p:spPr>
        <p:txBody>
          <a:bodyPr>
            <a:spAutoFit/>
          </a:bodyPr>
          <a:lstStyle/>
          <a:p>
            <a:pPr algn="l">
              <a:spcBef>
                <a:spcPts val="300"/>
              </a:spcBef>
            </a:pPr>
            <a:r>
              <a:rPr sz="1500" b="1">
                <a:solidFill>
                  <a:srgbClr val="145A32"/>
                </a:solidFill>
              </a:rPr>
              <a:t>Step 3: Compare 35 with node 40</a:t>
            </a:r>
            <a:endParaRPr sz="1500" b="1">
              <a:solidFill>
                <a:srgbClr val="145A32"/>
              </a:solidFill>
            </a:endParaRPr>
          </a:p>
          <a:p>
            <a:pPr algn="l">
              <a:spcBef>
                <a:spcPts val="300"/>
              </a:spcBef>
            </a:pPr>
            <a:r>
              <a:rPr sz="1400" b="1">
                <a:solidFill>
                  <a:srgbClr val="E74C3C"/>
                </a:solidFill>
              </a:rPr>
              <a:t>35 &lt; 40  →  Go LEFT subtree</a:t>
            </a:r>
            <a:endParaRPr sz="1400" b="1">
              <a:solidFill>
                <a:srgbClr val="E74C3C"/>
              </a:solidFill>
            </a:endParaRPr>
          </a:p>
        </p:txBody>
      </p:sp>
      <p:sp>
        <p:nvSpPr>
          <p:cNvPr id="38" name="IB38"/>
          <p:cNvSpPr/>
          <p:nvPr/>
        </p:nvSpPr>
        <p:spPr>
          <a:xfrm>
            <a:off x="6700000" y="2600000"/>
            <a:ext cx="5200000" cy="39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txBody>
          <a:bodyPr>
            <a:spAutoFit/>
          </a:bodyPr>
          <a:lstStyle/>
          <a:p>
            <a:pPr algn="l">
              <a:spcBef>
                <a:spcPts val="300"/>
              </a:spcBef>
            </a:pPr>
            <a:r>
              <a:rPr sz="1300" b="1">
                <a:solidFill>
                  <a:srgbClr val="E67E22"/>
                </a:solidFill>
              </a:rPr>
              <a:t>Path so far: 50 → 30 → 40</a:t>
            </a:r>
            <a:endParaRPr sz="1300" b="1">
              <a:solidFill>
                <a:srgbClr val="E67E22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35 &lt; 40, so 35 belongs in the LEFT subtree of 40.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1E3A5F"/>
                </a:solidFill>
              </a:rPr>
              <a:t>BST constraints so far:</a:t>
            </a:r>
            <a:endParaRPr sz="1200" b="1">
              <a:solidFill>
                <a:srgbClr val="1E3A5F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6D6A0"/>
                </a:solidFill>
              </a:rPr>
              <a:t>35 &gt; 30  (must be right of 30) ✓</a:t>
            </a:r>
            <a:endParaRPr sz="1200" b="0">
              <a:solidFill>
                <a:srgbClr val="06D6A0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6D6A0"/>
                </a:solidFill>
              </a:rPr>
              <a:t>35 &lt; 40  (must be left of 40) ✓</a:t>
            </a:r>
            <a:endParaRPr sz="1200" b="0">
              <a:solidFill>
                <a:srgbClr val="06D6A0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6D6A0"/>
                </a:solidFill>
              </a:rPr>
              <a:t>35 &lt; 50  (must be left of 50) ✓</a:t>
            </a:r>
            <a:endParaRPr sz="1200" b="0">
              <a:solidFill>
                <a:srgbClr val="06D6A0"/>
              </a:solidFill>
            </a:endParaRPr>
          </a:p>
          <a:p>
            <a:pPr algn="l">
              <a:spcBef>
                <a:spcPts val="300"/>
              </a:spcBef>
            </a:p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888888"/>
                </a:solidFill>
              </a:rPr>
              <a:t>Checking 40's left child next...</a:t>
            </a:r>
            <a:endParaRPr sz="1200" b="0"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dr"/>
          <p:cNvSpPr/>
          <p:nvPr/>
        </p:nvSpPr>
        <p:spPr>
          <a:xfrm>
            <a:off x="0" y="0"/>
            <a:ext cx="12188825" cy="960000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txBody>
          <a:bodyPr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  BST Insert: Add 35  —  Step 4 of 5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3" name="StepBadge"/>
          <p:cNvSpPr/>
          <p:nvPr/>
        </p:nvSpPr>
        <p:spPr>
          <a:xfrm>
            <a:off x="10500000" y="150000"/>
            <a:ext cx="1500000" cy="660000"/>
          </a:xfrm>
          <a:prstGeom prst="roundRect">
            <a:avLst>
              <a:gd name="adj" fmla="val 30000"/>
            </a:avLst>
          </a:prstGeom>
          <a:solidFill>
            <a:srgbClr val="FFD700"/>
          </a:solidFill>
          <a:ln>
            <a:noFill/>
          </a:ln>
        </p:spPr>
        <p:txBody>
          <a:bodyPr anchor="ctr"/>
          <a:lstStyle/>
          <a:p>
            <a:pPr algn="ctr"/>
            <a:r>
              <a:rPr sz="1600" b="1">
                <a:solidFill>
                  <a:srgbClr val="000000"/>
                </a:solidFill>
              </a:rPr>
              <a:t>Step 4/5</a:t>
            </a:r>
            <a:endParaRPr sz="1600" b="1">
              <a:solidFill>
                <a:srgbClr val="000000"/>
              </a:solidFill>
            </a:endParaRPr>
          </a:p>
        </p:txBody>
      </p:sp>
      <p:sp>
        <p:nvSpPr>
          <p:cNvPr id="4" name="BgContent"/>
          <p:cNvSpPr/>
          <p:nvPr/>
        </p:nvSpPr>
        <p:spPr>
          <a:xfrm>
            <a:off x="0" y="960000"/>
            <a:ext cx="12188825" cy="589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0" name="E20"/>
          <p:cNvCxnSpPr/>
          <p:nvPr/>
        </p:nvCxnSpPr>
        <p:spPr>
          <a:xfrm flipH="1">
            <a:off x="1900000" y="1700000"/>
            <a:ext cx="1300000" cy="1000000"/>
          </a:xfrm>
          <a:prstGeom prst="line">
            <a:avLst/>
          </a:prstGeom>
          <a:ln w="38100">
            <a:solidFill>
              <a:srgbClr val="FFD700"/>
            </a:solidFill>
          </a:ln>
        </p:spPr>
      </p:cxnSp>
      <p:cxnSp>
        <p:nvCxnSpPr>
          <p:cNvPr id="21" name="E21"/>
          <p:cNvCxnSpPr/>
          <p:nvPr/>
        </p:nvCxnSpPr>
        <p:spPr>
          <a:xfrm>
            <a:off x="3200000" y="1700000"/>
            <a:ext cx="1300000" cy="100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2" name="E22"/>
          <p:cNvCxnSpPr/>
          <p:nvPr/>
        </p:nvCxnSpPr>
        <p:spPr>
          <a:xfrm flipH="1">
            <a:off x="11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3" name="E23"/>
          <p:cNvCxnSpPr/>
          <p:nvPr/>
        </p:nvCxnSpPr>
        <p:spPr>
          <a:xfrm>
            <a:off x="1900000" y="2700000"/>
            <a:ext cx="800000" cy="1050000"/>
          </a:xfrm>
          <a:prstGeom prst="line">
            <a:avLst/>
          </a:prstGeom>
          <a:ln w="38100">
            <a:solidFill>
              <a:srgbClr val="FFD700"/>
            </a:solidFill>
          </a:ln>
        </p:spPr>
      </p:cxnSp>
      <p:cxnSp>
        <p:nvCxnSpPr>
          <p:cNvPr id="24" name="E24"/>
          <p:cNvCxnSpPr/>
          <p:nvPr/>
        </p:nvCxnSpPr>
        <p:spPr>
          <a:xfrm>
            <a:off x="2700000" y="3750000"/>
            <a:ext cx="4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5" name="E25"/>
          <p:cNvCxnSpPr/>
          <p:nvPr/>
        </p:nvCxnSpPr>
        <p:spPr>
          <a:xfrm flipH="1">
            <a:off x="37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6" name="E26"/>
          <p:cNvCxnSpPr/>
          <p:nvPr/>
        </p:nvCxnSpPr>
        <p:spPr>
          <a:xfrm>
            <a:off x="45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7" name="E27"/>
          <p:cNvCxnSpPr/>
          <p:nvPr/>
        </p:nvCxnSpPr>
        <p:spPr>
          <a:xfrm flipH="1">
            <a:off x="700000" y="3750000"/>
            <a:ext cx="4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sp>
        <p:nvSpPr>
          <p:cNvPr id="28" name="N28"/>
          <p:cNvSpPr/>
          <p:nvPr/>
        </p:nvSpPr>
        <p:spPr>
          <a:xfrm>
            <a:off x="2830000" y="1330000"/>
            <a:ext cx="740000" cy="740000"/>
          </a:xfrm>
          <a:prstGeom prst="ellipse">
            <a:avLst/>
          </a:prstGeom>
          <a:solidFill>
            <a:srgbClr val="E67E22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50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29" name="N29"/>
          <p:cNvSpPr/>
          <p:nvPr/>
        </p:nvSpPr>
        <p:spPr>
          <a:xfrm>
            <a:off x="1530000" y="2330000"/>
            <a:ext cx="740000" cy="740000"/>
          </a:xfrm>
          <a:prstGeom prst="ellipse">
            <a:avLst/>
          </a:prstGeom>
          <a:solidFill>
            <a:srgbClr val="E67E22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30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0" name="N30"/>
          <p:cNvSpPr/>
          <p:nvPr/>
        </p:nvSpPr>
        <p:spPr>
          <a:xfrm>
            <a:off x="4130000" y="23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70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1" name="N31"/>
          <p:cNvSpPr/>
          <p:nvPr/>
        </p:nvSpPr>
        <p:spPr>
          <a:xfrm>
            <a:off x="7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20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2" name="N32"/>
          <p:cNvSpPr/>
          <p:nvPr/>
        </p:nvSpPr>
        <p:spPr>
          <a:xfrm>
            <a:off x="2330000" y="3380000"/>
            <a:ext cx="740000" cy="740000"/>
          </a:xfrm>
          <a:prstGeom prst="ellipse">
            <a:avLst/>
          </a:prstGeom>
          <a:solidFill>
            <a:srgbClr val="E67E22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40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3" name="N33"/>
          <p:cNvSpPr/>
          <p:nvPr/>
        </p:nvSpPr>
        <p:spPr>
          <a:xfrm>
            <a:off x="33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60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4" name="N34"/>
          <p:cNvSpPr/>
          <p:nvPr/>
        </p:nvSpPr>
        <p:spPr>
          <a:xfrm>
            <a:off x="49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80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5" name="N35"/>
          <p:cNvSpPr/>
          <p:nvPr/>
        </p:nvSpPr>
        <p:spPr>
          <a:xfrm>
            <a:off x="330000" y="44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10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6" name="N36"/>
          <p:cNvSpPr/>
          <p:nvPr/>
        </p:nvSpPr>
        <p:spPr>
          <a:xfrm>
            <a:off x="2730000" y="44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45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7" name="L37"/>
          <p:cNvSpPr txBox="1"/>
          <p:nvPr/>
        </p:nvSpPr>
        <p:spPr>
          <a:xfrm>
            <a:off x="1600000" y="4500000"/>
            <a:ext cx="9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74C3C"/>
                </a:solidFill>
              </a:rPr>
              <a:t>NULL</a:t>
            </a:r>
            <a:endParaRPr sz="1100" b="1">
              <a:solidFill>
                <a:srgbClr val="E74C3C"/>
              </a:solidFill>
            </a:endParaRPr>
          </a:p>
        </p:txBody>
      </p:sp>
      <p:sp>
        <p:nvSpPr>
          <p:cNvPr id="38" name="IB38"/>
          <p:cNvSpPr/>
          <p:nvPr/>
        </p:nvSpPr>
        <p:spPr>
          <a:xfrm>
            <a:off x="6700000" y="1050000"/>
            <a:ext cx="5200000" cy="1600000"/>
          </a:xfrm>
          <a:prstGeom prst="rect">
            <a:avLst/>
          </a:prstGeom>
          <a:solidFill>
            <a:srgbClr val="EAFAF1"/>
          </a:solidFill>
          <a:ln w="19050">
            <a:solidFill>
              <a:srgbClr val="27AE60"/>
            </a:solidFill>
          </a:ln>
        </p:spPr>
        <p:txBody>
          <a:bodyPr>
            <a:spAutoFit/>
          </a:bodyPr>
          <a:lstStyle/>
          <a:p>
            <a:pPr algn="l">
              <a:spcBef>
                <a:spcPts val="300"/>
              </a:spcBef>
            </a:pPr>
            <a:r>
              <a:rPr sz="1500" b="1">
                <a:solidFill>
                  <a:srgbClr val="06D6A0"/>
                </a:solidFill>
              </a:rPr>
              <a:t>Step 4: 40-&gt;left = NULL!</a:t>
            </a:r>
            <a:endParaRPr sz="1500" b="1">
              <a:solidFill>
                <a:srgbClr val="06D6A0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555555"/>
                </a:solidFill>
              </a:rPr>
              <a:t>Empty slot found!</a:t>
            </a:r>
            <a:endParaRPr sz="1300" b="0">
              <a:solidFill>
                <a:srgbClr val="555555"/>
              </a:solidFill>
            </a:endParaRPr>
          </a:p>
          <a:p>
            <a:pPr algn="l">
              <a:spcBef>
                <a:spcPts val="300"/>
              </a:spcBef>
            </a:pPr>
            <a:r>
              <a:rPr sz="1400" b="1">
                <a:solidFill>
                  <a:srgbClr val="06D6A0"/>
                </a:solidFill>
              </a:rPr>
              <a:t>INSERT 35 HERE as left child of 40</a:t>
            </a:r>
            <a:endParaRPr sz="1400" b="1">
              <a:solidFill>
                <a:srgbClr val="06D6A0"/>
              </a:solidFill>
            </a:endParaRPr>
          </a:p>
        </p:txBody>
      </p:sp>
      <p:sp>
        <p:nvSpPr>
          <p:cNvPr id="39" name="IB39"/>
          <p:cNvSpPr/>
          <p:nvPr/>
        </p:nvSpPr>
        <p:spPr>
          <a:xfrm>
            <a:off x="6700000" y="2800000"/>
            <a:ext cx="5200000" cy="37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txBody>
          <a:bodyPr>
            <a:spAutoFit/>
          </a:bodyPr>
          <a:lstStyle/>
          <a:p>
            <a:pPr algn="l">
              <a:spcBef>
                <a:spcPts val="300"/>
              </a:spcBef>
            </a:pPr>
            <a:r>
              <a:rPr sz="1300" b="1">
                <a:solidFill>
                  <a:srgbClr val="1E3A5F"/>
                </a:solidFill>
              </a:rPr>
              <a:t>NULL slot = insert position found!</a:t>
            </a:r>
            <a:endParaRPr sz="1300" b="1">
              <a:solidFill>
                <a:srgbClr val="1E3A5F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When we reach a NULL pointer, we stop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and create a new leaf node here.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1E3A5F"/>
                </a:solidFill>
              </a:rPr>
              <a:t>Creating new node:</a:t>
            </a:r>
            <a:endParaRPr sz="1200" b="1">
              <a:solidFill>
                <a:srgbClr val="1E3A5F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  data = 35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  left = NULL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  right = NULL  (it's a leaf!)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</a:p>
          <a:p>
            <a:pPr algn="l">
              <a:spcBef>
                <a:spcPts val="300"/>
              </a:spcBef>
            </a:pPr>
            <a:r>
              <a:rPr sz="1300" b="1">
                <a:solidFill>
                  <a:srgbClr val="E67E22"/>
                </a:solidFill>
              </a:rPr>
              <a:t>Next: connect node to tree →</a:t>
            </a:r>
            <a:endParaRPr sz="1300" b="1">
              <a:solidFill>
                <a:srgbClr val="E67E22"/>
              </a:solidFill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dr"/>
          <p:cNvSpPr/>
          <p:nvPr/>
        </p:nvSpPr>
        <p:spPr>
          <a:xfrm>
            <a:off x="0" y="0"/>
            <a:ext cx="12188825" cy="960000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txBody>
          <a:bodyPr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  BST Insert: Add 35  —  Step 5 of 5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3" name="StepBadge"/>
          <p:cNvSpPr/>
          <p:nvPr/>
        </p:nvSpPr>
        <p:spPr>
          <a:xfrm>
            <a:off x="10500000" y="150000"/>
            <a:ext cx="1500000" cy="660000"/>
          </a:xfrm>
          <a:prstGeom prst="roundRect">
            <a:avLst>
              <a:gd name="adj" fmla="val 30000"/>
            </a:avLst>
          </a:prstGeom>
          <a:solidFill>
            <a:srgbClr val="FFD700"/>
          </a:solidFill>
          <a:ln>
            <a:noFill/>
          </a:ln>
        </p:spPr>
        <p:txBody>
          <a:bodyPr anchor="ctr"/>
          <a:lstStyle/>
          <a:p>
            <a:pPr algn="ctr"/>
            <a:r>
              <a:rPr sz="1600" b="1">
                <a:solidFill>
                  <a:srgbClr val="000000"/>
                </a:solidFill>
              </a:rPr>
              <a:t>✓ Done</a:t>
            </a:r>
            <a:endParaRPr sz="1600" b="1">
              <a:solidFill>
                <a:srgbClr val="000000"/>
              </a:solidFill>
            </a:endParaRPr>
          </a:p>
        </p:txBody>
      </p:sp>
      <p:sp>
        <p:nvSpPr>
          <p:cNvPr id="4" name="BgContent"/>
          <p:cNvSpPr/>
          <p:nvPr/>
        </p:nvSpPr>
        <p:spPr>
          <a:xfrm>
            <a:off x="0" y="960000"/>
            <a:ext cx="12188825" cy="589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0" name="E20"/>
          <p:cNvCxnSpPr/>
          <p:nvPr/>
        </p:nvCxnSpPr>
        <p:spPr>
          <a:xfrm flipH="1">
            <a:off x="1900000" y="1700000"/>
            <a:ext cx="1300000" cy="1000000"/>
          </a:xfrm>
          <a:prstGeom prst="line">
            <a:avLst/>
          </a:prstGeom>
          <a:ln w="38100">
            <a:solidFill>
              <a:srgbClr val="FFD700"/>
            </a:solidFill>
          </a:ln>
        </p:spPr>
      </p:cxnSp>
      <p:cxnSp>
        <p:nvCxnSpPr>
          <p:cNvPr id="21" name="E21"/>
          <p:cNvCxnSpPr/>
          <p:nvPr/>
        </p:nvCxnSpPr>
        <p:spPr>
          <a:xfrm>
            <a:off x="3200000" y="1700000"/>
            <a:ext cx="1300000" cy="100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2" name="E22"/>
          <p:cNvCxnSpPr/>
          <p:nvPr/>
        </p:nvCxnSpPr>
        <p:spPr>
          <a:xfrm flipH="1">
            <a:off x="11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3" name="E23"/>
          <p:cNvCxnSpPr/>
          <p:nvPr/>
        </p:nvCxnSpPr>
        <p:spPr>
          <a:xfrm>
            <a:off x="1900000" y="2700000"/>
            <a:ext cx="800000" cy="1050000"/>
          </a:xfrm>
          <a:prstGeom prst="line">
            <a:avLst/>
          </a:prstGeom>
          <a:ln w="38100">
            <a:solidFill>
              <a:srgbClr val="FFD700"/>
            </a:solidFill>
          </a:ln>
        </p:spPr>
      </p:cxnSp>
      <p:cxnSp>
        <p:nvCxnSpPr>
          <p:cNvPr id="24" name="E24"/>
          <p:cNvCxnSpPr/>
          <p:nvPr/>
        </p:nvCxnSpPr>
        <p:spPr>
          <a:xfrm>
            <a:off x="2700000" y="3750000"/>
            <a:ext cx="4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5" name="E25"/>
          <p:cNvCxnSpPr/>
          <p:nvPr/>
        </p:nvCxnSpPr>
        <p:spPr>
          <a:xfrm flipH="1">
            <a:off x="37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6" name="E26"/>
          <p:cNvCxnSpPr/>
          <p:nvPr/>
        </p:nvCxnSpPr>
        <p:spPr>
          <a:xfrm>
            <a:off x="45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7" name="E27"/>
          <p:cNvCxnSpPr/>
          <p:nvPr/>
        </p:nvCxnSpPr>
        <p:spPr>
          <a:xfrm flipH="1">
            <a:off x="700000" y="3750000"/>
            <a:ext cx="4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8" name="E28"/>
          <p:cNvCxnSpPr/>
          <p:nvPr/>
        </p:nvCxnSpPr>
        <p:spPr>
          <a:xfrm flipH="1">
            <a:off x="2000000" y="3750000"/>
            <a:ext cx="700000" cy="1000000"/>
          </a:xfrm>
          <a:prstGeom prst="line">
            <a:avLst/>
          </a:prstGeom>
          <a:ln w="30000">
            <a:solidFill>
              <a:srgbClr val="06D6A0"/>
            </a:solidFill>
          </a:ln>
        </p:spPr>
      </p:cxnSp>
      <p:sp>
        <p:nvSpPr>
          <p:cNvPr id="29" name="N29"/>
          <p:cNvSpPr/>
          <p:nvPr/>
        </p:nvSpPr>
        <p:spPr>
          <a:xfrm>
            <a:off x="2830000" y="1330000"/>
            <a:ext cx="740000" cy="740000"/>
          </a:xfrm>
          <a:prstGeom prst="ellipse">
            <a:avLst/>
          </a:prstGeom>
          <a:solidFill>
            <a:srgbClr val="E67E22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50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0" name="N30"/>
          <p:cNvSpPr/>
          <p:nvPr/>
        </p:nvSpPr>
        <p:spPr>
          <a:xfrm>
            <a:off x="1530000" y="2330000"/>
            <a:ext cx="740000" cy="740000"/>
          </a:xfrm>
          <a:prstGeom prst="ellipse">
            <a:avLst/>
          </a:prstGeom>
          <a:solidFill>
            <a:srgbClr val="E67E22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30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1" name="N31"/>
          <p:cNvSpPr/>
          <p:nvPr/>
        </p:nvSpPr>
        <p:spPr>
          <a:xfrm>
            <a:off x="4130000" y="23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70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2" name="N32"/>
          <p:cNvSpPr/>
          <p:nvPr/>
        </p:nvSpPr>
        <p:spPr>
          <a:xfrm>
            <a:off x="7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20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3" name="N33"/>
          <p:cNvSpPr/>
          <p:nvPr/>
        </p:nvSpPr>
        <p:spPr>
          <a:xfrm>
            <a:off x="2330000" y="3380000"/>
            <a:ext cx="740000" cy="740000"/>
          </a:xfrm>
          <a:prstGeom prst="ellipse">
            <a:avLst/>
          </a:prstGeom>
          <a:solidFill>
            <a:srgbClr val="E67E22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40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4" name="N34"/>
          <p:cNvSpPr/>
          <p:nvPr/>
        </p:nvSpPr>
        <p:spPr>
          <a:xfrm>
            <a:off x="33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60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5" name="N35"/>
          <p:cNvSpPr/>
          <p:nvPr/>
        </p:nvSpPr>
        <p:spPr>
          <a:xfrm>
            <a:off x="49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80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6" name="N36"/>
          <p:cNvSpPr/>
          <p:nvPr/>
        </p:nvSpPr>
        <p:spPr>
          <a:xfrm>
            <a:off x="330000" y="44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10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7" name="N37"/>
          <p:cNvSpPr/>
          <p:nvPr/>
        </p:nvSpPr>
        <p:spPr>
          <a:xfrm>
            <a:off x="2730000" y="44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45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8" name="N38"/>
          <p:cNvSpPr/>
          <p:nvPr/>
        </p:nvSpPr>
        <p:spPr>
          <a:xfrm>
            <a:off x="1630000" y="4380000"/>
            <a:ext cx="740000" cy="740000"/>
          </a:xfrm>
          <a:prstGeom prst="ellipse">
            <a:avLst/>
          </a:prstGeom>
          <a:solidFill>
            <a:srgbClr val="06D6A0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35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9" name="IB39"/>
          <p:cNvSpPr/>
          <p:nvPr/>
        </p:nvSpPr>
        <p:spPr>
          <a:xfrm>
            <a:off x="6700000" y="1050000"/>
            <a:ext cx="5200000" cy="1600000"/>
          </a:xfrm>
          <a:prstGeom prst="rect">
            <a:avLst/>
          </a:prstGeom>
          <a:solidFill>
            <a:srgbClr val="EAFAF1"/>
          </a:solidFill>
          <a:ln w="19050">
            <a:solidFill>
              <a:srgbClr val="06D6A0"/>
            </a:solidFill>
          </a:ln>
        </p:spPr>
        <p:txBody>
          <a:bodyPr>
            <a:spAutoFit/>
          </a:bodyPr>
          <a:lstStyle/>
          <a:p>
            <a:pPr algn="l">
              <a:spcBef>
                <a:spcPts val="300"/>
              </a:spcBef>
            </a:pPr>
            <a:r>
              <a:rPr sz="1500" b="1">
                <a:solidFill>
                  <a:srgbClr val="06D6A0"/>
                </a:solidFill>
              </a:rPr>
              <a:t>Step 5: Node 35 Inserted! ✓</a:t>
            </a:r>
            <a:endParaRPr sz="1500" b="1">
              <a:solidFill>
                <a:srgbClr val="06D6A0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555555"/>
                </a:solidFill>
              </a:rPr>
              <a:t>35 is now left child of 40</a:t>
            </a:r>
            <a:endParaRPr sz="1300" b="0">
              <a:solidFill>
                <a:srgbClr val="555555"/>
              </a:solidFill>
            </a:endParaRPr>
          </a:p>
          <a:p>
            <a:pPr algn="l">
              <a:spcBef>
                <a:spcPts val="300"/>
              </a:spcBef>
            </a:pPr>
            <a:r>
              <a:rPr sz="1400" b="1">
                <a:solidFill>
                  <a:srgbClr val="06D6A0"/>
                </a:solidFill>
              </a:rPr>
              <a:t>BST property verified throughout!</a:t>
            </a:r>
            <a:endParaRPr sz="1400" b="1">
              <a:solidFill>
                <a:srgbClr val="06D6A0"/>
              </a:solidFill>
            </a:endParaRPr>
          </a:p>
        </p:txBody>
      </p:sp>
      <p:sp>
        <p:nvSpPr>
          <p:cNvPr id="40" name="IB40"/>
          <p:cNvSpPr/>
          <p:nvPr/>
        </p:nvSpPr>
        <p:spPr>
          <a:xfrm>
            <a:off x="6700000" y="2800000"/>
            <a:ext cx="5200000" cy="37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txBody>
          <a:bodyPr>
            <a:spAutoFit/>
          </a:bodyPr>
          <a:lstStyle/>
          <a:p>
            <a:pPr algn="l">
              <a:spcBef>
                <a:spcPts val="300"/>
              </a:spcBef>
            </a:pPr>
            <a:r>
              <a:rPr sz="1400" b="1">
                <a:solidFill>
                  <a:srgbClr val="145A32"/>
                </a:solidFill>
              </a:rPr>
              <a:t>Insertion Complete! ✓</a:t>
            </a:r>
            <a:endParaRPr sz="1400" b="1">
              <a:solidFill>
                <a:srgbClr val="145A32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1E3A5F"/>
                </a:solidFill>
              </a:rPr>
              <a:t>BST property check:</a:t>
            </a:r>
            <a:endParaRPr sz="1200" b="1">
              <a:solidFill>
                <a:srgbClr val="1E3A5F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6D6A0"/>
                </a:solidFill>
              </a:rPr>
              <a:t>  35 &gt; 30  (right of 30) ✓</a:t>
            </a:r>
            <a:endParaRPr sz="1200" b="0">
              <a:solidFill>
                <a:srgbClr val="06D6A0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6D6A0"/>
                </a:solidFill>
              </a:rPr>
              <a:t>  35 &lt; 40  (left of 40) ✓</a:t>
            </a:r>
            <a:endParaRPr sz="1200" b="0">
              <a:solidFill>
                <a:srgbClr val="06D6A0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6D6A0"/>
                </a:solidFill>
              </a:rPr>
              <a:t>  35 &lt; 50  (left of 50) ✓</a:t>
            </a:r>
            <a:endParaRPr sz="1200" b="0">
              <a:solidFill>
                <a:srgbClr val="06D6A0"/>
              </a:solidFill>
            </a:endParaRPr>
          </a:p>
          <a:p>
            <a:pPr algn="l">
              <a:spcBef>
                <a:spcPts val="300"/>
              </a:spcBef>
            </a:pPr>
          </a:p>
          <a:p>
            <a:pPr algn="l">
              <a:spcBef>
                <a:spcPts val="300"/>
              </a:spcBef>
            </a:pPr>
            <a:r>
              <a:rPr sz="1300" b="1">
                <a:solidFill>
                  <a:srgbClr val="E74C3C"/>
                </a:solidFill>
              </a:rPr>
              <a:t>Key insight: new node is always a LEAF</a:t>
            </a:r>
            <a:endParaRPr sz="1300" b="1">
              <a:solidFill>
                <a:srgbClr val="E74C3C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No restructuring needed after insertion!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2980B9"/>
                </a:solidFill>
              </a:rPr>
              <a:t>Time: O(log n) balanced / O(n) skewed</a:t>
            </a:r>
            <a:endParaRPr sz="1200" b="0">
              <a:solidFill>
                <a:srgbClr val="2980B9"/>
              </a:solidFill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BST Insertion — Trace: Insert 35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66928" cy="566928"/>
          </a:xfrm>
          <a:prstGeom prst="rect">
            <a:avLst/>
          </a:prstGeom>
          <a:solidFill>
            <a:srgbClr val="00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77824" y="114300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14300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Initial BST: 50(root), 30(left of 50), 70(right of 50), 20(left of 30), 40(right of 30)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4320" y="1783080"/>
            <a:ext cx="566928" cy="56692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7830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77824" y="178308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78308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1: Start at ROOT = 50. Is 35 &lt; 50? YES → Go LEFT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4320" y="2423160"/>
            <a:ext cx="566928" cy="56692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42316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77824" y="242316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42316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2: At node 30. Is 35 &gt; 30? YES → Go RIGHT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4320" y="3063240"/>
            <a:ext cx="566928" cy="566928"/>
          </a:xfrm>
          <a:prstGeom prst="rect">
            <a:avLst/>
          </a:prstGeom>
          <a:solidFill>
            <a:srgbClr val="FF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0632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77824" y="306324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8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06324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3: At node 40. Is 35 &lt; 40? YES → Go LEFT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74320" y="3703320"/>
            <a:ext cx="566928" cy="566928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7033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77824" y="370332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70332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4: node 40's left = NULL → INSERT 35 here as a LEAF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74320" y="4343400"/>
            <a:ext cx="566928" cy="5669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43434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77824" y="434340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34340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Result: 35 is inserted as the LEFT child of node 40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74320" y="4983480"/>
            <a:ext cx="566928" cy="56692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49834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7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77824" y="498348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98348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Verify BST property: 35 &gt; 30 ✓,  35 &lt; 40 ✓,  35 &lt; 50 ✓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74320" y="5623560"/>
            <a:ext cx="566928" cy="566928"/>
          </a:xfrm>
          <a:prstGeom prst="rect">
            <a:avLst/>
          </a:prstGeom>
          <a:solidFill>
            <a:srgbClr val="1A2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562356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8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77824" y="562356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2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562356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Insertion always ends at a LEAF position — no restructuring needed!</a:t>
            </a:r>
            <a:endParaRPr sz="1700" b="0" i="0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BST Insertion — C Code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1612880" cy="5120640"/>
          </a:xfrm>
          <a:prstGeom prst="rect">
            <a:avLst/>
          </a:prstGeom>
          <a:solidFill>
            <a:srgbClr val="1E1E2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846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struct Node* newNode(int val) {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struct Node* n = (struct Node*)malloc(sizeof(struct Node));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n-&gt;data  = val;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n-&gt;left  = n-&gt;right = NULL;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C586C0"/>
                </a:solidFill>
                <a:latin typeface="Courier New" panose="02070309020205020404"/>
              </a:rPr>
              <a:t>    return n;</a:t>
            </a:r>
            <a:endParaRPr sz="1500">
              <a:solidFill>
                <a:srgbClr val="C586C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}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endParaRPr sz="1500"/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struct Node* insert(struct Node* root, int val) {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C586C0"/>
                </a:solidFill>
                <a:latin typeface="Courier New" panose="02070309020205020404"/>
              </a:rPr>
              <a:t>    if (root == NULL) return newNode(val); /* Insert here */</a:t>
            </a:r>
            <a:endParaRPr sz="1500">
              <a:solidFill>
                <a:srgbClr val="C586C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C586C0"/>
                </a:solidFill>
                <a:latin typeface="Courier New" panose="02070309020205020404"/>
              </a:rPr>
              <a:t>    if (val &lt; root-&gt;data)                  /* Go LEFT    */</a:t>
            </a:r>
            <a:endParaRPr sz="1500">
              <a:solidFill>
                <a:srgbClr val="C586C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    root-&gt;left  = insert(root-&gt;left,  val);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else if (val &gt; root-&gt;data)             /* Go RIGHT  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    root-&gt;right = insert(root-&gt;right, val);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/* if val==root-&gt;data: duplicate, ignore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C586C0"/>
                </a:solidFill>
                <a:latin typeface="Courier New" panose="02070309020205020404"/>
              </a:rPr>
              <a:t>    return root;</a:t>
            </a:r>
            <a:endParaRPr sz="1500">
              <a:solidFill>
                <a:srgbClr val="C586C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}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/* Usage: root = insert(root, 35);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6355080"/>
            <a:ext cx="1161288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8600"/>
                </a:solidFill>
              </a:rPr>
              <a:t>📝  Always returns the (possibly modified) root. New node is always a leaf.</a:t>
            </a:r>
            <a:endParaRPr sz="1300" b="0" i="1">
              <a:solidFill>
                <a:srgbClr val="FF8600"/>
              </a:solidFill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BST Deletion — 3 Cases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Deletion is the most complex BST operation — 3 cases: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Case 1: Node is a LEAF (no children)</a:t>
            </a:r>
            <a:endParaRPr sz="1800" b="1">
              <a:solidFill>
                <a:srgbClr val="1A236A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→ Simply REMOVE the node. Easy!</a:t>
            </a:r>
            <a:endParaRPr sz="1600" b="0">
              <a:solidFill>
                <a:srgbClr val="005C97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Case 2: Node has ONE child (left OR right)</a:t>
            </a:r>
            <a:endParaRPr sz="1800" b="1">
              <a:solidFill>
                <a:srgbClr val="1A236A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→ Replace the node with its ONLY child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→ Parent of deleted node now points to the child</a:t>
            </a:r>
            <a:endParaRPr sz="1600" b="0">
              <a:solidFill>
                <a:srgbClr val="005C97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Case 3: Node has TWO children</a:t>
            </a:r>
            <a:endParaRPr sz="1800" b="1">
              <a:solidFill>
                <a:srgbClr val="1A236A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→ Find the INORDER SUCCESSOR (smallest node in right subtree)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→ Copy inorder successor's value into the current node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→ Delete the inorder successor (which has at most 1 child)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→ BST property is automatically maintained!</a:t>
            </a:r>
            <a:endParaRPr sz="1600" b="0">
              <a:solidFill>
                <a:srgbClr val="005C97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Alternative to Case 3: Use INORDER PREDECESSOR (largest in left subtree)</a:t>
            </a:r>
            <a:endParaRPr sz="1800" b="1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dr"/>
          <p:cNvSpPr/>
          <p:nvPr/>
        </p:nvSpPr>
        <p:spPr>
          <a:xfrm>
            <a:off x="0" y="0"/>
            <a:ext cx="12188825" cy="96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  BST Delete: Remove 10 (Leaf)  —  Step 1 of 3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3" name="StepBadge"/>
          <p:cNvSpPr/>
          <p:nvPr/>
        </p:nvSpPr>
        <p:spPr>
          <a:xfrm>
            <a:off x="10500000" y="150000"/>
            <a:ext cx="1500000" cy="660000"/>
          </a:xfrm>
          <a:prstGeom prst="roundRect">
            <a:avLst>
              <a:gd name="adj" fmla="val 30000"/>
            </a:avLst>
          </a:prstGeom>
          <a:solidFill>
            <a:srgbClr val="FFD700"/>
          </a:solidFill>
          <a:ln>
            <a:noFill/>
          </a:ln>
        </p:spPr>
        <p:txBody>
          <a:bodyPr anchor="ctr"/>
          <a:lstStyle/>
          <a:p>
            <a:pPr algn="ctr"/>
            <a:r>
              <a:rPr sz="1600" b="1">
                <a:solidFill>
                  <a:srgbClr val="000000"/>
                </a:solidFill>
              </a:rPr>
              <a:t>Case 1 · Step 1/3</a:t>
            </a:r>
            <a:endParaRPr sz="1600" b="1">
              <a:solidFill>
                <a:srgbClr val="000000"/>
              </a:solidFill>
            </a:endParaRPr>
          </a:p>
        </p:txBody>
      </p:sp>
      <p:sp>
        <p:nvSpPr>
          <p:cNvPr id="4" name="BgContent"/>
          <p:cNvSpPr/>
          <p:nvPr/>
        </p:nvSpPr>
        <p:spPr>
          <a:xfrm>
            <a:off x="0" y="960000"/>
            <a:ext cx="12188825" cy="589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0" name="E20"/>
          <p:cNvCxnSpPr/>
          <p:nvPr/>
        </p:nvCxnSpPr>
        <p:spPr>
          <a:xfrm flipH="1">
            <a:off x="1900000" y="1700000"/>
            <a:ext cx="1300000" cy="100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1" name="E21"/>
          <p:cNvCxnSpPr/>
          <p:nvPr/>
        </p:nvCxnSpPr>
        <p:spPr>
          <a:xfrm>
            <a:off x="3200000" y="1700000"/>
            <a:ext cx="1300000" cy="100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2" name="E22"/>
          <p:cNvCxnSpPr/>
          <p:nvPr/>
        </p:nvCxnSpPr>
        <p:spPr>
          <a:xfrm flipH="1">
            <a:off x="11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3" name="E23"/>
          <p:cNvCxnSpPr/>
          <p:nvPr/>
        </p:nvCxnSpPr>
        <p:spPr>
          <a:xfrm>
            <a:off x="19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4" name="E24"/>
          <p:cNvCxnSpPr/>
          <p:nvPr/>
        </p:nvCxnSpPr>
        <p:spPr>
          <a:xfrm>
            <a:off x="2700000" y="3750000"/>
            <a:ext cx="4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5" name="E25"/>
          <p:cNvCxnSpPr/>
          <p:nvPr/>
        </p:nvCxnSpPr>
        <p:spPr>
          <a:xfrm flipH="1">
            <a:off x="37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6" name="E26"/>
          <p:cNvCxnSpPr/>
          <p:nvPr/>
        </p:nvCxnSpPr>
        <p:spPr>
          <a:xfrm>
            <a:off x="45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7" name="E27"/>
          <p:cNvCxnSpPr/>
          <p:nvPr/>
        </p:nvCxnSpPr>
        <p:spPr>
          <a:xfrm flipH="1">
            <a:off x="700000" y="3750000"/>
            <a:ext cx="4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sp>
        <p:nvSpPr>
          <p:cNvPr id="28" name="N28"/>
          <p:cNvSpPr/>
          <p:nvPr/>
        </p:nvSpPr>
        <p:spPr>
          <a:xfrm>
            <a:off x="2830000" y="13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50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29" name="N29"/>
          <p:cNvSpPr/>
          <p:nvPr/>
        </p:nvSpPr>
        <p:spPr>
          <a:xfrm>
            <a:off x="1530000" y="23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30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0" name="N30"/>
          <p:cNvSpPr/>
          <p:nvPr/>
        </p:nvSpPr>
        <p:spPr>
          <a:xfrm>
            <a:off x="4130000" y="23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70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1" name="N31"/>
          <p:cNvSpPr/>
          <p:nvPr/>
        </p:nvSpPr>
        <p:spPr>
          <a:xfrm>
            <a:off x="7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20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2" name="N32"/>
          <p:cNvSpPr/>
          <p:nvPr/>
        </p:nvSpPr>
        <p:spPr>
          <a:xfrm>
            <a:off x="23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40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3" name="N33"/>
          <p:cNvSpPr/>
          <p:nvPr/>
        </p:nvSpPr>
        <p:spPr>
          <a:xfrm>
            <a:off x="33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60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4" name="N34"/>
          <p:cNvSpPr/>
          <p:nvPr/>
        </p:nvSpPr>
        <p:spPr>
          <a:xfrm>
            <a:off x="49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80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5" name="N35"/>
          <p:cNvSpPr/>
          <p:nvPr/>
        </p:nvSpPr>
        <p:spPr>
          <a:xfrm>
            <a:off x="330000" y="4430000"/>
            <a:ext cx="740000" cy="740000"/>
          </a:xfrm>
          <a:prstGeom prst="ellipse">
            <a:avLst/>
          </a:prstGeom>
          <a:solidFill>
            <a:srgbClr val="E74C3C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10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6" name="N36"/>
          <p:cNvSpPr/>
          <p:nvPr/>
        </p:nvSpPr>
        <p:spPr>
          <a:xfrm>
            <a:off x="2730000" y="44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45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7" name="IB37"/>
          <p:cNvSpPr/>
          <p:nvPr/>
        </p:nvSpPr>
        <p:spPr>
          <a:xfrm>
            <a:off x="6700000" y="1050000"/>
            <a:ext cx="5200000" cy="1600000"/>
          </a:xfrm>
          <a:prstGeom prst="rect">
            <a:avLst/>
          </a:prstGeom>
          <a:solidFill>
            <a:srgbClr val="FEF0F0"/>
          </a:solidFill>
          <a:ln w="19050">
            <a:solidFill>
              <a:srgbClr val="E74C3C"/>
            </a:solidFill>
          </a:ln>
        </p:spPr>
        <p:txBody>
          <a:bodyPr>
            <a:spAutoFit/>
          </a:bodyPr>
          <a:lstStyle/>
          <a:p>
            <a:pPr algn="l">
              <a:spcBef>
                <a:spcPts val="300"/>
              </a:spcBef>
            </a:pPr>
            <a:r>
              <a:rPr sz="1500" b="1">
                <a:solidFill>
                  <a:srgbClr val="E74C3C"/>
                </a:solidFill>
              </a:rPr>
              <a:t>Case 1 — Step 1: Delete LEAF node 10</a:t>
            </a:r>
            <a:endParaRPr sz="1500" b="1">
              <a:solidFill>
                <a:srgbClr val="E74C3C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555555"/>
                </a:solidFill>
              </a:rPr>
              <a:t>Node 10 is a LEAF (no children)</a:t>
            </a:r>
            <a:endParaRPr sz="1300" b="0">
              <a:solidFill>
                <a:srgbClr val="555555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888888"/>
                </a:solidFill>
              </a:rPr>
              <a:t>Left child = NULL,  Right child = NULL</a:t>
            </a:r>
            <a:endParaRPr sz="1300" b="0">
              <a:solidFill>
                <a:srgbClr val="888888"/>
              </a:solidFill>
            </a:endParaRPr>
          </a:p>
        </p:txBody>
      </p:sp>
      <p:sp>
        <p:nvSpPr>
          <p:cNvPr id="38" name="IB38"/>
          <p:cNvSpPr/>
          <p:nvPr/>
        </p:nvSpPr>
        <p:spPr>
          <a:xfrm>
            <a:off x="6700000" y="2800000"/>
            <a:ext cx="5200000" cy="37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txBody>
          <a:bodyPr>
            <a:spAutoFit/>
          </a:bodyPr>
          <a:lstStyle/>
          <a:p>
            <a:pPr algn="l">
              <a:spcBef>
                <a:spcPts val="300"/>
              </a:spcBef>
            </a:pPr>
            <a:r>
              <a:rPr sz="1400" b="1">
                <a:solidFill>
                  <a:srgbClr val="E74C3C"/>
                </a:solidFill>
              </a:rPr>
              <a:t>Case 1: Deleting a Leaf Node</a:t>
            </a:r>
            <a:endParaRPr sz="1400" b="1">
              <a:solidFill>
                <a:srgbClr val="E74C3C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This is the SIMPLEST case!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1E3A5F"/>
                </a:solidFill>
              </a:rPr>
              <a:t>Steps:</a:t>
            </a:r>
            <a:endParaRPr sz="1200" b="1">
              <a:solidFill>
                <a:srgbClr val="1E3A5F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1. Search for node 10  →  found at 20's left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2. Check: does node 10 have children?  NO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E74C3C"/>
                </a:solidFill>
              </a:rPr>
              <a:t>3. Set parent's pointer to NULL</a:t>
            </a:r>
            <a:endParaRPr sz="1200" b="1">
              <a:solidFill>
                <a:srgbClr val="E74C3C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4. Free the node from memory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</a:p>
          <a:p>
            <a:pPr algn="l">
              <a:spcBef>
                <a:spcPts val="300"/>
              </a:spcBef>
            </a:pPr>
            <a:r>
              <a:rPr sz="1300" b="1">
                <a:solidFill>
                  <a:srgbClr val="06D6A0"/>
                </a:solidFill>
              </a:rPr>
              <a:t>Result: Just cut the leaf off!</a:t>
            </a:r>
            <a:endParaRPr sz="1300" b="1">
              <a:solidFill>
                <a:srgbClr val="06D6A0"/>
              </a:solidFill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dr"/>
          <p:cNvSpPr/>
          <p:nvPr/>
        </p:nvSpPr>
        <p:spPr>
          <a:xfrm>
            <a:off x="0" y="0"/>
            <a:ext cx="12188825" cy="96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  BST Delete: Remove 10 (Leaf)  —  Step 2 of 3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3" name="StepBadge"/>
          <p:cNvSpPr/>
          <p:nvPr/>
        </p:nvSpPr>
        <p:spPr>
          <a:xfrm>
            <a:off x="10500000" y="150000"/>
            <a:ext cx="1500000" cy="660000"/>
          </a:xfrm>
          <a:prstGeom prst="roundRect">
            <a:avLst>
              <a:gd name="adj" fmla="val 30000"/>
            </a:avLst>
          </a:prstGeom>
          <a:solidFill>
            <a:srgbClr val="FFD700"/>
          </a:solidFill>
          <a:ln>
            <a:noFill/>
          </a:ln>
        </p:spPr>
        <p:txBody>
          <a:bodyPr anchor="ctr"/>
          <a:lstStyle/>
          <a:p>
            <a:pPr algn="ctr"/>
            <a:r>
              <a:rPr sz="1600" b="1">
                <a:solidFill>
                  <a:srgbClr val="000000"/>
                </a:solidFill>
              </a:rPr>
              <a:t>Case 1 · Step 2/3</a:t>
            </a:r>
            <a:endParaRPr sz="1600" b="1">
              <a:solidFill>
                <a:srgbClr val="000000"/>
              </a:solidFill>
            </a:endParaRPr>
          </a:p>
        </p:txBody>
      </p:sp>
      <p:sp>
        <p:nvSpPr>
          <p:cNvPr id="4" name="BgContent"/>
          <p:cNvSpPr/>
          <p:nvPr/>
        </p:nvSpPr>
        <p:spPr>
          <a:xfrm>
            <a:off x="0" y="960000"/>
            <a:ext cx="12188825" cy="589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0" name="E20"/>
          <p:cNvCxnSpPr/>
          <p:nvPr/>
        </p:nvCxnSpPr>
        <p:spPr>
          <a:xfrm flipH="1">
            <a:off x="1900000" y="1700000"/>
            <a:ext cx="1300000" cy="100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1" name="E21"/>
          <p:cNvCxnSpPr/>
          <p:nvPr/>
        </p:nvCxnSpPr>
        <p:spPr>
          <a:xfrm>
            <a:off x="3200000" y="1700000"/>
            <a:ext cx="1300000" cy="100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2" name="E22"/>
          <p:cNvCxnSpPr/>
          <p:nvPr/>
        </p:nvCxnSpPr>
        <p:spPr>
          <a:xfrm flipH="1">
            <a:off x="11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3" name="E23"/>
          <p:cNvCxnSpPr/>
          <p:nvPr/>
        </p:nvCxnSpPr>
        <p:spPr>
          <a:xfrm>
            <a:off x="19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4" name="E24"/>
          <p:cNvCxnSpPr/>
          <p:nvPr/>
        </p:nvCxnSpPr>
        <p:spPr>
          <a:xfrm>
            <a:off x="2700000" y="3750000"/>
            <a:ext cx="4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5" name="E25"/>
          <p:cNvCxnSpPr/>
          <p:nvPr/>
        </p:nvCxnSpPr>
        <p:spPr>
          <a:xfrm flipH="1">
            <a:off x="37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6" name="E26"/>
          <p:cNvCxnSpPr/>
          <p:nvPr/>
        </p:nvCxnSpPr>
        <p:spPr>
          <a:xfrm>
            <a:off x="45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7" name="E27"/>
          <p:cNvCxnSpPr/>
          <p:nvPr/>
        </p:nvCxnSpPr>
        <p:spPr>
          <a:xfrm flipH="1">
            <a:off x="700000" y="3750000"/>
            <a:ext cx="400000" cy="1050000"/>
          </a:xfrm>
          <a:prstGeom prst="line">
            <a:avLst/>
          </a:prstGeom>
          <a:ln w="38100">
            <a:solidFill>
              <a:srgbClr val="E74C3C"/>
            </a:solidFill>
          </a:ln>
        </p:spPr>
      </p:cxnSp>
      <p:sp>
        <p:nvSpPr>
          <p:cNvPr id="28" name="N28"/>
          <p:cNvSpPr/>
          <p:nvPr/>
        </p:nvSpPr>
        <p:spPr>
          <a:xfrm>
            <a:off x="2830000" y="13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50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29" name="N29"/>
          <p:cNvSpPr/>
          <p:nvPr/>
        </p:nvSpPr>
        <p:spPr>
          <a:xfrm>
            <a:off x="1530000" y="23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30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0" name="N30"/>
          <p:cNvSpPr/>
          <p:nvPr/>
        </p:nvSpPr>
        <p:spPr>
          <a:xfrm>
            <a:off x="4130000" y="23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70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1" name="N31"/>
          <p:cNvSpPr/>
          <p:nvPr/>
        </p:nvSpPr>
        <p:spPr>
          <a:xfrm>
            <a:off x="730000" y="3380000"/>
            <a:ext cx="740000" cy="740000"/>
          </a:xfrm>
          <a:prstGeom prst="ellipse">
            <a:avLst/>
          </a:prstGeom>
          <a:solidFill>
            <a:srgbClr val="FF8C00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20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2" name="N32"/>
          <p:cNvSpPr/>
          <p:nvPr/>
        </p:nvSpPr>
        <p:spPr>
          <a:xfrm>
            <a:off x="23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40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3" name="N33"/>
          <p:cNvSpPr/>
          <p:nvPr/>
        </p:nvSpPr>
        <p:spPr>
          <a:xfrm>
            <a:off x="33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60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4" name="N34"/>
          <p:cNvSpPr/>
          <p:nvPr/>
        </p:nvSpPr>
        <p:spPr>
          <a:xfrm>
            <a:off x="49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80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5" name="N35"/>
          <p:cNvSpPr/>
          <p:nvPr/>
        </p:nvSpPr>
        <p:spPr>
          <a:xfrm>
            <a:off x="330000" y="4430000"/>
            <a:ext cx="740000" cy="740000"/>
          </a:xfrm>
          <a:prstGeom prst="ellipse">
            <a:avLst/>
          </a:prstGeom>
          <a:solidFill>
            <a:srgbClr val="E74C3C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10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6" name="N36"/>
          <p:cNvSpPr/>
          <p:nvPr/>
        </p:nvSpPr>
        <p:spPr>
          <a:xfrm>
            <a:off x="2730000" y="44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45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7" name="L37"/>
          <p:cNvSpPr txBox="1"/>
          <p:nvPr/>
        </p:nvSpPr>
        <p:spPr>
          <a:xfrm>
            <a:off x="450000" y="4550000"/>
            <a:ext cx="500000" cy="5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✕</a:t>
            </a:r>
            <a:endParaRPr sz="2000" b="1">
              <a:solidFill>
                <a:srgbClr val="FFFFFF"/>
              </a:solidFill>
            </a:endParaRPr>
          </a:p>
        </p:txBody>
      </p:sp>
      <p:sp>
        <p:nvSpPr>
          <p:cNvPr id="38" name="IB38"/>
          <p:cNvSpPr/>
          <p:nvPr/>
        </p:nvSpPr>
        <p:spPr>
          <a:xfrm>
            <a:off x="6700000" y="1050000"/>
            <a:ext cx="5200000" cy="1600000"/>
          </a:xfrm>
          <a:prstGeom prst="rect">
            <a:avLst/>
          </a:prstGeom>
          <a:solidFill>
            <a:srgbClr val="FEF0F0"/>
          </a:solidFill>
          <a:ln w="19050">
            <a:solidFill>
              <a:srgbClr val="E74C3C"/>
            </a:solidFill>
          </a:ln>
        </p:spPr>
        <p:txBody>
          <a:bodyPr>
            <a:spAutoFit/>
          </a:bodyPr>
          <a:lstStyle/>
          <a:p>
            <a:pPr algn="l">
              <a:spcBef>
                <a:spcPts val="300"/>
              </a:spcBef>
            </a:pPr>
            <a:r>
              <a:rPr sz="1500" b="1">
                <a:solidFill>
                  <a:srgbClr val="E74C3C"/>
                </a:solidFill>
              </a:rPr>
              <a:t>Case 1 — Step 2: Cut the connection</a:t>
            </a:r>
            <a:endParaRPr sz="1500" b="1">
              <a:solidFill>
                <a:srgbClr val="E74C3C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555555"/>
                </a:solidFill>
              </a:rPr>
              <a:t>Set node 20's left pointer = NULL</a:t>
            </a:r>
            <a:endParaRPr sz="1300" b="0">
              <a:solidFill>
                <a:srgbClr val="555555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E74C3C"/>
                </a:solidFill>
              </a:rPr>
              <a:t>The red edge is now being removed!</a:t>
            </a:r>
            <a:endParaRPr sz="1300" b="0">
              <a:solidFill>
                <a:srgbClr val="E74C3C"/>
              </a:solidFill>
            </a:endParaRPr>
          </a:p>
        </p:txBody>
      </p:sp>
      <p:sp>
        <p:nvSpPr>
          <p:cNvPr id="39" name="IB39"/>
          <p:cNvSpPr/>
          <p:nvPr/>
        </p:nvSpPr>
        <p:spPr>
          <a:xfrm>
            <a:off x="6700000" y="2800000"/>
            <a:ext cx="5200000" cy="37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txBody>
          <a:bodyPr>
            <a:spAutoFit/>
          </a:bodyPr>
          <a:lstStyle/>
          <a:p>
            <a:pPr algn="l">
              <a:spcBef>
                <a:spcPts val="300"/>
              </a:spcBef>
            </a:pPr>
            <a:r>
              <a:rPr sz="1300" b="1">
                <a:solidFill>
                  <a:srgbClr val="1E3A5F"/>
                </a:solidFill>
              </a:rPr>
              <a:t>What happens in code:</a:t>
            </a:r>
            <a:endParaRPr sz="1300" b="1">
              <a:solidFill>
                <a:srgbClr val="1E3A5F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C3E50"/>
                </a:solidFill>
              </a:rPr>
              <a:t>parent-&gt;left = NULL;</a:t>
            </a:r>
            <a:endParaRPr sz="1300" b="0">
              <a:solidFill>
                <a:srgbClr val="2C3E50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2C3E50"/>
                </a:solidFill>
              </a:rPr>
              <a:t>free(node_10);</a:t>
            </a:r>
            <a:endParaRPr sz="1300" b="0">
              <a:solidFill>
                <a:srgbClr val="2C3E50"/>
              </a:solidFill>
            </a:endParaRPr>
          </a:p>
          <a:p>
            <a:pPr algn="l">
              <a:spcBef>
                <a:spcPts val="300"/>
              </a:spcBef>
            </a:pP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06D6A0"/>
                </a:solidFill>
              </a:rPr>
              <a:t>This is O(1) once the node is found!</a:t>
            </a:r>
            <a:endParaRPr sz="1200" b="1">
              <a:solidFill>
                <a:srgbClr val="06D6A0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2980B9"/>
                </a:solidFill>
              </a:rPr>
              <a:t>Total time: O(log n) to search + O(1) delete</a:t>
            </a:r>
            <a:endParaRPr sz="1200" b="0">
              <a:solidFill>
                <a:srgbClr val="2980B9"/>
              </a:solidFill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dr"/>
          <p:cNvSpPr/>
          <p:nvPr/>
        </p:nvSpPr>
        <p:spPr>
          <a:xfrm>
            <a:off x="0" y="0"/>
            <a:ext cx="12188825" cy="960000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txBody>
          <a:bodyPr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  BST Delete: Remove 10 (Leaf)  —  Step 3 of 3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3" name="StepBadge"/>
          <p:cNvSpPr/>
          <p:nvPr/>
        </p:nvSpPr>
        <p:spPr>
          <a:xfrm>
            <a:off x="10500000" y="150000"/>
            <a:ext cx="1500000" cy="660000"/>
          </a:xfrm>
          <a:prstGeom prst="roundRect">
            <a:avLst>
              <a:gd name="adj" fmla="val 30000"/>
            </a:avLst>
          </a:prstGeom>
          <a:solidFill>
            <a:srgbClr val="FFD700"/>
          </a:solidFill>
          <a:ln>
            <a:noFill/>
          </a:ln>
        </p:spPr>
        <p:txBody>
          <a:bodyPr anchor="ctr"/>
          <a:lstStyle/>
          <a:p>
            <a:pPr algn="ctr"/>
            <a:r>
              <a:rPr sz="1600" b="1">
                <a:solidFill>
                  <a:srgbClr val="000000"/>
                </a:solidFill>
              </a:rPr>
              <a:t>✓ Done</a:t>
            </a:r>
            <a:endParaRPr sz="1600" b="1">
              <a:solidFill>
                <a:srgbClr val="000000"/>
              </a:solidFill>
            </a:endParaRPr>
          </a:p>
        </p:txBody>
      </p:sp>
      <p:sp>
        <p:nvSpPr>
          <p:cNvPr id="4" name="BgContent"/>
          <p:cNvSpPr/>
          <p:nvPr/>
        </p:nvSpPr>
        <p:spPr>
          <a:xfrm>
            <a:off x="0" y="960000"/>
            <a:ext cx="12188825" cy="589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0" name="E20"/>
          <p:cNvCxnSpPr/>
          <p:nvPr/>
        </p:nvCxnSpPr>
        <p:spPr>
          <a:xfrm flipH="1">
            <a:off x="1900000" y="1700000"/>
            <a:ext cx="1300000" cy="100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1" name="E21"/>
          <p:cNvCxnSpPr/>
          <p:nvPr/>
        </p:nvCxnSpPr>
        <p:spPr>
          <a:xfrm>
            <a:off x="3200000" y="1700000"/>
            <a:ext cx="1300000" cy="100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2" name="E22"/>
          <p:cNvCxnSpPr/>
          <p:nvPr/>
        </p:nvCxnSpPr>
        <p:spPr>
          <a:xfrm flipH="1">
            <a:off x="11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3" name="E23"/>
          <p:cNvCxnSpPr/>
          <p:nvPr/>
        </p:nvCxnSpPr>
        <p:spPr>
          <a:xfrm>
            <a:off x="19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4" name="E24"/>
          <p:cNvCxnSpPr/>
          <p:nvPr/>
        </p:nvCxnSpPr>
        <p:spPr>
          <a:xfrm>
            <a:off x="2700000" y="3750000"/>
            <a:ext cx="4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5" name="E25"/>
          <p:cNvCxnSpPr/>
          <p:nvPr/>
        </p:nvCxnSpPr>
        <p:spPr>
          <a:xfrm flipH="1">
            <a:off x="37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6" name="E26"/>
          <p:cNvCxnSpPr/>
          <p:nvPr/>
        </p:nvCxnSpPr>
        <p:spPr>
          <a:xfrm>
            <a:off x="45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7" name="E27"/>
          <p:cNvCxnSpPr/>
          <p:nvPr/>
        </p:nvCxnSpPr>
        <p:spPr>
          <a:xfrm flipH="1">
            <a:off x="700000" y="3750000"/>
            <a:ext cx="4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sp>
        <p:nvSpPr>
          <p:cNvPr id="28" name="N28"/>
          <p:cNvSpPr/>
          <p:nvPr/>
        </p:nvSpPr>
        <p:spPr>
          <a:xfrm>
            <a:off x="2830000" y="13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50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29" name="N29"/>
          <p:cNvSpPr/>
          <p:nvPr/>
        </p:nvSpPr>
        <p:spPr>
          <a:xfrm>
            <a:off x="1530000" y="23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30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0" name="N30"/>
          <p:cNvSpPr/>
          <p:nvPr/>
        </p:nvSpPr>
        <p:spPr>
          <a:xfrm>
            <a:off x="4130000" y="23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70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1" name="N31"/>
          <p:cNvSpPr/>
          <p:nvPr/>
        </p:nvSpPr>
        <p:spPr>
          <a:xfrm>
            <a:off x="7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20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2" name="N32"/>
          <p:cNvSpPr/>
          <p:nvPr/>
        </p:nvSpPr>
        <p:spPr>
          <a:xfrm>
            <a:off x="23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40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3" name="N33"/>
          <p:cNvSpPr/>
          <p:nvPr/>
        </p:nvSpPr>
        <p:spPr>
          <a:xfrm>
            <a:off x="33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60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4" name="N34"/>
          <p:cNvSpPr/>
          <p:nvPr/>
        </p:nvSpPr>
        <p:spPr>
          <a:xfrm>
            <a:off x="49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80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5" name="N35"/>
          <p:cNvSpPr/>
          <p:nvPr/>
        </p:nvSpPr>
        <p:spPr>
          <a:xfrm>
            <a:off x="330000" y="44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10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6" name="N36"/>
          <p:cNvSpPr/>
          <p:nvPr/>
        </p:nvSpPr>
        <p:spPr>
          <a:xfrm>
            <a:off x="2730000" y="44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45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7" name="L37"/>
          <p:cNvSpPr txBox="1"/>
          <p:nvPr/>
        </p:nvSpPr>
        <p:spPr>
          <a:xfrm>
            <a:off x="600000" y="4220000"/>
            <a:ext cx="12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6D6A0"/>
                </a:solidFill>
              </a:rPr>
              <a:t>left=NULL now</a:t>
            </a:r>
            <a:endParaRPr sz="1100" b="1">
              <a:solidFill>
                <a:srgbClr val="06D6A0"/>
              </a:solidFill>
            </a:endParaRPr>
          </a:p>
        </p:txBody>
      </p:sp>
      <p:sp>
        <p:nvSpPr>
          <p:cNvPr id="38" name="IB38"/>
          <p:cNvSpPr/>
          <p:nvPr/>
        </p:nvSpPr>
        <p:spPr>
          <a:xfrm>
            <a:off x="6700000" y="1050000"/>
            <a:ext cx="5200000" cy="1600000"/>
          </a:xfrm>
          <a:prstGeom prst="rect">
            <a:avLst/>
          </a:prstGeom>
          <a:solidFill>
            <a:srgbClr val="EAFAF1"/>
          </a:solidFill>
          <a:ln w="19050">
            <a:solidFill>
              <a:srgbClr val="06D6A0"/>
            </a:solidFill>
          </a:ln>
        </p:spPr>
        <p:txBody>
          <a:bodyPr>
            <a:spAutoFit/>
          </a:bodyPr>
          <a:lstStyle/>
          <a:p>
            <a:pPr algn="l">
              <a:spcBef>
                <a:spcPts val="300"/>
              </a:spcBef>
            </a:pPr>
            <a:r>
              <a:rPr sz="1500" b="1">
                <a:solidFill>
                  <a:srgbClr val="06D6A0"/>
                </a:solidFill>
              </a:rPr>
              <a:t>Case 1 — Step 3: Deletion Complete! ✓</a:t>
            </a:r>
            <a:endParaRPr sz="1500" b="1">
              <a:solidFill>
                <a:srgbClr val="06D6A0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555555"/>
                </a:solidFill>
              </a:rPr>
              <a:t>Node 10 removed. BST property intact.</a:t>
            </a:r>
            <a:endParaRPr sz="1300" b="0">
              <a:solidFill>
                <a:srgbClr val="555555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06D6A0"/>
                </a:solidFill>
              </a:rPr>
              <a:t>Tree still valid! ✓</a:t>
            </a:r>
            <a:endParaRPr sz="1300" b="0">
              <a:solidFill>
                <a:srgbClr val="06D6A0"/>
              </a:solidFill>
            </a:endParaRPr>
          </a:p>
        </p:txBody>
      </p:sp>
      <p:sp>
        <p:nvSpPr>
          <p:cNvPr id="39" name="IB39"/>
          <p:cNvSpPr/>
          <p:nvPr/>
        </p:nvSpPr>
        <p:spPr>
          <a:xfrm>
            <a:off x="6700000" y="2800000"/>
            <a:ext cx="5200000" cy="37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txBody>
          <a:bodyPr>
            <a:spAutoFit/>
          </a:bodyPr>
          <a:lstStyle/>
          <a:p>
            <a:pPr algn="l">
              <a:spcBef>
                <a:spcPts val="300"/>
              </a:spcBef>
            </a:pPr>
            <a:r>
              <a:rPr sz="1400" b="1">
                <a:solidFill>
                  <a:srgbClr val="E74C3C"/>
                </a:solidFill>
              </a:rPr>
              <a:t>Case 1 Summary:</a:t>
            </a:r>
            <a:endParaRPr sz="1400" b="1">
              <a:solidFill>
                <a:srgbClr val="E74C3C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Delete a LEAF node = simplest case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Just remove the node and set parent pointer = NULL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6D6A0"/>
                </a:solidFill>
              </a:rPr>
              <a:t>BST property is automatically maintained ✓</a:t>
            </a:r>
            <a:endParaRPr sz="1200" b="0">
              <a:solidFill>
                <a:srgbClr val="06D6A0"/>
              </a:solidFill>
            </a:endParaRPr>
          </a:p>
          <a:p>
            <a:pPr algn="l">
              <a:spcBef>
                <a:spcPts val="300"/>
              </a:spcBef>
            </a:pP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888888"/>
                </a:solidFill>
              </a:rPr>
              <a:t>Inorder before: 10,20,30,40,45,50,60,70,80</a:t>
            </a:r>
            <a:endParaRPr sz="1100" b="0">
              <a:solidFill>
                <a:srgbClr val="888888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6D6A0"/>
                </a:solidFill>
              </a:rPr>
              <a:t>Inorder after:     20,30,40,45,50,60,70,80 ✓</a:t>
            </a:r>
            <a:endParaRPr sz="1200" b="0">
              <a:solidFill>
                <a:srgbClr val="06D6A0"/>
              </a:solidFill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dr"/>
          <p:cNvSpPr/>
          <p:nvPr/>
        </p:nvSpPr>
        <p:spPr>
          <a:xfrm>
            <a:off x="0" y="0"/>
            <a:ext cx="12188825" cy="960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  BST Delete: Remove 20 (One Child)  —  Step 1 of 3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3" name="StepBadge"/>
          <p:cNvSpPr/>
          <p:nvPr/>
        </p:nvSpPr>
        <p:spPr>
          <a:xfrm>
            <a:off x="10500000" y="150000"/>
            <a:ext cx="1500000" cy="660000"/>
          </a:xfrm>
          <a:prstGeom prst="roundRect">
            <a:avLst>
              <a:gd name="adj" fmla="val 30000"/>
            </a:avLst>
          </a:prstGeom>
          <a:solidFill>
            <a:srgbClr val="FFD700"/>
          </a:solidFill>
          <a:ln>
            <a:noFill/>
          </a:ln>
        </p:spPr>
        <p:txBody>
          <a:bodyPr anchor="ctr"/>
          <a:lstStyle/>
          <a:p>
            <a:pPr algn="ctr"/>
            <a:r>
              <a:rPr sz="1600" b="1">
                <a:solidFill>
                  <a:srgbClr val="000000"/>
                </a:solidFill>
              </a:rPr>
              <a:t>Case 2 · Step 1/3</a:t>
            </a:r>
            <a:endParaRPr sz="1600" b="1">
              <a:solidFill>
                <a:srgbClr val="000000"/>
              </a:solidFill>
            </a:endParaRPr>
          </a:p>
        </p:txBody>
      </p:sp>
      <p:sp>
        <p:nvSpPr>
          <p:cNvPr id="4" name="BgContent"/>
          <p:cNvSpPr/>
          <p:nvPr/>
        </p:nvSpPr>
        <p:spPr>
          <a:xfrm>
            <a:off x="0" y="960000"/>
            <a:ext cx="12188825" cy="589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0" name="E20"/>
          <p:cNvCxnSpPr/>
          <p:nvPr/>
        </p:nvCxnSpPr>
        <p:spPr>
          <a:xfrm flipH="1">
            <a:off x="1900000" y="1700000"/>
            <a:ext cx="1300000" cy="100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1" name="E21"/>
          <p:cNvCxnSpPr/>
          <p:nvPr/>
        </p:nvCxnSpPr>
        <p:spPr>
          <a:xfrm>
            <a:off x="3200000" y="1700000"/>
            <a:ext cx="1300000" cy="100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2" name="E22"/>
          <p:cNvCxnSpPr/>
          <p:nvPr/>
        </p:nvCxnSpPr>
        <p:spPr>
          <a:xfrm flipH="1">
            <a:off x="11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3" name="E23"/>
          <p:cNvCxnSpPr/>
          <p:nvPr/>
        </p:nvCxnSpPr>
        <p:spPr>
          <a:xfrm>
            <a:off x="19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4" name="E24"/>
          <p:cNvCxnSpPr/>
          <p:nvPr/>
        </p:nvCxnSpPr>
        <p:spPr>
          <a:xfrm>
            <a:off x="2700000" y="3750000"/>
            <a:ext cx="4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5" name="E25"/>
          <p:cNvCxnSpPr/>
          <p:nvPr/>
        </p:nvCxnSpPr>
        <p:spPr>
          <a:xfrm flipH="1">
            <a:off x="37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6" name="E26"/>
          <p:cNvCxnSpPr/>
          <p:nvPr/>
        </p:nvCxnSpPr>
        <p:spPr>
          <a:xfrm>
            <a:off x="45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7" name="E27"/>
          <p:cNvCxnSpPr/>
          <p:nvPr/>
        </p:nvCxnSpPr>
        <p:spPr>
          <a:xfrm flipH="1">
            <a:off x="700000" y="3750000"/>
            <a:ext cx="4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sp>
        <p:nvSpPr>
          <p:cNvPr id="28" name="N28"/>
          <p:cNvSpPr/>
          <p:nvPr/>
        </p:nvSpPr>
        <p:spPr>
          <a:xfrm>
            <a:off x="2830000" y="13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50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29" name="N29"/>
          <p:cNvSpPr/>
          <p:nvPr/>
        </p:nvSpPr>
        <p:spPr>
          <a:xfrm>
            <a:off x="1530000" y="23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30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0" name="N30"/>
          <p:cNvSpPr/>
          <p:nvPr/>
        </p:nvSpPr>
        <p:spPr>
          <a:xfrm>
            <a:off x="4130000" y="23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70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1" name="N31"/>
          <p:cNvSpPr/>
          <p:nvPr/>
        </p:nvSpPr>
        <p:spPr>
          <a:xfrm>
            <a:off x="730000" y="3380000"/>
            <a:ext cx="740000" cy="740000"/>
          </a:xfrm>
          <a:prstGeom prst="ellipse">
            <a:avLst/>
          </a:prstGeom>
          <a:solidFill>
            <a:srgbClr val="E74C3C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20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2" name="N32"/>
          <p:cNvSpPr/>
          <p:nvPr/>
        </p:nvSpPr>
        <p:spPr>
          <a:xfrm>
            <a:off x="23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40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3" name="N33"/>
          <p:cNvSpPr/>
          <p:nvPr/>
        </p:nvSpPr>
        <p:spPr>
          <a:xfrm>
            <a:off x="33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60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4" name="N34"/>
          <p:cNvSpPr/>
          <p:nvPr/>
        </p:nvSpPr>
        <p:spPr>
          <a:xfrm>
            <a:off x="49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80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5" name="N35"/>
          <p:cNvSpPr/>
          <p:nvPr/>
        </p:nvSpPr>
        <p:spPr>
          <a:xfrm>
            <a:off x="330000" y="4430000"/>
            <a:ext cx="740000" cy="740000"/>
          </a:xfrm>
          <a:prstGeom prst="ellipse">
            <a:avLst/>
          </a:prstGeom>
          <a:solidFill>
            <a:srgbClr val="E67E22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10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6" name="N36"/>
          <p:cNvSpPr/>
          <p:nvPr/>
        </p:nvSpPr>
        <p:spPr>
          <a:xfrm>
            <a:off x="2730000" y="44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45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7" name="IB37"/>
          <p:cNvSpPr/>
          <p:nvPr/>
        </p:nvSpPr>
        <p:spPr>
          <a:xfrm>
            <a:off x="6700000" y="1050000"/>
            <a:ext cx="5200000" cy="1800000"/>
          </a:xfrm>
          <a:prstGeom prst="rect">
            <a:avLst/>
          </a:prstGeom>
          <a:solidFill>
            <a:srgbClr val="EAF4FE"/>
          </a:solidFill>
          <a:ln w="19050">
            <a:solidFill>
              <a:srgbClr val="2980B9"/>
            </a:solidFill>
          </a:ln>
        </p:spPr>
        <p:txBody>
          <a:bodyPr>
            <a:spAutoFit/>
          </a:bodyPr>
          <a:lstStyle/>
          <a:p>
            <a:pPr algn="l">
              <a:spcBef>
                <a:spcPts val="300"/>
              </a:spcBef>
            </a:pPr>
            <a:r>
              <a:rPr sz="1500" b="1">
                <a:solidFill>
                  <a:srgbClr val="2980B9"/>
                </a:solidFill>
              </a:rPr>
              <a:t>Case 2 — Step 1: Delete node 20 (1 child)</a:t>
            </a:r>
            <a:endParaRPr sz="1500" b="1">
              <a:solidFill>
                <a:srgbClr val="2980B9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555555"/>
                </a:solidFill>
              </a:rPr>
              <a:t>Node 20 has ONE child: left child = 10</a:t>
            </a:r>
            <a:endParaRPr sz="1300" b="0">
              <a:solidFill>
                <a:srgbClr val="555555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888888"/>
                </a:solidFill>
              </a:rPr>
              <a:t>Right child = NULL</a:t>
            </a:r>
            <a:endParaRPr sz="1200" b="0">
              <a:solidFill>
                <a:srgbClr val="888888"/>
              </a:solidFill>
            </a:endParaRPr>
          </a:p>
        </p:txBody>
      </p:sp>
      <p:sp>
        <p:nvSpPr>
          <p:cNvPr id="38" name="IB38"/>
          <p:cNvSpPr/>
          <p:nvPr/>
        </p:nvSpPr>
        <p:spPr>
          <a:xfrm>
            <a:off x="6700000" y="2950000"/>
            <a:ext cx="5200000" cy="35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txBody>
          <a:bodyPr>
            <a:spAutoFit/>
          </a:bodyPr>
          <a:lstStyle/>
          <a:p>
            <a:pPr algn="l">
              <a:spcBef>
                <a:spcPts val="300"/>
              </a:spcBef>
            </a:pPr>
            <a:r>
              <a:rPr sz="1400" b="1">
                <a:solidFill>
                  <a:srgbClr val="2980B9"/>
                </a:solidFill>
              </a:rPr>
              <a:t>Case 2: Node with One Child</a:t>
            </a:r>
            <a:endParaRPr sz="1400" b="1">
              <a:solidFill>
                <a:srgbClr val="2980B9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Think of it as removing a link from a chain.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Connect grandparent directly to grandchild.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1E3A5F"/>
                </a:solidFill>
              </a:rPr>
              <a:t>Steps:</a:t>
            </a:r>
            <a:endParaRPr sz="1200" b="1">
              <a:solidFill>
                <a:srgbClr val="1E3A5F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1. Found node 20 (left child of 30)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2. Check: node 20 has 1 child (node 10)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 b="1">
                <a:solidFill>
                  <a:srgbClr val="2980B9"/>
                </a:solidFill>
              </a:rPr>
              <a:t>3. Set 30's left = 10  (bypass node 20)</a:t>
            </a:r>
            <a:endParaRPr sz="1300" b="1">
              <a:solidFill>
                <a:srgbClr val="2980B9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4. Free node 20 from memory</a:t>
            </a:r>
            <a:endParaRPr sz="1200" b="0">
              <a:solidFill>
                <a:srgbClr val="444444"/>
              </a:solidFill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dr"/>
          <p:cNvSpPr/>
          <p:nvPr/>
        </p:nvSpPr>
        <p:spPr>
          <a:xfrm>
            <a:off x="0" y="0"/>
            <a:ext cx="12188825" cy="960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  BST Delete: Remove 20 (One Child)  —  Step 2 of 3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3" name="StepBadge"/>
          <p:cNvSpPr/>
          <p:nvPr/>
        </p:nvSpPr>
        <p:spPr>
          <a:xfrm>
            <a:off x="10500000" y="150000"/>
            <a:ext cx="1500000" cy="660000"/>
          </a:xfrm>
          <a:prstGeom prst="roundRect">
            <a:avLst>
              <a:gd name="adj" fmla="val 30000"/>
            </a:avLst>
          </a:prstGeom>
          <a:solidFill>
            <a:srgbClr val="FFD700"/>
          </a:solidFill>
          <a:ln>
            <a:noFill/>
          </a:ln>
        </p:spPr>
        <p:txBody>
          <a:bodyPr anchor="ctr"/>
          <a:lstStyle/>
          <a:p>
            <a:pPr algn="ctr"/>
            <a:r>
              <a:rPr sz="1600" b="1">
                <a:solidFill>
                  <a:srgbClr val="000000"/>
                </a:solidFill>
              </a:rPr>
              <a:t>Case 2 · Step 2/3</a:t>
            </a:r>
            <a:endParaRPr sz="1600" b="1">
              <a:solidFill>
                <a:srgbClr val="000000"/>
              </a:solidFill>
            </a:endParaRPr>
          </a:p>
        </p:txBody>
      </p:sp>
      <p:sp>
        <p:nvSpPr>
          <p:cNvPr id="4" name="BgContent"/>
          <p:cNvSpPr/>
          <p:nvPr/>
        </p:nvSpPr>
        <p:spPr>
          <a:xfrm>
            <a:off x="0" y="960000"/>
            <a:ext cx="12188825" cy="589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0" name="E20"/>
          <p:cNvCxnSpPr/>
          <p:nvPr/>
        </p:nvCxnSpPr>
        <p:spPr>
          <a:xfrm flipH="1">
            <a:off x="1900000" y="1700000"/>
            <a:ext cx="1300000" cy="100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1" name="E21"/>
          <p:cNvCxnSpPr/>
          <p:nvPr/>
        </p:nvCxnSpPr>
        <p:spPr>
          <a:xfrm>
            <a:off x="3200000" y="1700000"/>
            <a:ext cx="1300000" cy="100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2" name="E22"/>
          <p:cNvCxnSpPr/>
          <p:nvPr/>
        </p:nvCxnSpPr>
        <p:spPr>
          <a:xfrm flipH="1">
            <a:off x="1100000" y="2700000"/>
            <a:ext cx="800000" cy="1050000"/>
          </a:xfrm>
          <a:prstGeom prst="line">
            <a:avLst/>
          </a:prstGeom>
          <a:ln w="38100">
            <a:solidFill>
              <a:srgbClr val="E74C3C"/>
            </a:solidFill>
          </a:ln>
        </p:spPr>
      </p:cxnSp>
      <p:cxnSp>
        <p:nvCxnSpPr>
          <p:cNvPr id="23" name="E23"/>
          <p:cNvCxnSpPr/>
          <p:nvPr/>
        </p:nvCxnSpPr>
        <p:spPr>
          <a:xfrm>
            <a:off x="19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4" name="E24"/>
          <p:cNvCxnSpPr/>
          <p:nvPr/>
        </p:nvCxnSpPr>
        <p:spPr>
          <a:xfrm>
            <a:off x="2700000" y="3750000"/>
            <a:ext cx="4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5" name="E25"/>
          <p:cNvCxnSpPr/>
          <p:nvPr/>
        </p:nvCxnSpPr>
        <p:spPr>
          <a:xfrm flipH="1">
            <a:off x="37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6" name="E26"/>
          <p:cNvCxnSpPr/>
          <p:nvPr/>
        </p:nvCxnSpPr>
        <p:spPr>
          <a:xfrm>
            <a:off x="45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7" name="E27"/>
          <p:cNvCxnSpPr/>
          <p:nvPr/>
        </p:nvCxnSpPr>
        <p:spPr>
          <a:xfrm flipH="1">
            <a:off x="700000" y="3750000"/>
            <a:ext cx="4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sp>
        <p:nvSpPr>
          <p:cNvPr id="28" name="N28"/>
          <p:cNvSpPr/>
          <p:nvPr/>
        </p:nvSpPr>
        <p:spPr>
          <a:xfrm>
            <a:off x="2830000" y="13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50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29" name="N29"/>
          <p:cNvSpPr/>
          <p:nvPr/>
        </p:nvSpPr>
        <p:spPr>
          <a:xfrm>
            <a:off x="1530000" y="2330000"/>
            <a:ext cx="740000" cy="740000"/>
          </a:xfrm>
          <a:prstGeom prst="ellipse">
            <a:avLst/>
          </a:prstGeom>
          <a:solidFill>
            <a:srgbClr val="FF8C00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30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0" name="N30"/>
          <p:cNvSpPr/>
          <p:nvPr/>
        </p:nvSpPr>
        <p:spPr>
          <a:xfrm>
            <a:off x="4130000" y="23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70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1" name="N31"/>
          <p:cNvSpPr/>
          <p:nvPr/>
        </p:nvSpPr>
        <p:spPr>
          <a:xfrm>
            <a:off x="730000" y="3380000"/>
            <a:ext cx="740000" cy="740000"/>
          </a:xfrm>
          <a:prstGeom prst="ellipse">
            <a:avLst/>
          </a:prstGeom>
          <a:solidFill>
            <a:srgbClr val="E74C3C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20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2" name="N32"/>
          <p:cNvSpPr/>
          <p:nvPr/>
        </p:nvSpPr>
        <p:spPr>
          <a:xfrm>
            <a:off x="23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40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3" name="N33"/>
          <p:cNvSpPr/>
          <p:nvPr/>
        </p:nvSpPr>
        <p:spPr>
          <a:xfrm>
            <a:off x="33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60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4" name="N34"/>
          <p:cNvSpPr/>
          <p:nvPr/>
        </p:nvSpPr>
        <p:spPr>
          <a:xfrm>
            <a:off x="49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80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5" name="N35"/>
          <p:cNvSpPr/>
          <p:nvPr/>
        </p:nvSpPr>
        <p:spPr>
          <a:xfrm>
            <a:off x="330000" y="4430000"/>
            <a:ext cx="740000" cy="740000"/>
          </a:xfrm>
          <a:prstGeom prst="ellipse">
            <a:avLst/>
          </a:prstGeom>
          <a:solidFill>
            <a:srgbClr val="06D6A0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10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6" name="N36"/>
          <p:cNvSpPr/>
          <p:nvPr/>
        </p:nvSpPr>
        <p:spPr>
          <a:xfrm>
            <a:off x="2730000" y="44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45</a:t>
            </a:r>
            <a:endParaRPr sz="1700" b="1">
              <a:solidFill>
                <a:srgbClr val="FFFFFF"/>
              </a:solidFill>
            </a:endParaRPr>
          </a:p>
        </p:txBody>
      </p:sp>
      <p:cxnSp>
        <p:nvCxnSpPr>
          <p:cNvPr id="37" name="E37"/>
          <p:cNvCxnSpPr/>
          <p:nvPr/>
        </p:nvCxnSpPr>
        <p:spPr>
          <a:xfrm flipH="1">
            <a:off x="700000" y="2700000"/>
            <a:ext cx="1200000" cy="2100000"/>
          </a:xfrm>
          <a:prstGeom prst="line">
            <a:avLst/>
          </a:prstGeom>
          <a:ln w="38100">
            <a:solidFill>
              <a:srgbClr val="2980B9"/>
            </a:solidFill>
          </a:ln>
        </p:spPr>
      </p:cxnSp>
      <p:sp>
        <p:nvSpPr>
          <p:cNvPr id="38" name="L38"/>
          <p:cNvSpPr txBox="1"/>
          <p:nvPr/>
        </p:nvSpPr>
        <p:spPr>
          <a:xfrm>
            <a:off x="600000" y="37500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980B9"/>
                </a:solidFill>
              </a:rPr>
              <a:t>NEW LINK</a:t>
            </a:r>
            <a:endParaRPr sz="1100" b="1">
              <a:solidFill>
                <a:srgbClr val="2980B9"/>
              </a:solidFill>
            </a:endParaRPr>
          </a:p>
        </p:txBody>
      </p:sp>
      <p:sp>
        <p:nvSpPr>
          <p:cNvPr id="39" name="IB39"/>
          <p:cNvSpPr/>
          <p:nvPr/>
        </p:nvSpPr>
        <p:spPr>
          <a:xfrm>
            <a:off x="6700000" y="1050000"/>
            <a:ext cx="5200000" cy="1800000"/>
          </a:xfrm>
          <a:prstGeom prst="rect">
            <a:avLst/>
          </a:prstGeom>
          <a:solidFill>
            <a:srgbClr val="EAF4FE"/>
          </a:solidFill>
          <a:ln w="19050">
            <a:solidFill>
              <a:srgbClr val="2980B9"/>
            </a:solidFill>
          </a:ln>
        </p:spPr>
        <p:txBody>
          <a:bodyPr>
            <a:spAutoFit/>
          </a:bodyPr>
          <a:lstStyle/>
          <a:p>
            <a:pPr algn="l">
              <a:spcBef>
                <a:spcPts val="300"/>
              </a:spcBef>
            </a:pPr>
            <a:r>
              <a:rPr sz="1500" b="1">
                <a:solidFill>
                  <a:srgbClr val="2980B9"/>
                </a:solidFill>
              </a:rPr>
              <a:t>Case 2 — Step 2: Rewire the pointer</a:t>
            </a:r>
            <a:endParaRPr sz="1500" b="1">
              <a:solidFill>
                <a:srgbClr val="2980B9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 b="1">
                <a:solidFill>
                  <a:srgbClr val="2980B9"/>
                </a:solidFill>
              </a:rPr>
              <a:t>30-&gt;left now points directly to 10</a:t>
            </a:r>
            <a:endParaRPr sz="1300" b="1">
              <a:solidFill>
                <a:srgbClr val="2980B9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E74C3C"/>
                </a:solidFill>
              </a:rPr>
              <a:t>Node 20 is bypassed (red = removed)</a:t>
            </a:r>
            <a:endParaRPr sz="1200" b="0">
              <a:solidFill>
                <a:srgbClr val="E74C3C"/>
              </a:solidFill>
            </a:endParaRPr>
          </a:p>
        </p:txBody>
      </p:sp>
      <p:sp>
        <p:nvSpPr>
          <p:cNvPr id="40" name="IB40"/>
          <p:cNvSpPr/>
          <p:nvPr/>
        </p:nvSpPr>
        <p:spPr>
          <a:xfrm>
            <a:off x="6700000" y="2950000"/>
            <a:ext cx="5200000" cy="35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txBody>
          <a:bodyPr>
            <a:spAutoFit/>
          </a:bodyPr>
          <a:lstStyle/>
          <a:p>
            <a:pPr algn="l">
              <a:spcBef>
                <a:spcPts val="300"/>
              </a:spcBef>
            </a:pPr>
            <a:r>
              <a:rPr sz="1300" b="1">
                <a:solidFill>
                  <a:srgbClr val="1E3A5F"/>
                </a:solidFill>
              </a:rPr>
              <a:t>Code for Case 2:</a:t>
            </a:r>
            <a:endParaRPr sz="1300" b="1">
              <a:solidFill>
                <a:srgbClr val="1E3A5F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2C3E50"/>
                </a:solidFill>
              </a:rPr>
              <a:t>Node* child = node-&gt;left;  // = node 10</a:t>
            </a:r>
            <a:endParaRPr sz="1200" b="0">
              <a:solidFill>
                <a:srgbClr val="2C3E50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2C3E50"/>
                </a:solidFill>
              </a:rPr>
              <a:t>parent-&gt;left = child;      // bypass 20</a:t>
            </a:r>
            <a:endParaRPr sz="1200" b="0">
              <a:solidFill>
                <a:srgbClr val="2C3E50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2C3E50"/>
                </a:solidFill>
              </a:rPr>
              <a:t>free(node);               // delete 20</a:t>
            </a:r>
            <a:endParaRPr sz="1200" b="0">
              <a:solidFill>
                <a:srgbClr val="2C3E50"/>
              </a:solidFill>
            </a:endParaRPr>
          </a:p>
          <a:p>
            <a:pPr algn="l">
              <a:spcBef>
                <a:spcPts val="300"/>
              </a:spcBef>
            </a:pP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06D6A0"/>
                </a:solidFill>
              </a:rPr>
              <a:t>BST property maintained:</a:t>
            </a:r>
            <a:endParaRPr sz="1200" b="1">
              <a:solidFill>
                <a:srgbClr val="06D6A0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6D6A0"/>
                </a:solidFill>
              </a:rPr>
              <a:t>10 &lt; 30  →  10 can be left child of 30 ✓</a:t>
            </a:r>
            <a:endParaRPr sz="1200" b="0">
              <a:solidFill>
                <a:srgbClr val="06D6A0"/>
              </a:solidFill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dr"/>
          <p:cNvSpPr/>
          <p:nvPr/>
        </p:nvSpPr>
        <p:spPr>
          <a:xfrm>
            <a:off x="0" y="0"/>
            <a:ext cx="12188825" cy="960000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txBody>
          <a:bodyPr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  BST Delete: Remove 20 (One Child)  —  Step 3 of 3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3" name="StepBadge"/>
          <p:cNvSpPr/>
          <p:nvPr/>
        </p:nvSpPr>
        <p:spPr>
          <a:xfrm>
            <a:off x="10500000" y="150000"/>
            <a:ext cx="1500000" cy="660000"/>
          </a:xfrm>
          <a:prstGeom prst="roundRect">
            <a:avLst>
              <a:gd name="adj" fmla="val 30000"/>
            </a:avLst>
          </a:prstGeom>
          <a:solidFill>
            <a:srgbClr val="FFD700"/>
          </a:solidFill>
          <a:ln>
            <a:noFill/>
          </a:ln>
        </p:spPr>
        <p:txBody>
          <a:bodyPr anchor="ctr"/>
          <a:lstStyle/>
          <a:p>
            <a:pPr algn="ctr"/>
            <a:r>
              <a:rPr sz="1600" b="1">
                <a:solidFill>
                  <a:srgbClr val="000000"/>
                </a:solidFill>
              </a:rPr>
              <a:t>✓ Done</a:t>
            </a:r>
            <a:endParaRPr sz="1600" b="1">
              <a:solidFill>
                <a:srgbClr val="000000"/>
              </a:solidFill>
            </a:endParaRPr>
          </a:p>
        </p:txBody>
      </p:sp>
      <p:sp>
        <p:nvSpPr>
          <p:cNvPr id="4" name="BgContent"/>
          <p:cNvSpPr/>
          <p:nvPr/>
        </p:nvSpPr>
        <p:spPr>
          <a:xfrm>
            <a:off x="0" y="960000"/>
            <a:ext cx="12188825" cy="589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0" name="E20"/>
          <p:cNvCxnSpPr/>
          <p:nvPr/>
        </p:nvCxnSpPr>
        <p:spPr>
          <a:xfrm flipH="1">
            <a:off x="1900000" y="1700000"/>
            <a:ext cx="1300000" cy="100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1" name="E21"/>
          <p:cNvCxnSpPr/>
          <p:nvPr/>
        </p:nvCxnSpPr>
        <p:spPr>
          <a:xfrm>
            <a:off x="3200000" y="1700000"/>
            <a:ext cx="1300000" cy="100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2" name="E22"/>
          <p:cNvCxnSpPr/>
          <p:nvPr/>
        </p:nvCxnSpPr>
        <p:spPr>
          <a:xfrm flipH="1">
            <a:off x="11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3" name="E23"/>
          <p:cNvCxnSpPr/>
          <p:nvPr/>
        </p:nvCxnSpPr>
        <p:spPr>
          <a:xfrm>
            <a:off x="19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4" name="E24"/>
          <p:cNvCxnSpPr/>
          <p:nvPr/>
        </p:nvCxnSpPr>
        <p:spPr>
          <a:xfrm>
            <a:off x="2700000" y="3750000"/>
            <a:ext cx="4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5" name="E25"/>
          <p:cNvCxnSpPr/>
          <p:nvPr/>
        </p:nvCxnSpPr>
        <p:spPr>
          <a:xfrm flipH="1">
            <a:off x="37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6" name="E26"/>
          <p:cNvCxnSpPr/>
          <p:nvPr/>
        </p:nvCxnSpPr>
        <p:spPr>
          <a:xfrm>
            <a:off x="45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7" name="E27"/>
          <p:cNvCxnSpPr/>
          <p:nvPr/>
        </p:nvCxnSpPr>
        <p:spPr>
          <a:xfrm flipH="1">
            <a:off x="700000" y="3750000"/>
            <a:ext cx="4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sp>
        <p:nvSpPr>
          <p:cNvPr id="28" name="N28"/>
          <p:cNvSpPr/>
          <p:nvPr/>
        </p:nvSpPr>
        <p:spPr>
          <a:xfrm>
            <a:off x="2830000" y="13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50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29" name="N29"/>
          <p:cNvSpPr/>
          <p:nvPr/>
        </p:nvSpPr>
        <p:spPr>
          <a:xfrm>
            <a:off x="1530000" y="23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30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0" name="N30"/>
          <p:cNvSpPr/>
          <p:nvPr/>
        </p:nvSpPr>
        <p:spPr>
          <a:xfrm>
            <a:off x="4130000" y="23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70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1" name="N31"/>
          <p:cNvSpPr/>
          <p:nvPr/>
        </p:nvSpPr>
        <p:spPr>
          <a:xfrm>
            <a:off x="7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20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2" name="N32"/>
          <p:cNvSpPr/>
          <p:nvPr/>
        </p:nvSpPr>
        <p:spPr>
          <a:xfrm>
            <a:off x="23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40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3" name="N33"/>
          <p:cNvSpPr/>
          <p:nvPr/>
        </p:nvSpPr>
        <p:spPr>
          <a:xfrm>
            <a:off x="33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60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4" name="N34"/>
          <p:cNvSpPr/>
          <p:nvPr/>
        </p:nvSpPr>
        <p:spPr>
          <a:xfrm>
            <a:off x="49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80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5" name="N35"/>
          <p:cNvSpPr/>
          <p:nvPr/>
        </p:nvSpPr>
        <p:spPr>
          <a:xfrm>
            <a:off x="330000" y="44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10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6" name="N36"/>
          <p:cNvSpPr/>
          <p:nvPr/>
        </p:nvSpPr>
        <p:spPr>
          <a:xfrm>
            <a:off x="2730000" y="44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45</a:t>
            </a:r>
            <a:endParaRPr sz="1700" b="1">
              <a:solidFill>
                <a:srgbClr val="FFFFFF"/>
              </a:solidFill>
            </a:endParaRPr>
          </a:p>
        </p:txBody>
      </p:sp>
      <p:cxnSp>
        <p:nvCxnSpPr>
          <p:cNvPr id="37" name="E37"/>
          <p:cNvCxnSpPr/>
          <p:nvPr/>
        </p:nvCxnSpPr>
        <p:spPr>
          <a:xfrm flipH="1">
            <a:off x="700000" y="2700000"/>
            <a:ext cx="1200000" cy="2100000"/>
          </a:xfrm>
          <a:prstGeom prst="line">
            <a:avLst/>
          </a:prstGeom>
          <a:ln w="38100">
            <a:solidFill>
              <a:srgbClr val="2980B9"/>
            </a:solidFill>
          </a:ln>
        </p:spPr>
      </p:cxnSp>
      <p:sp>
        <p:nvSpPr>
          <p:cNvPr id="38" name="N38"/>
          <p:cNvSpPr/>
          <p:nvPr/>
        </p:nvSpPr>
        <p:spPr>
          <a:xfrm>
            <a:off x="730000" y="3380000"/>
            <a:ext cx="740000" cy="74000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CCCCCC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AAAAAA"/>
                </a:solidFill>
              </a:rPr>
              <a:t>20</a:t>
            </a:r>
            <a:endParaRPr sz="1700" b="1">
              <a:solidFill>
                <a:srgbClr val="AAAAAA"/>
              </a:solidFill>
            </a:endParaRPr>
          </a:p>
        </p:txBody>
      </p:sp>
      <p:sp>
        <p:nvSpPr>
          <p:cNvPr id="39" name="L39"/>
          <p:cNvSpPr txBox="1"/>
          <p:nvPr/>
        </p:nvSpPr>
        <p:spPr>
          <a:xfrm>
            <a:off x="800000" y="345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74C3C"/>
                </a:solidFill>
              </a:rPr>
              <a:t>DEL</a:t>
            </a:r>
            <a:endParaRPr sz="1200" b="1">
              <a:solidFill>
                <a:srgbClr val="E74C3C"/>
              </a:solidFill>
            </a:endParaRPr>
          </a:p>
        </p:txBody>
      </p:sp>
      <p:sp>
        <p:nvSpPr>
          <p:cNvPr id="40" name="IB40"/>
          <p:cNvSpPr/>
          <p:nvPr/>
        </p:nvSpPr>
        <p:spPr>
          <a:xfrm>
            <a:off x="6700000" y="1050000"/>
            <a:ext cx="5200000" cy="1600000"/>
          </a:xfrm>
          <a:prstGeom prst="rect">
            <a:avLst/>
          </a:prstGeom>
          <a:solidFill>
            <a:srgbClr val="EAFAF1"/>
          </a:solidFill>
          <a:ln w="19050">
            <a:solidFill>
              <a:srgbClr val="06D6A0"/>
            </a:solidFill>
          </a:ln>
        </p:spPr>
        <p:txBody>
          <a:bodyPr>
            <a:spAutoFit/>
          </a:bodyPr>
          <a:lstStyle/>
          <a:p>
            <a:pPr algn="l">
              <a:spcBef>
                <a:spcPts val="300"/>
              </a:spcBef>
            </a:pPr>
            <a:r>
              <a:rPr sz="1500" b="1">
                <a:solidFill>
                  <a:srgbClr val="06D6A0"/>
                </a:solidFill>
              </a:rPr>
              <a:t>Case 2 — Step 3: Deletion Complete! ✓</a:t>
            </a:r>
            <a:endParaRPr sz="1500" b="1">
              <a:solidFill>
                <a:srgbClr val="06D6A0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555555"/>
                </a:solidFill>
              </a:rPr>
              <a:t>Node 20 removed. Node 10 now under 30.</a:t>
            </a:r>
            <a:endParaRPr sz="1300" b="0">
              <a:solidFill>
                <a:srgbClr val="555555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06D6A0"/>
                </a:solidFill>
              </a:rPr>
              <a:t>BST property preserved throughout ✓</a:t>
            </a:r>
            <a:endParaRPr sz="1300" b="0">
              <a:solidFill>
                <a:srgbClr val="06D6A0"/>
              </a:solidFill>
            </a:endParaRPr>
          </a:p>
        </p:txBody>
      </p:sp>
      <p:sp>
        <p:nvSpPr>
          <p:cNvPr id="41" name="IB41"/>
          <p:cNvSpPr/>
          <p:nvPr/>
        </p:nvSpPr>
        <p:spPr>
          <a:xfrm>
            <a:off x="6700000" y="2800000"/>
            <a:ext cx="5200000" cy="37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txBody>
          <a:bodyPr>
            <a:spAutoFit/>
          </a:bodyPr>
          <a:lstStyle/>
          <a:p>
            <a:pPr algn="l">
              <a:spcBef>
                <a:spcPts val="300"/>
              </a:spcBef>
            </a:pPr>
            <a:r>
              <a:rPr sz="1400" b="1">
                <a:solidFill>
                  <a:srgbClr val="2980B9"/>
                </a:solidFill>
              </a:rPr>
              <a:t>Case 2 Summary:</a:t>
            </a:r>
            <a:endParaRPr sz="1400" b="1">
              <a:solidFill>
                <a:srgbClr val="2980B9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Node with 1 child = bypass/rewire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Parent skips deleted node, points to its child.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888888"/>
                </a:solidFill>
              </a:rPr>
              <a:t>Inorder before: 10,20,30,40,45,50,60,70,80</a:t>
            </a:r>
            <a:endParaRPr sz="1100" b="0">
              <a:solidFill>
                <a:srgbClr val="888888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6D6A0"/>
                </a:solidFill>
              </a:rPr>
              <a:t>Inorder after:  10,30,40,45,50,60,70,80 ✓</a:t>
            </a:r>
            <a:endParaRPr sz="1200" b="0">
              <a:solidFill>
                <a:srgbClr val="06D6A0"/>
              </a:solidFill>
            </a:endParaRPr>
          </a:p>
          <a:p>
            <a:pPr algn="l">
              <a:spcBef>
                <a:spcPts val="300"/>
              </a:spcBef>
            </a:p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2980B9"/>
                </a:solidFill>
              </a:rPr>
              <a:t>Time: O(log n) search + O(1) delete</a:t>
            </a:r>
            <a:endParaRPr sz="1200" b="0">
              <a:solidFill>
                <a:srgbClr val="2980B9"/>
              </a:solidFill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dr"/>
          <p:cNvSpPr/>
          <p:nvPr/>
        </p:nvSpPr>
        <p:spPr>
          <a:xfrm>
            <a:off x="0" y="0"/>
            <a:ext cx="12188825" cy="960000"/>
          </a:xfrm>
          <a:prstGeom prst="rect">
            <a:avLst/>
          </a:prstGeom>
          <a:solidFill>
            <a:srgbClr val="6C1E8A"/>
          </a:solidFill>
          <a:ln>
            <a:noFill/>
          </a:ln>
        </p:spPr>
        <p:txBody>
          <a:bodyPr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  BST Delete: Remove 50 (Two Children)  —  Step 1 of 4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3" name="StepBadge"/>
          <p:cNvSpPr/>
          <p:nvPr/>
        </p:nvSpPr>
        <p:spPr>
          <a:xfrm>
            <a:off x="10500000" y="150000"/>
            <a:ext cx="1500000" cy="660000"/>
          </a:xfrm>
          <a:prstGeom prst="roundRect">
            <a:avLst>
              <a:gd name="adj" fmla="val 30000"/>
            </a:avLst>
          </a:prstGeom>
          <a:solidFill>
            <a:srgbClr val="FFD700"/>
          </a:solidFill>
          <a:ln>
            <a:noFill/>
          </a:ln>
        </p:spPr>
        <p:txBody>
          <a:bodyPr anchor="ctr"/>
          <a:lstStyle/>
          <a:p>
            <a:pPr algn="ctr"/>
            <a:r>
              <a:rPr sz="1600" b="1">
                <a:solidFill>
                  <a:srgbClr val="000000"/>
                </a:solidFill>
              </a:rPr>
              <a:t>Case 3 · Step 1/4</a:t>
            </a:r>
            <a:endParaRPr sz="1600" b="1">
              <a:solidFill>
                <a:srgbClr val="000000"/>
              </a:solidFill>
            </a:endParaRPr>
          </a:p>
        </p:txBody>
      </p:sp>
      <p:sp>
        <p:nvSpPr>
          <p:cNvPr id="4" name="BgContent"/>
          <p:cNvSpPr/>
          <p:nvPr/>
        </p:nvSpPr>
        <p:spPr>
          <a:xfrm>
            <a:off x="0" y="960000"/>
            <a:ext cx="12188825" cy="589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0" name="E20"/>
          <p:cNvCxnSpPr/>
          <p:nvPr/>
        </p:nvCxnSpPr>
        <p:spPr>
          <a:xfrm flipH="1">
            <a:off x="1900000" y="1700000"/>
            <a:ext cx="1300000" cy="100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1" name="E21"/>
          <p:cNvCxnSpPr/>
          <p:nvPr/>
        </p:nvCxnSpPr>
        <p:spPr>
          <a:xfrm>
            <a:off x="3200000" y="1700000"/>
            <a:ext cx="1300000" cy="100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2" name="E22"/>
          <p:cNvCxnSpPr/>
          <p:nvPr/>
        </p:nvCxnSpPr>
        <p:spPr>
          <a:xfrm flipH="1">
            <a:off x="11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3" name="E23"/>
          <p:cNvCxnSpPr/>
          <p:nvPr/>
        </p:nvCxnSpPr>
        <p:spPr>
          <a:xfrm>
            <a:off x="19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4" name="E24"/>
          <p:cNvCxnSpPr/>
          <p:nvPr/>
        </p:nvCxnSpPr>
        <p:spPr>
          <a:xfrm>
            <a:off x="2700000" y="3750000"/>
            <a:ext cx="4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5" name="E25"/>
          <p:cNvCxnSpPr/>
          <p:nvPr/>
        </p:nvCxnSpPr>
        <p:spPr>
          <a:xfrm flipH="1">
            <a:off x="37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6" name="E26"/>
          <p:cNvCxnSpPr/>
          <p:nvPr/>
        </p:nvCxnSpPr>
        <p:spPr>
          <a:xfrm>
            <a:off x="45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7" name="E27"/>
          <p:cNvCxnSpPr/>
          <p:nvPr/>
        </p:nvCxnSpPr>
        <p:spPr>
          <a:xfrm flipH="1">
            <a:off x="700000" y="3750000"/>
            <a:ext cx="4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sp>
        <p:nvSpPr>
          <p:cNvPr id="28" name="N28"/>
          <p:cNvSpPr/>
          <p:nvPr/>
        </p:nvSpPr>
        <p:spPr>
          <a:xfrm>
            <a:off x="2830000" y="1330000"/>
            <a:ext cx="740000" cy="740000"/>
          </a:xfrm>
          <a:prstGeom prst="ellipse">
            <a:avLst/>
          </a:prstGeom>
          <a:solidFill>
            <a:srgbClr val="E74C3C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50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29" name="N29"/>
          <p:cNvSpPr/>
          <p:nvPr/>
        </p:nvSpPr>
        <p:spPr>
          <a:xfrm>
            <a:off x="1530000" y="23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30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0" name="N30"/>
          <p:cNvSpPr/>
          <p:nvPr/>
        </p:nvSpPr>
        <p:spPr>
          <a:xfrm>
            <a:off x="4130000" y="23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70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1" name="N31"/>
          <p:cNvSpPr/>
          <p:nvPr/>
        </p:nvSpPr>
        <p:spPr>
          <a:xfrm>
            <a:off x="7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20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2" name="N32"/>
          <p:cNvSpPr/>
          <p:nvPr/>
        </p:nvSpPr>
        <p:spPr>
          <a:xfrm>
            <a:off x="23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40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3" name="N33"/>
          <p:cNvSpPr/>
          <p:nvPr/>
        </p:nvSpPr>
        <p:spPr>
          <a:xfrm>
            <a:off x="33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60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4" name="N34"/>
          <p:cNvSpPr/>
          <p:nvPr/>
        </p:nvSpPr>
        <p:spPr>
          <a:xfrm>
            <a:off x="49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80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5" name="N35"/>
          <p:cNvSpPr/>
          <p:nvPr/>
        </p:nvSpPr>
        <p:spPr>
          <a:xfrm>
            <a:off x="330000" y="44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10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6" name="N36"/>
          <p:cNvSpPr/>
          <p:nvPr/>
        </p:nvSpPr>
        <p:spPr>
          <a:xfrm>
            <a:off x="2730000" y="44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45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7" name="IB37"/>
          <p:cNvSpPr/>
          <p:nvPr/>
        </p:nvSpPr>
        <p:spPr>
          <a:xfrm>
            <a:off x="6700000" y="1050000"/>
            <a:ext cx="5200000" cy="1800000"/>
          </a:xfrm>
          <a:prstGeom prst="rect">
            <a:avLst/>
          </a:prstGeom>
          <a:solidFill>
            <a:srgbClr val="F5EEF8"/>
          </a:solidFill>
          <a:ln w="19050">
            <a:solidFill>
              <a:srgbClr val="8E44AD"/>
            </a:solidFill>
          </a:ln>
        </p:spPr>
        <p:txBody>
          <a:bodyPr>
            <a:spAutoFit/>
          </a:bodyPr>
          <a:lstStyle/>
          <a:p>
            <a:pPr algn="l">
              <a:spcBef>
                <a:spcPts val="300"/>
              </a:spcBef>
            </a:pPr>
            <a:r>
              <a:rPr sz="1500" b="1">
                <a:solidFill>
                  <a:srgbClr val="8E44AD"/>
                </a:solidFill>
              </a:rPr>
              <a:t>Case 3 — Step 1: Delete node 50 (2 children)</a:t>
            </a:r>
            <a:endParaRPr sz="1500" b="1">
              <a:solidFill>
                <a:srgbClr val="8E44AD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555555"/>
                </a:solidFill>
              </a:rPr>
              <a:t>Node 50 has TWO children:</a:t>
            </a:r>
            <a:endParaRPr sz="1300" b="0">
              <a:solidFill>
                <a:srgbClr val="555555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888888"/>
                </a:solidFill>
              </a:rPr>
              <a:t>  Left child = 30,   Right child = 70</a:t>
            </a:r>
            <a:endParaRPr sz="1200" b="0">
              <a:solidFill>
                <a:srgbClr val="888888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 b="1">
                <a:solidFill>
                  <a:srgbClr val="E74C3C"/>
                </a:solidFill>
              </a:rPr>
              <a:t>Cannot simply remove — must find replacement!</a:t>
            </a:r>
            <a:endParaRPr sz="1300" b="1">
              <a:solidFill>
                <a:srgbClr val="E74C3C"/>
              </a:solidFill>
            </a:endParaRPr>
          </a:p>
        </p:txBody>
      </p:sp>
      <p:sp>
        <p:nvSpPr>
          <p:cNvPr id="38" name="IB38"/>
          <p:cNvSpPr/>
          <p:nvPr/>
        </p:nvSpPr>
        <p:spPr>
          <a:xfrm>
            <a:off x="6700000" y="2950000"/>
            <a:ext cx="5200000" cy="35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txBody>
          <a:bodyPr>
            <a:spAutoFit/>
          </a:bodyPr>
          <a:lstStyle/>
          <a:p>
            <a:pPr algn="l">
              <a:spcBef>
                <a:spcPts val="300"/>
              </a:spcBef>
            </a:pPr>
            <a:r>
              <a:rPr sz="1400" b="1">
                <a:solidFill>
                  <a:srgbClr val="8E44AD"/>
                </a:solidFill>
              </a:rPr>
              <a:t>Case 3: Node with Two Children</a:t>
            </a:r>
            <a:endParaRPr sz="1400" b="1">
              <a:solidFill>
                <a:srgbClr val="8E44AD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Strategy: Replace with INORDER SUCCESSOR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Inorder Successor = smallest value in the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RIGHT subtree (= next larger value after 50)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2980B9"/>
                </a:solidFill>
              </a:rPr>
              <a:t>To find it: go RIGHT once, then LEFT as far</a:t>
            </a:r>
            <a:endParaRPr sz="1200" b="0">
              <a:solidFill>
                <a:srgbClr val="2980B9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2980B9"/>
                </a:solidFill>
              </a:rPr>
              <a:t>as possible. The leftmost node = successor.</a:t>
            </a:r>
            <a:endParaRPr sz="1200" b="0">
              <a:solidFill>
                <a:srgbClr val="2980B9"/>
              </a:solidFill>
            </a:endParaRPr>
          </a:p>
          <a:p>
            <a:pPr algn="l">
              <a:spcBef>
                <a:spcPts val="300"/>
              </a:spcBef>
            </a:pPr>
          </a:p>
          <a:p>
            <a:pPr algn="l">
              <a:spcBef>
                <a:spcPts val="300"/>
              </a:spcBef>
            </a:pPr>
            <a:r>
              <a:rPr sz="1300" b="1">
                <a:solidFill>
                  <a:srgbClr val="E67E22"/>
                </a:solidFill>
              </a:rPr>
              <a:t>Next: Find the inorder successor →</a:t>
            </a:r>
            <a:endParaRPr sz="1300" b="1">
              <a:solidFill>
                <a:srgbClr val="E67E22"/>
              </a:solidFill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dr"/>
          <p:cNvSpPr/>
          <p:nvPr/>
        </p:nvSpPr>
        <p:spPr>
          <a:xfrm>
            <a:off x="0" y="0"/>
            <a:ext cx="12188825" cy="960000"/>
          </a:xfrm>
          <a:prstGeom prst="rect">
            <a:avLst/>
          </a:prstGeom>
          <a:solidFill>
            <a:srgbClr val="6C1E8A"/>
          </a:solidFill>
          <a:ln>
            <a:noFill/>
          </a:ln>
        </p:spPr>
        <p:txBody>
          <a:bodyPr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  BST Delete: Remove 50 (Two Children)  —  Step 2 of 4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3" name="StepBadge"/>
          <p:cNvSpPr/>
          <p:nvPr/>
        </p:nvSpPr>
        <p:spPr>
          <a:xfrm>
            <a:off x="10500000" y="150000"/>
            <a:ext cx="1500000" cy="660000"/>
          </a:xfrm>
          <a:prstGeom prst="roundRect">
            <a:avLst>
              <a:gd name="adj" fmla="val 30000"/>
            </a:avLst>
          </a:prstGeom>
          <a:solidFill>
            <a:srgbClr val="FFD700"/>
          </a:solidFill>
          <a:ln>
            <a:noFill/>
          </a:ln>
        </p:spPr>
        <p:txBody>
          <a:bodyPr anchor="ctr"/>
          <a:lstStyle/>
          <a:p>
            <a:pPr algn="ctr"/>
            <a:r>
              <a:rPr sz="1600" b="1">
                <a:solidFill>
                  <a:srgbClr val="000000"/>
                </a:solidFill>
              </a:rPr>
              <a:t>Case 3 · Step 2/4</a:t>
            </a:r>
            <a:endParaRPr sz="1600" b="1">
              <a:solidFill>
                <a:srgbClr val="000000"/>
              </a:solidFill>
            </a:endParaRPr>
          </a:p>
        </p:txBody>
      </p:sp>
      <p:sp>
        <p:nvSpPr>
          <p:cNvPr id="4" name="BgContent"/>
          <p:cNvSpPr/>
          <p:nvPr/>
        </p:nvSpPr>
        <p:spPr>
          <a:xfrm>
            <a:off x="0" y="960000"/>
            <a:ext cx="12188825" cy="589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0" name="E20"/>
          <p:cNvCxnSpPr/>
          <p:nvPr/>
        </p:nvCxnSpPr>
        <p:spPr>
          <a:xfrm flipH="1">
            <a:off x="1900000" y="1700000"/>
            <a:ext cx="1300000" cy="100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1" name="E21"/>
          <p:cNvCxnSpPr/>
          <p:nvPr/>
        </p:nvCxnSpPr>
        <p:spPr>
          <a:xfrm>
            <a:off x="3200000" y="1700000"/>
            <a:ext cx="1300000" cy="1000000"/>
          </a:xfrm>
          <a:prstGeom prst="line">
            <a:avLst/>
          </a:prstGeom>
          <a:ln w="38100">
            <a:solidFill>
              <a:srgbClr val="FFD700"/>
            </a:solidFill>
          </a:ln>
        </p:spPr>
      </p:cxnSp>
      <p:cxnSp>
        <p:nvCxnSpPr>
          <p:cNvPr id="22" name="E22"/>
          <p:cNvCxnSpPr/>
          <p:nvPr/>
        </p:nvCxnSpPr>
        <p:spPr>
          <a:xfrm flipH="1">
            <a:off x="11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3" name="E23"/>
          <p:cNvCxnSpPr/>
          <p:nvPr/>
        </p:nvCxnSpPr>
        <p:spPr>
          <a:xfrm>
            <a:off x="19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4" name="E24"/>
          <p:cNvCxnSpPr/>
          <p:nvPr/>
        </p:nvCxnSpPr>
        <p:spPr>
          <a:xfrm>
            <a:off x="2700000" y="3750000"/>
            <a:ext cx="4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5" name="E25"/>
          <p:cNvCxnSpPr/>
          <p:nvPr/>
        </p:nvCxnSpPr>
        <p:spPr>
          <a:xfrm flipH="1">
            <a:off x="3700000" y="2700000"/>
            <a:ext cx="800000" cy="1050000"/>
          </a:xfrm>
          <a:prstGeom prst="line">
            <a:avLst/>
          </a:prstGeom>
          <a:ln w="38100">
            <a:solidFill>
              <a:srgbClr val="FFD700"/>
            </a:solidFill>
          </a:ln>
        </p:spPr>
      </p:cxnSp>
      <p:cxnSp>
        <p:nvCxnSpPr>
          <p:cNvPr id="26" name="E26"/>
          <p:cNvCxnSpPr/>
          <p:nvPr/>
        </p:nvCxnSpPr>
        <p:spPr>
          <a:xfrm>
            <a:off x="45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7" name="E27"/>
          <p:cNvCxnSpPr/>
          <p:nvPr/>
        </p:nvCxnSpPr>
        <p:spPr>
          <a:xfrm flipH="1">
            <a:off x="700000" y="3750000"/>
            <a:ext cx="4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sp>
        <p:nvSpPr>
          <p:cNvPr id="28" name="N28"/>
          <p:cNvSpPr/>
          <p:nvPr/>
        </p:nvSpPr>
        <p:spPr>
          <a:xfrm>
            <a:off x="2830000" y="1330000"/>
            <a:ext cx="740000" cy="740000"/>
          </a:xfrm>
          <a:prstGeom prst="ellipse">
            <a:avLst/>
          </a:prstGeom>
          <a:solidFill>
            <a:srgbClr val="E74C3C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50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29" name="N29"/>
          <p:cNvSpPr/>
          <p:nvPr/>
        </p:nvSpPr>
        <p:spPr>
          <a:xfrm>
            <a:off x="1530000" y="23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30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0" name="N30"/>
          <p:cNvSpPr/>
          <p:nvPr/>
        </p:nvSpPr>
        <p:spPr>
          <a:xfrm>
            <a:off x="4130000" y="2330000"/>
            <a:ext cx="740000" cy="740000"/>
          </a:xfrm>
          <a:prstGeom prst="ellipse">
            <a:avLst/>
          </a:prstGeom>
          <a:solidFill>
            <a:srgbClr val="FF8C00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70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1" name="N31"/>
          <p:cNvSpPr/>
          <p:nvPr/>
        </p:nvSpPr>
        <p:spPr>
          <a:xfrm>
            <a:off x="7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20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2" name="N32"/>
          <p:cNvSpPr/>
          <p:nvPr/>
        </p:nvSpPr>
        <p:spPr>
          <a:xfrm>
            <a:off x="23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40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3" name="N33"/>
          <p:cNvSpPr/>
          <p:nvPr/>
        </p:nvSpPr>
        <p:spPr>
          <a:xfrm>
            <a:off x="3330000" y="3380000"/>
            <a:ext cx="740000" cy="740000"/>
          </a:xfrm>
          <a:prstGeom prst="ellipse">
            <a:avLst/>
          </a:prstGeom>
          <a:solidFill>
            <a:srgbClr val="FFD700"/>
          </a:solidFill>
          <a:ln w="28575"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60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4" name="N34"/>
          <p:cNvSpPr/>
          <p:nvPr/>
        </p:nvSpPr>
        <p:spPr>
          <a:xfrm>
            <a:off x="49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80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5" name="N35"/>
          <p:cNvSpPr/>
          <p:nvPr/>
        </p:nvSpPr>
        <p:spPr>
          <a:xfrm>
            <a:off x="330000" y="44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10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6" name="N36"/>
          <p:cNvSpPr/>
          <p:nvPr/>
        </p:nvSpPr>
        <p:spPr>
          <a:xfrm>
            <a:off x="2730000" y="44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45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7" name="L37"/>
          <p:cNvSpPr txBox="1"/>
          <p:nvPr/>
        </p:nvSpPr>
        <p:spPr>
          <a:xfrm>
            <a:off x="4150000" y="3450000"/>
            <a:ext cx="18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D700"/>
                </a:solidFill>
              </a:rPr>
              <a:t>← Inorder Successor!</a:t>
            </a:r>
            <a:endParaRPr sz="1100" b="1">
              <a:solidFill>
                <a:srgbClr val="FFD700"/>
              </a:solidFill>
            </a:endParaRPr>
          </a:p>
        </p:txBody>
      </p:sp>
      <p:sp>
        <p:nvSpPr>
          <p:cNvPr id="38" name="IB38"/>
          <p:cNvSpPr/>
          <p:nvPr/>
        </p:nvSpPr>
        <p:spPr>
          <a:xfrm>
            <a:off x="6700000" y="1050000"/>
            <a:ext cx="5200000" cy="1800000"/>
          </a:xfrm>
          <a:prstGeom prst="rect">
            <a:avLst/>
          </a:prstGeom>
          <a:solidFill>
            <a:srgbClr val="F5EEF8"/>
          </a:solidFill>
          <a:ln w="19050">
            <a:solidFill>
              <a:srgbClr val="8E44AD"/>
            </a:solidFill>
          </a:ln>
        </p:spPr>
        <p:txBody>
          <a:bodyPr>
            <a:spAutoFit/>
          </a:bodyPr>
          <a:lstStyle/>
          <a:p>
            <a:pPr algn="l">
              <a:spcBef>
                <a:spcPts val="300"/>
              </a:spcBef>
            </a:pPr>
            <a:r>
              <a:rPr sz="1500" b="1">
                <a:solidFill>
                  <a:srgbClr val="8E44AD"/>
                </a:solidFill>
              </a:rPr>
              <a:t>Case 3 — Step 2: Find Inorder Successor</a:t>
            </a:r>
            <a:endParaRPr sz="1500" b="1">
              <a:solidFill>
                <a:srgbClr val="8E44AD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E67E22"/>
                </a:solidFill>
              </a:rPr>
              <a:t>Go RIGHT from 50  →  reach 70</a:t>
            </a:r>
            <a:endParaRPr sz="1300" b="0">
              <a:solidFill>
                <a:srgbClr val="E67E22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E67E22"/>
                </a:solidFill>
              </a:rPr>
              <a:t>Go LEFT from 70  →  reach 60 (no left child)</a:t>
            </a:r>
            <a:endParaRPr sz="1300" b="0">
              <a:solidFill>
                <a:srgbClr val="E67E22"/>
              </a:solidFill>
            </a:endParaRPr>
          </a:p>
          <a:p>
            <a:pPr algn="l">
              <a:spcBef>
                <a:spcPts val="300"/>
              </a:spcBef>
            </a:pPr>
            <a:r>
              <a:rPr sz="1400" b="1">
                <a:solidFill>
                  <a:srgbClr val="FFD700"/>
                </a:solidFill>
              </a:rPr>
              <a:t>60 is the Inorder Successor of 50! ✓</a:t>
            </a:r>
            <a:endParaRPr sz="1400" b="1">
              <a:solidFill>
                <a:srgbClr val="FFD700"/>
              </a:solidFill>
            </a:endParaRPr>
          </a:p>
        </p:txBody>
      </p:sp>
      <p:sp>
        <p:nvSpPr>
          <p:cNvPr id="39" name="IB39"/>
          <p:cNvSpPr/>
          <p:nvPr/>
        </p:nvSpPr>
        <p:spPr>
          <a:xfrm>
            <a:off x="6700000" y="2950000"/>
            <a:ext cx="5200000" cy="35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txBody>
          <a:bodyPr>
            <a:spAutoFit/>
          </a:bodyPr>
          <a:lstStyle/>
          <a:p>
            <a:pPr algn="l">
              <a:spcBef>
                <a:spcPts val="300"/>
              </a:spcBef>
            </a:pPr>
            <a:r>
              <a:rPr sz="1300" b="1">
                <a:solidFill>
                  <a:srgbClr val="1E3A5F"/>
                </a:solidFill>
              </a:rPr>
              <a:t>Why is 60 the successor?</a:t>
            </a:r>
            <a:endParaRPr sz="1300" b="1">
              <a:solidFill>
                <a:srgbClr val="1E3A5F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Inorder traversal gives: ...,45,50,60,70,80,...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60 is the next value after 50 in sorted order.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2980B9"/>
                </a:solidFill>
              </a:rPr>
              <a:t>60 is the LEFTMOST node in the right subtree.</a:t>
            </a:r>
            <a:endParaRPr sz="1200" b="1">
              <a:solidFill>
                <a:srgbClr val="2980B9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It is SMALLER than all other nodes in the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right subtree, so it can replace 50 without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6D6A0"/>
                </a:solidFill>
              </a:rPr>
              <a:t>violating BST ordering!</a:t>
            </a:r>
            <a:endParaRPr sz="1200" b="0">
              <a:solidFill>
                <a:srgbClr val="06D6A0"/>
              </a:solidFill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dr"/>
          <p:cNvSpPr/>
          <p:nvPr/>
        </p:nvSpPr>
        <p:spPr>
          <a:xfrm>
            <a:off x="0" y="0"/>
            <a:ext cx="12188825" cy="960000"/>
          </a:xfrm>
          <a:prstGeom prst="rect">
            <a:avLst/>
          </a:prstGeom>
          <a:solidFill>
            <a:srgbClr val="6C1E8A"/>
          </a:solidFill>
          <a:ln>
            <a:noFill/>
          </a:ln>
        </p:spPr>
        <p:txBody>
          <a:bodyPr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  BST Delete: Remove 50 (Two Children)  —  Step 3 of 4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3" name="StepBadge"/>
          <p:cNvSpPr/>
          <p:nvPr/>
        </p:nvSpPr>
        <p:spPr>
          <a:xfrm>
            <a:off x="10500000" y="150000"/>
            <a:ext cx="1500000" cy="660000"/>
          </a:xfrm>
          <a:prstGeom prst="roundRect">
            <a:avLst>
              <a:gd name="adj" fmla="val 30000"/>
            </a:avLst>
          </a:prstGeom>
          <a:solidFill>
            <a:srgbClr val="FFD700"/>
          </a:solidFill>
          <a:ln>
            <a:noFill/>
          </a:ln>
        </p:spPr>
        <p:txBody>
          <a:bodyPr anchor="ctr"/>
          <a:lstStyle/>
          <a:p>
            <a:pPr algn="ctr"/>
            <a:r>
              <a:rPr sz="1600" b="1">
                <a:solidFill>
                  <a:srgbClr val="000000"/>
                </a:solidFill>
              </a:rPr>
              <a:t>Case 3 · Step 3/4</a:t>
            </a:r>
            <a:endParaRPr sz="1600" b="1">
              <a:solidFill>
                <a:srgbClr val="000000"/>
              </a:solidFill>
            </a:endParaRPr>
          </a:p>
        </p:txBody>
      </p:sp>
      <p:sp>
        <p:nvSpPr>
          <p:cNvPr id="4" name="BgContent"/>
          <p:cNvSpPr/>
          <p:nvPr/>
        </p:nvSpPr>
        <p:spPr>
          <a:xfrm>
            <a:off x="0" y="960000"/>
            <a:ext cx="12188825" cy="589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0" name="E20"/>
          <p:cNvCxnSpPr/>
          <p:nvPr/>
        </p:nvCxnSpPr>
        <p:spPr>
          <a:xfrm flipH="1">
            <a:off x="1900000" y="1700000"/>
            <a:ext cx="1300000" cy="100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1" name="E21"/>
          <p:cNvCxnSpPr/>
          <p:nvPr/>
        </p:nvCxnSpPr>
        <p:spPr>
          <a:xfrm>
            <a:off x="3200000" y="1700000"/>
            <a:ext cx="1300000" cy="100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2" name="E22"/>
          <p:cNvCxnSpPr/>
          <p:nvPr/>
        </p:nvCxnSpPr>
        <p:spPr>
          <a:xfrm flipH="1">
            <a:off x="11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3" name="E23"/>
          <p:cNvCxnSpPr/>
          <p:nvPr/>
        </p:nvCxnSpPr>
        <p:spPr>
          <a:xfrm>
            <a:off x="19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4" name="E24"/>
          <p:cNvCxnSpPr/>
          <p:nvPr/>
        </p:nvCxnSpPr>
        <p:spPr>
          <a:xfrm>
            <a:off x="2700000" y="3750000"/>
            <a:ext cx="4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5" name="E25"/>
          <p:cNvCxnSpPr/>
          <p:nvPr/>
        </p:nvCxnSpPr>
        <p:spPr>
          <a:xfrm flipH="1">
            <a:off x="37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6" name="E26"/>
          <p:cNvCxnSpPr/>
          <p:nvPr/>
        </p:nvCxnSpPr>
        <p:spPr>
          <a:xfrm>
            <a:off x="45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7" name="E27"/>
          <p:cNvCxnSpPr/>
          <p:nvPr/>
        </p:nvCxnSpPr>
        <p:spPr>
          <a:xfrm flipH="1">
            <a:off x="700000" y="3750000"/>
            <a:ext cx="4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sp>
        <p:nvSpPr>
          <p:cNvPr id="28" name="N28"/>
          <p:cNvSpPr/>
          <p:nvPr/>
        </p:nvSpPr>
        <p:spPr>
          <a:xfrm>
            <a:off x="2830000" y="1330000"/>
            <a:ext cx="740000" cy="740000"/>
          </a:xfrm>
          <a:prstGeom prst="ellipse">
            <a:avLst/>
          </a:prstGeom>
          <a:solidFill>
            <a:srgbClr val="06D6A0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60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29" name="N29"/>
          <p:cNvSpPr/>
          <p:nvPr/>
        </p:nvSpPr>
        <p:spPr>
          <a:xfrm>
            <a:off x="1530000" y="23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30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0" name="N30"/>
          <p:cNvSpPr/>
          <p:nvPr/>
        </p:nvSpPr>
        <p:spPr>
          <a:xfrm>
            <a:off x="4130000" y="23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70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1" name="N31"/>
          <p:cNvSpPr/>
          <p:nvPr/>
        </p:nvSpPr>
        <p:spPr>
          <a:xfrm>
            <a:off x="7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20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2" name="N32"/>
          <p:cNvSpPr/>
          <p:nvPr/>
        </p:nvSpPr>
        <p:spPr>
          <a:xfrm>
            <a:off x="23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40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3" name="N33"/>
          <p:cNvSpPr/>
          <p:nvPr/>
        </p:nvSpPr>
        <p:spPr>
          <a:xfrm>
            <a:off x="3330000" y="3380000"/>
            <a:ext cx="740000" cy="740000"/>
          </a:xfrm>
          <a:prstGeom prst="ellipse">
            <a:avLst/>
          </a:prstGeom>
          <a:solidFill>
            <a:srgbClr val="E74C3C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60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4" name="N34"/>
          <p:cNvSpPr/>
          <p:nvPr/>
        </p:nvSpPr>
        <p:spPr>
          <a:xfrm>
            <a:off x="49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80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5" name="N35"/>
          <p:cNvSpPr/>
          <p:nvPr/>
        </p:nvSpPr>
        <p:spPr>
          <a:xfrm>
            <a:off x="330000" y="44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10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6" name="N36"/>
          <p:cNvSpPr/>
          <p:nvPr/>
        </p:nvSpPr>
        <p:spPr>
          <a:xfrm>
            <a:off x="2730000" y="44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45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7" name="L37"/>
          <p:cNvSpPr txBox="1"/>
          <p:nvPr/>
        </p:nvSpPr>
        <p:spPr>
          <a:xfrm>
            <a:off x="3650000" y="1450000"/>
            <a:ext cx="16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6D6A0"/>
                </a:solidFill>
              </a:rPr>
              <a:t>← was 50, now 60</a:t>
            </a:r>
            <a:endParaRPr sz="1100" b="1">
              <a:solidFill>
                <a:srgbClr val="06D6A0"/>
              </a:solidFill>
            </a:endParaRPr>
          </a:p>
        </p:txBody>
      </p:sp>
      <p:sp>
        <p:nvSpPr>
          <p:cNvPr id="38" name="L38"/>
          <p:cNvSpPr txBox="1"/>
          <p:nvPr/>
        </p:nvSpPr>
        <p:spPr>
          <a:xfrm>
            <a:off x="4150000" y="3500000"/>
            <a:ext cx="15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74C3C"/>
                </a:solidFill>
              </a:rPr>
              <a:t>← will be deleted</a:t>
            </a:r>
            <a:endParaRPr sz="1100" b="1">
              <a:solidFill>
                <a:srgbClr val="E74C3C"/>
              </a:solidFill>
            </a:endParaRPr>
          </a:p>
        </p:txBody>
      </p:sp>
      <p:sp>
        <p:nvSpPr>
          <p:cNvPr id="39" name="IB39"/>
          <p:cNvSpPr/>
          <p:nvPr/>
        </p:nvSpPr>
        <p:spPr>
          <a:xfrm>
            <a:off x="6700000" y="1050000"/>
            <a:ext cx="5200000" cy="1800000"/>
          </a:xfrm>
          <a:prstGeom prst="rect">
            <a:avLst/>
          </a:prstGeom>
          <a:solidFill>
            <a:srgbClr val="F5EEF8"/>
          </a:solidFill>
          <a:ln w="19050">
            <a:solidFill>
              <a:srgbClr val="8E44AD"/>
            </a:solidFill>
          </a:ln>
        </p:spPr>
        <p:txBody>
          <a:bodyPr>
            <a:spAutoFit/>
          </a:bodyPr>
          <a:lstStyle/>
          <a:p>
            <a:pPr algn="l">
              <a:spcBef>
                <a:spcPts val="300"/>
              </a:spcBef>
            </a:pPr>
            <a:r>
              <a:rPr sz="1500" b="1">
                <a:solidFill>
                  <a:srgbClr val="8E44AD"/>
                </a:solidFill>
              </a:rPr>
              <a:t>Case 3 — Step 3: Copy successor value</a:t>
            </a:r>
            <a:endParaRPr sz="1500" b="1">
              <a:solidFill>
                <a:srgbClr val="8E44AD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555555"/>
                </a:solidFill>
              </a:rPr>
              <a:t>Copy 60's value into the node that had 50</a:t>
            </a:r>
            <a:endParaRPr sz="1300" b="0">
              <a:solidFill>
                <a:srgbClr val="555555"/>
              </a:solidFill>
            </a:endParaRPr>
          </a:p>
          <a:p>
            <a:pPr algn="l">
              <a:spcBef>
                <a:spcPts val="300"/>
              </a:spcBef>
            </a:pPr>
            <a:r>
              <a:rPr sz="1400" b="1">
                <a:solidFill>
                  <a:srgbClr val="06D6A0"/>
                </a:solidFill>
              </a:rPr>
              <a:t>The root node now stores value 60</a:t>
            </a:r>
            <a:endParaRPr sz="1400" b="1">
              <a:solidFill>
                <a:srgbClr val="06D6A0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E74C3C"/>
                </a:solidFill>
              </a:rPr>
              <a:t>Now delete the ORIGINAL node 60</a:t>
            </a:r>
            <a:endParaRPr sz="1300" b="0">
              <a:solidFill>
                <a:srgbClr val="E74C3C"/>
              </a:solidFill>
            </a:endParaRPr>
          </a:p>
        </p:txBody>
      </p:sp>
      <p:sp>
        <p:nvSpPr>
          <p:cNvPr id="40" name="IB40"/>
          <p:cNvSpPr/>
          <p:nvPr/>
        </p:nvSpPr>
        <p:spPr>
          <a:xfrm>
            <a:off x="6700000" y="2950000"/>
            <a:ext cx="5200000" cy="35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txBody>
          <a:bodyPr>
            <a:spAutoFit/>
          </a:bodyPr>
          <a:lstStyle/>
          <a:p>
            <a:pPr algn="l">
              <a:spcBef>
                <a:spcPts val="300"/>
              </a:spcBef>
            </a:pPr>
            <a:r>
              <a:rPr sz="1300" b="1">
                <a:solidFill>
                  <a:srgbClr val="1E3A5F"/>
                </a:solidFill>
              </a:rPr>
              <a:t>Key insight:</a:t>
            </a:r>
            <a:endParaRPr sz="1300" b="1">
              <a:solidFill>
                <a:srgbClr val="1E3A5F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We DON'T move the node — we just copy the value!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The node structure stays in place.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E74C3C"/>
                </a:solidFill>
              </a:rPr>
              <a:t>Now we must delete the original node 60.</a:t>
            </a:r>
            <a:endParaRPr sz="1200" b="1">
              <a:solidFill>
                <a:srgbClr val="E74C3C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Node 60 has at most 1 child (since it was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the leftmost node = no left child).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 b="1">
                <a:solidFill>
                  <a:srgbClr val="06D6A0"/>
                </a:solidFill>
              </a:rPr>
              <a:t>So this reduces to Case 1 or Case 2!</a:t>
            </a:r>
            <a:endParaRPr sz="1300" b="1">
              <a:solidFill>
                <a:srgbClr val="06D6A0"/>
              </a:solidFill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dr"/>
          <p:cNvSpPr/>
          <p:nvPr/>
        </p:nvSpPr>
        <p:spPr>
          <a:xfrm>
            <a:off x="0" y="0"/>
            <a:ext cx="12188825" cy="960000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txBody>
          <a:bodyPr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  BST Delete: Remove 50 (Two Children)  —  Step 4 of 4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3" name="StepBadge"/>
          <p:cNvSpPr/>
          <p:nvPr/>
        </p:nvSpPr>
        <p:spPr>
          <a:xfrm>
            <a:off x="10500000" y="150000"/>
            <a:ext cx="1500000" cy="660000"/>
          </a:xfrm>
          <a:prstGeom prst="roundRect">
            <a:avLst>
              <a:gd name="adj" fmla="val 30000"/>
            </a:avLst>
          </a:prstGeom>
          <a:solidFill>
            <a:srgbClr val="FFD700"/>
          </a:solidFill>
          <a:ln>
            <a:noFill/>
          </a:ln>
        </p:spPr>
        <p:txBody>
          <a:bodyPr anchor="ctr"/>
          <a:lstStyle/>
          <a:p>
            <a:pPr algn="ctr"/>
            <a:r>
              <a:rPr sz="1600" b="1">
                <a:solidFill>
                  <a:srgbClr val="000000"/>
                </a:solidFill>
              </a:rPr>
              <a:t>✓ Done</a:t>
            </a:r>
            <a:endParaRPr sz="1600" b="1">
              <a:solidFill>
                <a:srgbClr val="000000"/>
              </a:solidFill>
            </a:endParaRPr>
          </a:p>
        </p:txBody>
      </p:sp>
      <p:sp>
        <p:nvSpPr>
          <p:cNvPr id="4" name="BgContent"/>
          <p:cNvSpPr/>
          <p:nvPr/>
        </p:nvSpPr>
        <p:spPr>
          <a:xfrm>
            <a:off x="0" y="960000"/>
            <a:ext cx="12188825" cy="589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0" name="E20"/>
          <p:cNvCxnSpPr/>
          <p:nvPr/>
        </p:nvCxnSpPr>
        <p:spPr>
          <a:xfrm flipH="1">
            <a:off x="1900000" y="1700000"/>
            <a:ext cx="1300000" cy="100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1" name="E21"/>
          <p:cNvCxnSpPr/>
          <p:nvPr/>
        </p:nvCxnSpPr>
        <p:spPr>
          <a:xfrm>
            <a:off x="3200000" y="1700000"/>
            <a:ext cx="1300000" cy="100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2" name="E22"/>
          <p:cNvCxnSpPr/>
          <p:nvPr/>
        </p:nvCxnSpPr>
        <p:spPr>
          <a:xfrm flipH="1">
            <a:off x="11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3" name="E23"/>
          <p:cNvCxnSpPr/>
          <p:nvPr/>
        </p:nvCxnSpPr>
        <p:spPr>
          <a:xfrm>
            <a:off x="19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4" name="E24"/>
          <p:cNvCxnSpPr/>
          <p:nvPr/>
        </p:nvCxnSpPr>
        <p:spPr>
          <a:xfrm>
            <a:off x="2700000" y="3750000"/>
            <a:ext cx="4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5" name="E25"/>
          <p:cNvCxnSpPr/>
          <p:nvPr/>
        </p:nvCxnSpPr>
        <p:spPr>
          <a:xfrm flipH="1">
            <a:off x="37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6" name="E26"/>
          <p:cNvCxnSpPr/>
          <p:nvPr/>
        </p:nvCxnSpPr>
        <p:spPr>
          <a:xfrm>
            <a:off x="4500000" y="2700000"/>
            <a:ext cx="8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cxnSp>
        <p:nvCxnSpPr>
          <p:cNvPr id="27" name="E27"/>
          <p:cNvCxnSpPr/>
          <p:nvPr/>
        </p:nvCxnSpPr>
        <p:spPr>
          <a:xfrm flipH="1">
            <a:off x="700000" y="3750000"/>
            <a:ext cx="400000" cy="1050000"/>
          </a:xfrm>
          <a:prstGeom prst="line">
            <a:avLst/>
          </a:prstGeom>
          <a:ln w="22860">
            <a:solidFill>
              <a:srgbClr val="888888"/>
            </a:solidFill>
          </a:ln>
        </p:spPr>
      </p:cxnSp>
      <p:sp>
        <p:nvSpPr>
          <p:cNvPr id="28" name="N28"/>
          <p:cNvSpPr/>
          <p:nvPr/>
        </p:nvSpPr>
        <p:spPr>
          <a:xfrm>
            <a:off x="2830000" y="1330000"/>
            <a:ext cx="740000" cy="740000"/>
          </a:xfrm>
          <a:prstGeom prst="ellipse">
            <a:avLst/>
          </a:prstGeom>
          <a:solidFill>
            <a:srgbClr val="06D6A0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60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29" name="N29"/>
          <p:cNvSpPr/>
          <p:nvPr/>
        </p:nvSpPr>
        <p:spPr>
          <a:xfrm>
            <a:off x="1530000" y="23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30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0" name="N30"/>
          <p:cNvSpPr/>
          <p:nvPr/>
        </p:nvSpPr>
        <p:spPr>
          <a:xfrm>
            <a:off x="4130000" y="23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70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1" name="N31"/>
          <p:cNvSpPr/>
          <p:nvPr/>
        </p:nvSpPr>
        <p:spPr>
          <a:xfrm>
            <a:off x="7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20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2" name="N32"/>
          <p:cNvSpPr/>
          <p:nvPr/>
        </p:nvSpPr>
        <p:spPr>
          <a:xfrm>
            <a:off x="23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40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3" name="N33"/>
          <p:cNvSpPr/>
          <p:nvPr/>
        </p:nvSpPr>
        <p:spPr>
          <a:xfrm>
            <a:off x="33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60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4" name="N34"/>
          <p:cNvSpPr/>
          <p:nvPr/>
        </p:nvSpPr>
        <p:spPr>
          <a:xfrm>
            <a:off x="4930000" y="338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80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5" name="N35"/>
          <p:cNvSpPr/>
          <p:nvPr/>
        </p:nvSpPr>
        <p:spPr>
          <a:xfrm>
            <a:off x="330000" y="44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10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6" name="N36"/>
          <p:cNvSpPr/>
          <p:nvPr/>
        </p:nvSpPr>
        <p:spPr>
          <a:xfrm>
            <a:off x="2730000" y="4430000"/>
            <a:ext cx="740000" cy="740000"/>
          </a:xfrm>
          <a:prstGeom prst="ellipse">
            <a:avLst/>
          </a:prstGeom>
          <a:solidFill>
            <a:srgbClr val="2D6A8F"/>
          </a:solidFill>
          <a:ln w="28575">
            <a:solidFill>
              <a:srgbClr val="FFFFFF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45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7" name="N37"/>
          <p:cNvSpPr/>
          <p:nvPr/>
        </p:nvSpPr>
        <p:spPr>
          <a:xfrm>
            <a:off x="3330000" y="3380000"/>
            <a:ext cx="740000" cy="740000"/>
          </a:xfrm>
          <a:prstGeom prst="ellipse">
            <a:avLst/>
          </a:prstGeom>
          <a:solidFill>
            <a:srgbClr val="DDDDDD"/>
          </a:solidFill>
          <a:ln w="28575">
            <a:solidFill>
              <a:srgbClr val="CCCCCC"/>
            </a:solidFill>
          </a:ln>
        </p:spPr>
        <p:txBody>
          <a:bodyPr anchor="ctr"/>
          <a:lstStyle/>
          <a:p>
            <a:pPr algn="ctr"/>
            <a:r>
              <a:rPr sz="1700" b="1">
                <a:solidFill>
                  <a:srgbClr val="AAAAAA"/>
                </a:solidFill>
              </a:rPr>
              <a:t>60</a:t>
            </a:r>
            <a:endParaRPr sz="1700" b="1">
              <a:solidFill>
                <a:srgbClr val="AAAAAA"/>
              </a:solidFill>
            </a:endParaRPr>
          </a:p>
        </p:txBody>
      </p:sp>
      <p:sp>
        <p:nvSpPr>
          <p:cNvPr id="38" name="L38"/>
          <p:cNvSpPr txBox="1"/>
          <p:nvPr/>
        </p:nvSpPr>
        <p:spPr>
          <a:xfrm>
            <a:off x="3400000" y="3450000"/>
            <a:ext cx="6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74C3C"/>
                </a:solidFill>
              </a:rPr>
              <a:t>DEL</a:t>
            </a:r>
            <a:endParaRPr sz="1200" b="1">
              <a:solidFill>
                <a:srgbClr val="E74C3C"/>
              </a:solidFill>
            </a:endParaRPr>
          </a:p>
        </p:txBody>
      </p:sp>
      <p:sp>
        <p:nvSpPr>
          <p:cNvPr id="39" name="L39"/>
          <p:cNvSpPr txBox="1"/>
          <p:nvPr/>
        </p:nvSpPr>
        <p:spPr>
          <a:xfrm>
            <a:off x="4950000" y="2900000"/>
            <a:ext cx="14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6D6A0"/>
                </a:solidFill>
              </a:rPr>
              <a:t>left=NULL now</a:t>
            </a:r>
            <a:endParaRPr sz="1000" b="1">
              <a:solidFill>
                <a:srgbClr val="06D6A0"/>
              </a:solidFill>
            </a:endParaRPr>
          </a:p>
        </p:txBody>
      </p:sp>
      <p:sp>
        <p:nvSpPr>
          <p:cNvPr id="40" name="IB40"/>
          <p:cNvSpPr/>
          <p:nvPr/>
        </p:nvSpPr>
        <p:spPr>
          <a:xfrm>
            <a:off x="6700000" y="1050000"/>
            <a:ext cx="5200000" cy="1800000"/>
          </a:xfrm>
          <a:prstGeom prst="rect">
            <a:avLst/>
          </a:prstGeom>
          <a:solidFill>
            <a:srgbClr val="EAFAF1"/>
          </a:solidFill>
          <a:ln w="19050">
            <a:solidFill>
              <a:srgbClr val="06D6A0"/>
            </a:solidFill>
          </a:ln>
        </p:spPr>
        <p:txBody>
          <a:bodyPr>
            <a:spAutoFit/>
          </a:bodyPr>
          <a:lstStyle/>
          <a:p>
            <a:pPr algn="l">
              <a:spcBef>
                <a:spcPts val="300"/>
              </a:spcBef>
            </a:pPr>
            <a:r>
              <a:rPr sz="1500" b="1">
                <a:solidFill>
                  <a:srgbClr val="06D6A0"/>
                </a:solidFill>
              </a:rPr>
              <a:t>Case 3 — Step 4: Deletion Complete! ✓</a:t>
            </a:r>
            <a:endParaRPr sz="1500" b="1">
              <a:solidFill>
                <a:srgbClr val="06D6A0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555555"/>
                </a:solidFill>
              </a:rPr>
              <a:t>Root now = 60 (replaced 50)</a:t>
            </a:r>
            <a:endParaRPr sz="1300" b="0">
              <a:solidFill>
                <a:srgbClr val="555555"/>
              </a:solidFill>
            </a:endParaRP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555555"/>
                </a:solidFill>
              </a:rPr>
              <a:t>Original node 60 removed from right subtree</a:t>
            </a:r>
            <a:endParaRPr sz="1300" b="0">
              <a:solidFill>
                <a:srgbClr val="555555"/>
              </a:solidFill>
            </a:endParaRPr>
          </a:p>
          <a:p>
            <a:pPr algn="l">
              <a:spcBef>
                <a:spcPts val="300"/>
              </a:spcBef>
            </a:pPr>
            <a:r>
              <a:rPr sz="1400" b="1">
                <a:solidFill>
                  <a:srgbClr val="06D6A0"/>
                </a:solidFill>
              </a:rPr>
              <a:t>BST property maintained throughout! ✓</a:t>
            </a:r>
            <a:endParaRPr sz="1400" b="1">
              <a:solidFill>
                <a:srgbClr val="06D6A0"/>
              </a:solidFill>
            </a:endParaRPr>
          </a:p>
        </p:txBody>
      </p:sp>
      <p:sp>
        <p:nvSpPr>
          <p:cNvPr id="41" name="IB41"/>
          <p:cNvSpPr/>
          <p:nvPr/>
        </p:nvSpPr>
        <p:spPr>
          <a:xfrm>
            <a:off x="6700000" y="2950000"/>
            <a:ext cx="5200000" cy="35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txBody>
          <a:bodyPr>
            <a:spAutoFit/>
          </a:bodyPr>
          <a:lstStyle/>
          <a:p>
            <a:pPr algn="l">
              <a:spcBef>
                <a:spcPts val="300"/>
              </a:spcBef>
            </a:pPr>
            <a:r>
              <a:rPr sz="1400" b="1">
                <a:solidFill>
                  <a:srgbClr val="8E44AD"/>
                </a:solidFill>
              </a:rPr>
              <a:t>Case 3 Summary:</a:t>
            </a:r>
            <a:endParaRPr sz="1400" b="1">
              <a:solidFill>
                <a:srgbClr val="8E44AD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Two-children delete = copy + delete successor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1. Find inorder successor (leftmost in R subtree)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2. Copy its value into the deleted node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44444"/>
                </a:solidFill>
              </a:rPr>
              <a:t>3. Delete the successor (Case 1 or 2)</a:t>
            </a:r>
            <a:endParaRPr sz="1200" b="0">
              <a:solidFill>
                <a:srgbClr val="444444"/>
              </a:solidFill>
            </a:endParaRPr>
          </a:p>
          <a:p>
            <a:pPr algn="l">
              <a:spcBef>
                <a:spcPts val="300"/>
              </a:spcBef>
            </a:pP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888888"/>
                </a:solidFill>
              </a:rPr>
              <a:t>Inorder before: ...,45,50,60,70,80</a:t>
            </a:r>
            <a:endParaRPr sz="1100" b="0">
              <a:solidFill>
                <a:srgbClr val="888888"/>
              </a:solidFill>
            </a:endParaRP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6D6A0"/>
                </a:solidFill>
              </a:rPr>
              <a:t>Inorder after:  ...,45,60,70,80 ✓</a:t>
            </a:r>
            <a:endParaRPr sz="1200" b="0">
              <a:solidFill>
                <a:srgbClr val="06D6A0"/>
              </a:solidFill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Deletion Case 1: Deleting a Leaf Node (e.g. Delete 10)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66928" cy="566928"/>
          </a:xfrm>
          <a:prstGeom prst="rect">
            <a:avLst/>
          </a:prstGeom>
          <a:solidFill>
            <a:srgbClr val="00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77824" y="114300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14300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BST: ... 20 has left child = 10 (a leaf)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4320" y="1783080"/>
            <a:ext cx="566928" cy="56692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7830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77824" y="178308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78308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1: Search for node with value 10 → found at left child of 20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4320" y="2423160"/>
            <a:ext cx="566928" cy="56692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42316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77824" y="242316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42316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2: Check: Does node 10 have children? LEFT=null, RIGHT=null → LEAF!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4320" y="3063240"/>
            <a:ext cx="566928" cy="566928"/>
          </a:xfrm>
          <a:prstGeom prst="rect">
            <a:avLst/>
          </a:prstGeom>
          <a:solidFill>
            <a:srgbClr val="FF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0632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77824" y="306324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8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06324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3: Set 20's left pointer = NULL (remove the link to 10)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74320" y="3703320"/>
            <a:ext cx="566928" cy="566928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7033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77824" y="370332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70332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4: Free/delete node 10 from memory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74320" y="4343400"/>
            <a:ext cx="566928" cy="5669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43434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77824" y="434340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34340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Result: Node 10 is removed. BST property maintained (no values changed)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74320" y="4983480"/>
            <a:ext cx="566928" cy="56692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49834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7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77824" y="498348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98348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Time: O(log n) to find + O(1) to delete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74320" y="5623560"/>
            <a:ext cx="566928" cy="566928"/>
          </a:xfrm>
          <a:prstGeom prst="rect">
            <a:avLst/>
          </a:prstGeom>
          <a:solidFill>
            <a:srgbClr val="1A2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562356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8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77824" y="562356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2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562356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This is the simplest case — just cut the leaf off!</a:t>
            </a:r>
            <a:endParaRPr sz="1700" b="0" i="0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Deletion Case 2: Node with One Child (e.g. Delete 20)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66928" cy="566928"/>
          </a:xfrm>
          <a:prstGeom prst="rect">
            <a:avLst/>
          </a:prstGeom>
          <a:solidFill>
            <a:srgbClr val="00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77824" y="114300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14300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BST: 30 has left child 20. Node 20 has left child 10 only (one child)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4320" y="1783080"/>
            <a:ext cx="566928" cy="56692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7830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77824" y="178308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78308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1: Search for node 20 → found as left child of 30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4320" y="2423160"/>
            <a:ext cx="566928" cy="56692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42316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77824" y="242316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42316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2: Check children: node 20 has only LEFT child (10). ONE child case!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4320" y="3063240"/>
            <a:ext cx="566928" cy="566928"/>
          </a:xfrm>
          <a:prstGeom prst="rect">
            <a:avLst/>
          </a:prstGeom>
          <a:solidFill>
            <a:srgbClr val="FF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0632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77824" y="306324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8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06324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3: Set 30's left pointer = 10  (bypass node 20, connect grandchild to grandparent)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74320" y="3703320"/>
            <a:ext cx="566928" cy="566928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7033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77824" y="370332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70332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4: Delete node 20 from memory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74320" y="4343400"/>
            <a:ext cx="566928" cy="5669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43434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77824" y="434340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34340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Result: 30's left child is now 10. BST property: 10 &lt; 30 ✓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74320" y="4983480"/>
            <a:ext cx="566928" cy="56692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49834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7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77824" y="498348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98348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Think of it as: Remove a link in a chain — connect the two ends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74320" y="5623560"/>
            <a:ext cx="566928" cy="566928"/>
          </a:xfrm>
          <a:prstGeom prst="rect">
            <a:avLst/>
          </a:prstGeom>
          <a:solidFill>
            <a:srgbClr val="1A2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562356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8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77824" y="562356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2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562356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Time: O(log n) to find + O(1) to delete</a:t>
            </a:r>
            <a:endParaRPr sz="1700" b="0" i="0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Deletion Case 3: Node with Two Children (e.g. Delete 50)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66928" cy="566928"/>
          </a:xfrm>
          <a:prstGeom prst="rect">
            <a:avLst/>
          </a:prstGeom>
          <a:solidFill>
            <a:srgbClr val="00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77824" y="114300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14300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BST: Root=50, left=30, right=70. Node 50 has TWO children.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4320" y="1783080"/>
            <a:ext cx="566928" cy="56692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7830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77824" y="178308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78308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1: Search for node 50 → found at root. It has 2 children!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4320" y="2423160"/>
            <a:ext cx="566928" cy="56692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42316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77824" y="242316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42316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2: Find INORDER SUCCESSOR: go RIGHT to 70, then go LEFT as far as possible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4320" y="3063240"/>
            <a:ext cx="566928" cy="566928"/>
          </a:xfrm>
          <a:prstGeom prst="rect">
            <a:avLst/>
          </a:prstGeom>
          <a:solidFill>
            <a:srgbClr val="FF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0632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77824" y="306324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8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06324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3: Inorder successor of 50 = 60 (smallest in right subtree of 50)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74320" y="3703320"/>
            <a:ext cx="566928" cy="566928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7033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77824" y="370332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70332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4: COPY value 60 into node that had 50 → node now stores 60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74320" y="4343400"/>
            <a:ext cx="566928" cy="5669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43434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77824" y="434340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34340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5: Delete the ORIGINAL node 60 (which has at most 1 child) — simpler case!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74320" y="4983480"/>
            <a:ext cx="566928" cy="56692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49834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7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77824" y="498348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98348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Result: Former root now has value 60. BST property: left&lt;60&lt;right ✓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74320" y="5623560"/>
            <a:ext cx="566928" cy="566928"/>
          </a:xfrm>
          <a:prstGeom prst="rect">
            <a:avLst/>
          </a:prstGeom>
          <a:solidFill>
            <a:srgbClr val="1A2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562356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8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77824" y="562356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2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562356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Inorder successor = leftmost node in right subtree (next larger value)</a:t>
            </a:r>
            <a:endParaRPr sz="1700" b="0" i="0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BST Deletion — C Code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1612880" cy="5120640"/>
          </a:xfrm>
          <a:prstGeom prst="rect">
            <a:avLst/>
          </a:prstGeom>
          <a:solidFill>
            <a:srgbClr val="1E1E2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846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struct Node* minNode(struct Node* n) {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C586C0"/>
                </a:solidFill>
                <a:latin typeface="Courier New" panose="02070309020205020404"/>
              </a:rPr>
              <a:t>    while (n-&gt;left != NULL) n = n-&gt;left;</a:t>
            </a:r>
            <a:endParaRPr sz="1500">
              <a:solidFill>
                <a:srgbClr val="C586C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C586C0"/>
                </a:solidFill>
                <a:latin typeface="Courier New" panose="02070309020205020404"/>
              </a:rPr>
              <a:t>    return n;  /* Leftmost = minimum */</a:t>
            </a:r>
            <a:endParaRPr sz="1500">
              <a:solidFill>
                <a:srgbClr val="C586C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}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struct Node* deleteNode(struct Node* root, int val) {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C586C0"/>
                </a:solidFill>
                <a:latin typeface="Courier New" panose="02070309020205020404"/>
              </a:rPr>
              <a:t>    if (root == NULL) return NULL;</a:t>
            </a:r>
            <a:endParaRPr sz="1500">
              <a:solidFill>
                <a:srgbClr val="C586C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C586C0"/>
                </a:solidFill>
                <a:latin typeface="Courier New" panose="02070309020205020404"/>
              </a:rPr>
              <a:t>    if (val &lt; root-&gt;data)</a:t>
            </a:r>
            <a:endParaRPr sz="1500">
              <a:solidFill>
                <a:srgbClr val="C586C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    root-&gt;left  = deleteNode(root-&gt;left,  val);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else if (val &gt; root-&gt;data)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    root-&gt;right = deleteNode(root-&gt;right, val);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else {                 /* Found node to delete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C586C0"/>
                </a:solidFill>
                <a:latin typeface="Courier New" panose="02070309020205020404"/>
              </a:rPr>
              <a:t>        if (root-&gt;left == NULL) {  /* Case 1 or 2 */</a:t>
            </a:r>
            <a:endParaRPr sz="1500">
              <a:solidFill>
                <a:srgbClr val="C586C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        struct Node* tmp = root-&gt;right;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        free(root); return tmp;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    } else if (root-&gt;right == NULL) {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        struct Node* tmp = root-&gt;left;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        free(root); return tmp;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    }  /* Case 3: two children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    struct Node* succ = minNode(root-&gt;right);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    root-&gt;data  = succ-&gt;data;  /* Copy successor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    root-&gt;right = deleteNode(root-&gt;right, succ-&gt;data);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}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C586C0"/>
                </a:solidFill>
                <a:latin typeface="Courier New" panose="02070309020205020404"/>
              </a:rPr>
              <a:t>    return root;</a:t>
            </a:r>
            <a:endParaRPr sz="1500">
              <a:solidFill>
                <a:srgbClr val="C586C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}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6355080"/>
            <a:ext cx="1161288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8600"/>
                </a:solidFill>
              </a:rPr>
              <a:t>📝  free() releases memory. Inorder successor = leftmost node in right subtree.</a:t>
            </a:r>
            <a:endParaRPr sz="1300" b="0" i="1">
              <a:solidFill>
                <a:srgbClr val="FF8600"/>
              </a:solidFill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BST Operations — Time Complexity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394960" cy="502920"/>
          </a:xfrm>
          <a:prstGeom prst="rect">
            <a:avLst/>
          </a:prstGeom>
          <a:solidFill>
            <a:srgbClr val="00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07008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Average Case (Balanced BST)</a:t>
            </a:r>
            <a:endParaRPr sz="2000" b="1" i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43600" y="1188720"/>
            <a:ext cx="5943600" cy="5029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89320" y="1207008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Worst Case (Skewed BST)</a:t>
            </a:r>
            <a:endParaRPr sz="2000" b="1" i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5212080" cy="4754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Search:   O(log n)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Insert:   O(log n)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Delete:   O(log n)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Min/Max:  O(log n)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Inorder:  O(n)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log₂(1000) ≈ 10 steps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log₂(1M)   ≈ 20 steps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log₂(1B)   ≈ 30 steps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Extremely fast!</a:t>
            </a:r>
            <a:endParaRPr sz="1600">
              <a:solidFill>
                <a:srgbClr val="1A236A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35040" y="1828800"/>
            <a:ext cx="5760720" cy="4754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Search:   O(n)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Insert:   O(n)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Delete:   O(n)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Min/Max:  O(n)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Occurs when: inserting sorted data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  e.g., 1,2,3,4,5 → right-skewed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Tree becomes a linked list!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Solution: Use AVL or Red-Black Tree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They self-balance after each op</a:t>
            </a:r>
            <a:endParaRPr sz="1600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B4D8"/>
                </a:solidFill>
              </a:rPr>
              <a:t>Section 7</a:t>
            </a:r>
            <a:endParaRPr sz="2200" b="0" i="0">
              <a:solidFill>
                <a:srgbClr val="00B4D8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BST Abstract Data Type (ADT)</a:t>
            </a:r>
            <a:endParaRPr sz="4000" b="1" i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41832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E5FF"/>
                </a:solidFill>
              </a:rPr>
              <a:t>Interface, Specification &amp; Implementation</a:t>
            </a:r>
            <a:endParaRPr sz="2200" b="0" i="0">
              <a:solidFill>
                <a:srgbClr val="CCE5FF"/>
              </a:solidFill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is an ADT?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ADT = Abstract Data Type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It defines WHAT operations are available, NOT how they are implemented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Think of it as a CONTRACT or INTERFACE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The user knows WHAT to call, not the internal details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BST ADT defines the operations a BST must support:</a:t>
            </a:r>
            <a:endParaRPr sz="1800" b="1">
              <a:solidFill>
                <a:srgbClr val="1A236A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create()     — Create an empty BST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insert(val)  — Insert value, maintaining BST property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delete(val)  — Remove value, maintaining BST property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search(val)  — Return True/False if value exists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inorder()    — Return sorted list of all values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min()        — Return minimum value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max()        — Return maximum value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height()     — Return height of the tree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is_empty()   — Return True if tree has no nodes</a:t>
            </a:r>
            <a:endParaRPr sz="1600" b="0">
              <a:solidFill>
                <a:srgbClr val="005C97"/>
              </a:solidFill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BST ADT — C Structure Definition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1612880" cy="5120640"/>
          </a:xfrm>
          <a:prstGeom prst="rect">
            <a:avLst/>
          </a:prstGeom>
          <a:solidFill>
            <a:srgbClr val="1E1E2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846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500">
                <a:solidFill>
                  <a:srgbClr val="6A9955"/>
                </a:solidFill>
                <a:latin typeface="Courier New" panose="02070309020205020404"/>
              </a:rPr>
              <a:t>#include &lt;stdio.h&gt;</a:t>
            </a:r>
            <a:endParaRPr sz="1500">
              <a:solidFill>
                <a:srgbClr val="6A9955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6A9955"/>
                </a:solidFill>
                <a:latin typeface="Courier New" panose="02070309020205020404"/>
              </a:rPr>
              <a:t>#include &lt;stdlib.h&gt;</a:t>
            </a:r>
            <a:endParaRPr sz="1500">
              <a:solidFill>
                <a:srgbClr val="6A9955"/>
              </a:solidFill>
              <a:latin typeface="Courier New" panose="02070309020205020404"/>
            </a:endParaRPr>
          </a:p>
          <a:p>
            <a:endParaRPr sz="1500"/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/* Node structure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struct Node {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int data;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struct Node *left, *right;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};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endParaRPr sz="1500"/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/* BST ADT — function prototypes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struct Node* bst_create();                       /* create() 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struct Node* bst_insert(struct Node*, int);      /* insert() 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struct Node* bst_delete(struct Node*, int);      /* delete() 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struct Node* bst_search(struct Node*, int);      /* search() 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void         bst_inorder(struct Node*);          /* inorder()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int          bst_minVal(struct Node*);           /* min()    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int          bst_maxVal(struct Node*);           /* max()    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int          bst_height(struct Node*);           /* height() 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endParaRPr sz="1500"/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struct Node* bst_create() { return NULL; } /* empty tree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6355080"/>
            <a:ext cx="1161288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8600"/>
                </a:solidFill>
              </a:rPr>
              <a:t>📝  In C, the BST ADT is implemented using a struct and standalone functions.</a:t>
            </a:r>
            <a:endParaRPr sz="1300" b="0" i="1">
              <a:solidFill>
                <a:srgbClr val="FF8600"/>
              </a:solidFill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BST ADT — C Helper Functions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1612880" cy="5120640"/>
          </a:xfrm>
          <a:prstGeom prst="rect">
            <a:avLst/>
          </a:prstGeom>
          <a:solidFill>
            <a:srgbClr val="1E1E2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846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void bst_inorder(struct Node* n) {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C586C0"/>
                </a:solidFill>
                <a:latin typeface="Courier New" panose="02070309020205020404"/>
              </a:rPr>
              <a:t>    if (!n) return;</a:t>
            </a:r>
            <a:endParaRPr sz="1500">
              <a:solidFill>
                <a:srgbClr val="C586C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bst_inorder(n-&gt;left);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printf("%d ", n-&gt;data);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bst_inorder(n-&gt;right);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}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int bst_minVal(struct Node* n) {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C586C0"/>
                </a:solidFill>
                <a:latin typeface="Courier New" panose="02070309020205020404"/>
              </a:rPr>
              <a:t>    while (n-&gt;left) n = n-&gt;left;</a:t>
            </a:r>
            <a:endParaRPr sz="1500">
              <a:solidFill>
                <a:srgbClr val="C586C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C586C0"/>
                </a:solidFill>
                <a:latin typeface="Courier New" panose="02070309020205020404"/>
              </a:rPr>
              <a:t>    return n-&gt;data;</a:t>
            </a:r>
            <a:endParaRPr sz="1500">
              <a:solidFill>
                <a:srgbClr val="C586C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}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int bst_height(struct Node* n) {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C586C0"/>
                </a:solidFill>
                <a:latin typeface="Courier New" panose="02070309020205020404"/>
              </a:rPr>
              <a:t>    if (!n) return -1;</a:t>
            </a:r>
            <a:endParaRPr sz="1500">
              <a:solidFill>
                <a:srgbClr val="C586C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int lh = bst_height(n-&gt;left);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int rh = bst_height(n-&gt;right);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C586C0"/>
                </a:solidFill>
                <a:latin typeface="Courier New" panose="02070309020205020404"/>
              </a:rPr>
              <a:t>    return 1 + (lh &gt; rh ? lh : rh);</a:t>
            </a:r>
            <a:endParaRPr sz="1500">
              <a:solidFill>
                <a:srgbClr val="C586C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}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/* Usage: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/* struct Node* root = bst_create();      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/* root = bst_insert(root, 50);           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/* root = bst_insert(root, 30);           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/* bst_inorder(root); /* prints: 30 50 */ 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6355080"/>
            <a:ext cx="1161288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8600"/>
                </a:solidFill>
              </a:rPr>
              <a:t>📝  ADT separates interface (prototypes) from implementation (function bodies).</a:t>
            </a:r>
            <a:endParaRPr sz="1300" b="0" i="1">
              <a:solidFill>
                <a:srgbClr val="FF8600"/>
              </a:solidFill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BST ADT — Complete Operation Summary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Operation     | Input       | Output       | Time Complexity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─────────────────────────────────────────────────────────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create()      | —           | empty BST    | O(1)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insert(val)   | value       | modified BST | O(log n) avg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delete(val)   | value       | modified BST | O(log n) avg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search(val)   | value       | True/False   | O(log n) avg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inorder()     | —           | sorted list  | O(n)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preorder()    | —           | node list    | O(n)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postorder()   | —           | node list    | O(n)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min_val()     | —           | minimum val  | O(log n)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max_val()     | —           | maximum val  | O(log n)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height()      | —           | integer      | O(n)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is_empty()    | —           | True/False   | O(1)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size()        | —           | node count   | O(n)</a:t>
            </a:r>
            <a:endParaRPr sz="1800" b="1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BST — Real-World Applications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1. Dictionary / Symbol Table — fast key lookup (O log n)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2. Database Indexing — B-Trees (generalized BST) used in SQL databases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3. Autocomplete / Spell-Checker — Trie (prefix tree) is a special BST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4. Priority Queue — Binary Heap (complete BST) for scheduling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5. Set and Map in C++ STL — implemented using Red-Black Tree (balanced BST)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6. TreeMap / TreeSet in Java — Red-Black Tree internally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7. Router IP lookup tables — Patricia Trie (binary tree variant)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8. File system indexing — OS uses B+ Trees for file lookup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9. Expression evaluation — Expression Trees (variant of Binary Tree)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10. Sorting — Tree Sort: insert all elements into BST, then inorder = sorted</a:t>
            </a:r>
            <a:endParaRPr sz="1800" b="1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B4D8"/>
                </a:solidFill>
              </a:rPr>
              <a:t>Section 8</a:t>
            </a:r>
            <a:endParaRPr sz="2200" b="0" i="0">
              <a:solidFill>
                <a:srgbClr val="00B4D8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Introduction to Graphs &amp; Types</a:t>
            </a:r>
            <a:endParaRPr sz="4000" b="1" i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41832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E5FF"/>
                </a:solidFill>
              </a:rPr>
              <a:t>Non-linear structure modeling real-world networks</a:t>
            </a:r>
            <a:endParaRPr sz="2200" b="0" i="0">
              <a:solidFill>
                <a:srgbClr val="CCE5FF"/>
              </a:solidFill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is a Graph?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A Graph G = (V, E) where:</a:t>
            </a:r>
            <a:endParaRPr sz="1800" b="1">
              <a:solidFill>
                <a:srgbClr val="1A236A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V = Set of VERTICES (also called Nodes)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E = Set of EDGES (also called Arcs or Links)</a:t>
            </a:r>
            <a:endParaRPr sz="1600" b="0">
              <a:solidFill>
                <a:srgbClr val="005C97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An EDGE connects two vertices — represents a RELATIONSHIP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Trees are a special case of graphs (connected, acyclic)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Graphs can have CYCLES — unlike trees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Graphs can be DISCONNECTED — unlike trees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Real-world examples:</a:t>
            </a:r>
            <a:endParaRPr sz="1800" b="1">
              <a:solidFill>
                <a:srgbClr val="1A236A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Social Network: Persons=Vertices, Friendships=Edges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Road Map: Cities=Vertices, Roads=Edges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Internet: Computers=Vertices, Cables=Edges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Circuit: Components=Vertices, Wires=Edges</a:t>
            </a:r>
            <a:endParaRPr sz="1600" b="0">
              <a:solidFill>
                <a:srgbClr val="005C97"/>
              </a:solidFill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Graph Terminology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Vertex (Node) — A point in the graph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Edge (Arc) — Connection between two vertices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Adjacent — Two vertices connected by an edge are adjacent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Degree of Vertex — Number of edges incident to the vertex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In-degree — Number of edges COMING IN to a vertex (directed graph)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Out-degree — Number of edges GOING OUT from a vertex (directed graph)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Path — Sequence of vertices connected by edges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Simple Path — Path with no repeated vertices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Cycle — Path that starts and ends at the same vertex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Connected Graph — There is a path between EVERY pair of vertices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Component — A maximal connected subgraph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Weighted Graph — Edges have associated WEIGHTS/COSTS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Self-loop — Edge from a vertex to itself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Parallel Edges — Multiple edges between the same pair of vertices</a:t>
            </a:r>
            <a:endParaRPr sz="1800" b="1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Directed vs Undirected Graphs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394960" cy="502920"/>
          </a:xfrm>
          <a:prstGeom prst="rect">
            <a:avLst/>
          </a:prstGeom>
          <a:solidFill>
            <a:srgbClr val="00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07008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Undirected Graph</a:t>
            </a:r>
            <a:endParaRPr sz="2000" b="1" i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43600" y="1188720"/>
            <a:ext cx="5943600" cy="5029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89320" y="1207008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Directed Graph (Digraph)</a:t>
            </a:r>
            <a:endParaRPr sz="2000" b="1" i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5212080" cy="4754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Edges have NO direction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Edge (u,v) = Edge (v,u)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Relationship is symmetric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Degree = total edges at node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Example: Facebook friends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  A–B means A is friend of B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  AND B is friend of A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Adjacency Matrix is symmetric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A = [[0,1,1],[1,0,1],[1,1,0]]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Sum of degrees = 2 × |E|</a:t>
            </a:r>
            <a:endParaRPr sz="1600">
              <a:solidFill>
                <a:srgbClr val="1A236A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35040" y="1828800"/>
            <a:ext cx="5760720" cy="4754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Edges HAVE direction (arrows)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Edge (u→v) ≠ Edge (v→u)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Relationship is asymmetric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In-degree and Out-degree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Example: Twitter followers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  A→B means A follows B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  B may NOT follow A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Adjacency Matrix NOT symmetric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Sum of in-degrees = Sum of out-degrees = |E|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Used in: web links, dependencies</a:t>
            </a:r>
            <a:endParaRPr sz="1600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Weighted vs Unweighted Graphs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394960" cy="502920"/>
          </a:xfrm>
          <a:prstGeom prst="rect">
            <a:avLst/>
          </a:prstGeom>
          <a:solidFill>
            <a:srgbClr val="00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07008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Unweighted Graph</a:t>
            </a:r>
            <a:endParaRPr sz="2000" b="1" i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43600" y="1188720"/>
            <a:ext cx="5943600" cy="5029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89320" y="1207008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Weighted Graph</a:t>
            </a:r>
            <a:endParaRPr sz="2000" b="1" i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5212080" cy="4754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All edges have EQUAL weight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Only connection matters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Edge exists: 1, No edge: 0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Used when distance/cost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is not important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Example: Social network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  (are they friends or not?)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BFS finds shortest path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  by NUMBER of edges</a:t>
            </a:r>
            <a:endParaRPr sz="1600">
              <a:solidFill>
                <a:srgbClr val="1A236A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35040" y="1828800"/>
            <a:ext cx="5760720" cy="4754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Each edge has a WEIGHT/COST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Weight can be distance, time,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  cost, bandwidth, etc.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Example: Road map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  City A to City B = 150 km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  City B to City C = 80 km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Dijkstra's algorithm finds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  shortest WEIGHTED path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Prim's / Kruskal's for MST</a:t>
            </a:r>
            <a:endParaRPr sz="1600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Types of Graphs — Summary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1. Simple Graph — No self-loops, no parallel edges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2. Multi-Graph — Parallel edges allowed between same pair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3. Pseudo-Graph — Self-loops allowed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4. Undirected Graph — Edges have no direction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5. Directed Graph (Digraph) — Edges have direction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6. Weighted Graph — Edges carry a weight/cost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7. Connected Graph — Path exists between every pair of vertices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8. Disconnected Graph — Some vertices not reachable from others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9. Complete Graph (Kₙ) — Every vertex connected to every other: n(n-1)/2 edges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10. Bipartite Graph — Vertices split into 2 sets; edges only between sets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11. Cyclic Graph — Contains at least one cycle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12. Acyclic Graph (DAG) — Directed Acyclic Graph; no cycles; used in scheduling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13. Tree — Special case: connected, acyclic, undirected graph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14. Spanning Tree — Subgraph that is a tree covering all vertices</a:t>
            </a:r>
            <a:endParaRPr sz="1800" b="1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Graph Examples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943600" cy="5394960"/>
          </a:xfrm>
          <a:prstGeom prst="rect">
            <a:avLst/>
          </a:prstGeom>
          <a:solidFill>
            <a:srgbClr val="1E1E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5669280" cy="5212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UNDIRECTED: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A ── B ── C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|    |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D ── E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endParaRPr sz="1500"/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DIRECTED: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A ──► B ──► C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▲          │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└──────────┘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endParaRPr sz="1500"/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WEIGHTED: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A ─5─ B ─3─ C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│10        │8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D ────7──── E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92240" y="1234440"/>
            <a:ext cx="5394960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Undirected example: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236A"/>
                </a:solidFill>
              </a:rPr>
              <a:t>    ◦  V = {A,B,C,D,E}</a:t>
            </a:r>
            <a:endParaRPr sz="1600" b="0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236A"/>
                </a:solidFill>
              </a:rPr>
              <a:t>    ◦  E = {AB,BC,AD,BE,DE}</a:t>
            </a:r>
            <a:endParaRPr sz="1600" b="0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Directed example: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236A"/>
                </a:solidFill>
              </a:rPr>
              <a:t>    ◦  A→B, B→C, C→A (cycle!)</a:t>
            </a:r>
            <a:endParaRPr sz="1600" b="0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Weighted example: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236A"/>
                </a:solidFill>
              </a:rPr>
              <a:t>    ◦  A→B weight 5</a:t>
            </a:r>
            <a:endParaRPr sz="1600" b="0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236A"/>
                </a:solidFill>
              </a:rPr>
              <a:t>    ◦  B→C weight 3</a:t>
            </a:r>
            <a:endParaRPr sz="1600" b="0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236A"/>
                </a:solidFill>
              </a:rPr>
              <a:t>    ◦  A→D weight 10</a:t>
            </a:r>
            <a:endParaRPr sz="1600" b="0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236A"/>
                </a:solidFill>
              </a:rPr>
              <a:t>    ◦  D→E weight 7</a:t>
            </a:r>
            <a:endParaRPr sz="1600" b="0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236A"/>
                </a:solidFill>
              </a:rPr>
              <a:t>    ◦  C→E weight 8</a:t>
            </a:r>
            <a:endParaRPr sz="1600" b="0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236A"/>
                </a:solidFill>
              </a:rPr>
              <a:t>    ◦  Shortest A to E: ?</a:t>
            </a:r>
            <a:endParaRPr sz="1600" b="0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236A"/>
                </a:solidFill>
              </a:rPr>
              <a:t>    ◦  A→B→C→E = 5+3+8 = 16</a:t>
            </a:r>
            <a:endParaRPr sz="1600" b="0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236A"/>
                </a:solidFill>
              </a:rPr>
              <a:t>    ◦  A→D→E   = 10+7 = 17</a:t>
            </a:r>
            <a:endParaRPr sz="1600" b="0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B4D8"/>
                </a:solidFill>
              </a:rPr>
              <a:t>Section 9</a:t>
            </a:r>
            <a:endParaRPr sz="2200" b="0" i="0">
              <a:solidFill>
                <a:srgbClr val="00B4D8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Representation of Graphs</a:t>
            </a:r>
            <a:endParaRPr sz="4000" b="1" i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41832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E5FF"/>
                </a:solidFill>
              </a:rPr>
              <a:t>Adjacency Matrix &amp; Adjacency List</a:t>
            </a:r>
            <a:endParaRPr sz="2200" b="0" i="0">
              <a:solidFill>
                <a:srgbClr val="CCE5FF"/>
              </a:solidFill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Graph Representation Methods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Two main ways to represent a graph in memory: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1. Adjacency Matrix — 2D array of size V×V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   matrix[i][j] = 1 if edge (i,j) exists, else 0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   For weighted graphs: matrix[i][j] = weight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2. Adjacency List — Array of lists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   Each vertex has a list of its neighboring vertices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3. Edge List — List of all (u, v, weight) tuples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   Simple but slow for lookups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4. Incidence Matrix — V×E matrix, rows=vertices, columns=edges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Choosing the right representation depends on:</a:t>
            </a:r>
            <a:endParaRPr sz="1800" b="1">
              <a:solidFill>
                <a:srgbClr val="1A236A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Density of the graph (sparse vs dense)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Operations needed (edge lookup vs neighbor listing)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Memory constraints</a:t>
            </a:r>
            <a:endParaRPr sz="1600" b="0">
              <a:solidFill>
                <a:srgbClr val="005C97"/>
              </a:solidFill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Adjacency Matrix — Example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943600" cy="5394960"/>
          </a:xfrm>
          <a:prstGeom prst="rect">
            <a:avLst/>
          </a:prstGeom>
          <a:solidFill>
            <a:srgbClr val="1E1E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5669280" cy="5212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Graph (Undirected):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A──B, A──C, B──C, B──D, C──D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endParaRPr sz="1500"/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Matrix (A=0, B=1, C=2, D=3):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endParaRPr sz="1500"/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   A  B  C  D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A [0, 1, 1, 0]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B [1, 0, 1, 1]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C [1, 1, 0, 1]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D [0, 1, 1, 0]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endParaRPr sz="1500"/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Symmetric! (undirected)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Diagonal = 0 (no self-loops)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92240" y="1234440"/>
            <a:ext cx="5394960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matrix[i][j] = 1 → edge exists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matrix[i][j] = 0 → no edge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Advantages: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236A"/>
                </a:solidFill>
              </a:rPr>
              <a:t>    ◦  O(1) edge lookup</a:t>
            </a:r>
            <a:endParaRPr sz="1600" b="0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236A"/>
                </a:solidFill>
              </a:rPr>
              <a:t>    ◦  Simple to implement</a:t>
            </a:r>
            <a:endParaRPr sz="1600" b="0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236A"/>
                </a:solidFill>
              </a:rPr>
              <a:t>    ◦  Good for DENSE graphs</a:t>
            </a:r>
            <a:endParaRPr sz="1600" b="0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Disadvantages: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236A"/>
                </a:solidFill>
              </a:rPr>
              <a:t>    ◦  O(V²) space — wasteful for sparse graphs</a:t>
            </a:r>
            <a:endParaRPr sz="1600" b="0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236A"/>
                </a:solidFill>
              </a:rPr>
              <a:t>    ◦  O(V) to find all neighbors of a vertex</a:t>
            </a:r>
            <a:endParaRPr sz="1600" b="0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236A"/>
                </a:solidFill>
              </a:rPr>
              <a:t>    ◦  Adding/removing vertex is expensive</a:t>
            </a:r>
            <a:endParaRPr sz="1600" b="0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Space: O(V²)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Edge check: O(1)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All neighbors: O(V)</a:t>
            </a:r>
            <a:endParaRPr sz="1600" b="1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Adjacency List — Example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943600" cy="5394960"/>
          </a:xfrm>
          <a:prstGeom prst="rect">
            <a:avLst/>
          </a:prstGeom>
          <a:solidFill>
            <a:srgbClr val="1E1E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5669280" cy="5212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Graph (Undirected):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A──B, A──C, B──C, B──D, C──D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endParaRPr sz="1500"/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Adjacency List: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A: [B, C]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B: [A, C, D]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C: [A, B, D]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D: [B, C]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endParaRPr sz="1500"/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Weighted version: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A: [(B,5), (C,3)]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B: [(A,5), (C,2), (D,8)]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C: [(A,3), (B,2), (D,4)]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06D6A0"/>
                </a:solidFill>
                <a:latin typeface="Courier New" panose="02070309020205020404"/>
              </a:rPr>
              <a:t>  D: [(B,8), (C,4)]</a:t>
            </a:r>
            <a:endParaRPr sz="1500">
              <a:solidFill>
                <a:srgbClr val="06D6A0"/>
              </a:solidFill>
              <a:latin typeface="Courier New" panose="020703090202050204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92240" y="1234440"/>
            <a:ext cx="5394960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Each vertex stores a list of neighbors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Advantages: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236A"/>
                </a:solidFill>
              </a:rPr>
              <a:t>    ◦  O(V + E) space — efficient for sparse</a:t>
            </a:r>
            <a:endParaRPr sz="1600" b="0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236A"/>
                </a:solidFill>
              </a:rPr>
              <a:t>    ◦  O(degree(v)) to find all neighbors</a:t>
            </a:r>
            <a:endParaRPr sz="1600" b="0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236A"/>
                </a:solidFill>
              </a:rPr>
              <a:t>    ◦  Easy to add/remove vertices</a:t>
            </a:r>
            <a:endParaRPr sz="1600" b="0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236A"/>
                </a:solidFill>
              </a:rPr>
              <a:t>    ◦  Most graph algorithms use this</a:t>
            </a:r>
            <a:endParaRPr sz="1600" b="0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Disadvantages: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236A"/>
                </a:solidFill>
              </a:rPr>
              <a:t>    ◦  O(degree(v)) edge check — not O(1)</a:t>
            </a:r>
            <a:endParaRPr sz="1600" b="0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236A"/>
                </a:solidFill>
              </a:rPr>
              <a:t>    ◦  More complex than matrix</a:t>
            </a:r>
            <a:endParaRPr sz="1600" b="0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Space: O(V + E)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Edge check: O(degree(v))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All neighbors: O(degree(v))</a:t>
            </a:r>
            <a:endParaRPr sz="1600" b="1">
              <a:solidFill>
                <a:srgbClr val="1A236A"/>
              </a:solidFill>
            </a:endParaRP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236A"/>
                </a:solidFill>
              </a:rPr>
              <a:t>▸  Preferred for SPARSE graphs</a:t>
            </a:r>
            <a:endParaRPr sz="1600" b="1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Adjacency Matrix vs Adjacency List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394960" cy="502920"/>
          </a:xfrm>
          <a:prstGeom prst="rect">
            <a:avLst/>
          </a:prstGeom>
          <a:solidFill>
            <a:srgbClr val="00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07008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Adjacency Matrix</a:t>
            </a:r>
            <a:endParaRPr sz="2000" b="1" i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43600" y="1188720"/>
            <a:ext cx="5943600" cy="5029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89320" y="1207008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Adjacency List</a:t>
            </a:r>
            <a:endParaRPr sz="2000" b="1" i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5212080" cy="4754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Space: O(V²)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Add Edge: O(1)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Remove Edge: O(1)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Edge Check: O(1)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Find all neighbors: O(V)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Add Vertex: O(V²) [resize]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Best for: Dense graphs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Dense: E close to V²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Simple to code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Used when V is small</a:t>
            </a:r>
            <a:endParaRPr sz="1600">
              <a:solidFill>
                <a:srgbClr val="1A236A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35040" y="1828800"/>
            <a:ext cx="5760720" cy="4754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Space: O(V + E)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Add Edge: O(1)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Remove Edge: O(degree)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Edge Check: O(degree)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Find all neighbors: O(degree)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Add Vertex: O(1)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Best for: Sparse graphs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Sparse: E much less than V²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More efficient for real graphs</a:t>
            </a:r>
            <a:endParaRPr sz="1600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236A"/>
                </a:solidFill>
              </a:rPr>
              <a:t>▸  Used in DFS, BFS, Dijkstra's</a:t>
            </a:r>
            <a:endParaRPr sz="1600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Graph Representation — C Code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1612880" cy="5120640"/>
          </a:xfrm>
          <a:prstGeom prst="rect">
            <a:avLst/>
          </a:prstGeom>
          <a:solidFill>
            <a:srgbClr val="1E1E2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846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1500">
                <a:solidFill>
                  <a:srgbClr val="6A9955"/>
                </a:solidFill>
                <a:latin typeface="Courier New" panose="02070309020205020404"/>
              </a:rPr>
              <a:t>#define V 5   /* Number of vertices */</a:t>
            </a:r>
            <a:endParaRPr sz="1500">
              <a:solidFill>
                <a:srgbClr val="6A9955"/>
              </a:solidFill>
              <a:latin typeface="Courier New" panose="02070309020205020404"/>
            </a:endParaRPr>
          </a:p>
          <a:p>
            <a:endParaRPr sz="1500"/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/* Adjacency Matrix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int adjMatrix[V][V];  /* adjMatrix[i][j]=1 if edge i-j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endParaRPr sz="1500"/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void addEdge_matrix(int u, int v) {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adjMatrix[u][v] = 1;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adjMatrix[v][u] = 1;  /* undirected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}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endParaRPr sz="1500"/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/* Adjacency List Node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struct AdjNode { int dest; struct AdjNode* next; };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struct AdjNode* adjList[V];  /* Array of lists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endParaRPr sz="1500"/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void addEdge_list(int u, int v) {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struct AdjNode* node = malloc(sizeof(struct AdjNode));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node-&gt;dest = v; node-&gt;next = adjList[u];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adjList[u] = node;  /* prepend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    /* For undirected: repeat with u and v swapped */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  <a:p>
            <a:r>
              <a:rPr sz="1500">
                <a:solidFill>
                  <a:srgbClr val="FFFFFF"/>
                </a:solidFill>
                <a:latin typeface="Courier New" panose="02070309020205020404"/>
              </a:rPr>
              <a:t>}</a:t>
            </a:r>
            <a:endParaRPr sz="1500">
              <a:solidFill>
                <a:srgbClr val="FFFFFF"/>
              </a:solidFill>
              <a:latin typeface="Courier New" panose="020703090202050204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6355080"/>
            <a:ext cx="1161288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8600"/>
                </a:solidFill>
              </a:rPr>
              <a:t>📝  Adjacency Matrix: O(V²) space. Adjacency List: O(V+E) space.</a:t>
            </a:r>
            <a:endParaRPr sz="1300" b="0" i="1">
              <a:solidFill>
                <a:srgbClr val="FF8600"/>
              </a:solidFill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B4D8"/>
                </a:solidFill>
              </a:rPr>
              <a:t>Section 10</a:t>
            </a:r>
            <a:endParaRPr sz="2200" b="0" i="0">
              <a:solidFill>
                <a:srgbClr val="00B4D8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Graph Traversal: DFS &amp; BFS</a:t>
            </a:r>
            <a:endParaRPr sz="4000" b="1" i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41832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E5FF"/>
                </a:solidFill>
              </a:rPr>
              <a:t>Depth First Search &amp; Breadth First Search</a:t>
            </a:r>
            <a:endParaRPr sz="2200" b="0" i="0">
              <a:solidFill>
                <a:srgbClr val="CCE5FF"/>
              </a:solidFill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Graph Traversal — Overview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Graph Traversal = Visiting all reachable vertices from a starting vertex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Unlike trees, graphs can have CYCLES — must track VISITED nodes!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Two fundamental traversal strategies: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1. DFS — Depth First Search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   → Go as DEEP as possible before backtracking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   → Uses a STACK (or recursion)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   → Explores one path completely before trying another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2. BFS — Breadth First Search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   → Explore all NEIGHBORS before going deeper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   → Uses a QUEUE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   → Explores level by level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Both visit every vertex and edge once: O(V + E)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Key difference: ORDER in which vertices are visited</a:t>
            </a:r>
            <a:endParaRPr sz="1800" b="1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Depth First Search (DFS) — Algorithm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Core idea: Explore as FAR as possible along each branch before backtracking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Think of it as: Maze solving — try one path until stuck, then backtrack</a:t>
            </a:r>
            <a:endParaRPr sz="1800" b="1">
              <a:solidFill>
                <a:srgbClr val="1A236A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Algorithm (Recursive):</a:t>
            </a:r>
            <a:endParaRPr sz="1800" b="1">
              <a:solidFill>
                <a:srgbClr val="1A236A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1. Mark current vertex as VISITED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2. Process (print) the current vertex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3. For each UNVISITED neighbor of current vertex: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→ Recursively call DFS on that neighbor</a:t>
            </a:r>
            <a:endParaRPr sz="1600" b="0">
              <a:solidFill>
                <a:srgbClr val="005C97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Algorithm (Iterative using Stack):</a:t>
            </a:r>
            <a:endParaRPr sz="1800" b="1">
              <a:solidFill>
                <a:srgbClr val="1A236A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1. Push start vertex onto STACK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2. While stack is not empty: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→ Pop a vertex, if not visited: mark visited + process</a:t>
            </a:r>
            <a:endParaRPr sz="1600" b="0">
              <a:solidFill>
                <a:srgbClr val="005C97"/>
              </a:solidFill>
            </a:endParaRPr>
          </a:p>
          <a:p>
            <a:pPr lvl="1">
              <a:spcBef>
                <a:spcPts val="400"/>
              </a:spcBef>
            </a:pPr>
            <a:r>
              <a:rPr sz="1600" b="0">
                <a:solidFill>
                  <a:srgbClr val="005C97"/>
                </a:solidFill>
              </a:rPr>
              <a:t>    ◦  → Push all unvisited neighbors onto stack</a:t>
            </a:r>
            <a:endParaRPr sz="1600" b="0">
              <a:solidFill>
                <a:srgbClr val="005C97"/>
              </a:solidFill>
            </a:endParaRP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1A236A"/>
                </a:solidFill>
              </a:rPr>
              <a:t>▸  Time: O(V + E)  |  Space: O(V) for visited set + O(V) for recursion stack</a:t>
            </a:r>
            <a:endParaRPr sz="1800" b="1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DFS Trace — Step by Step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66928" cy="566928"/>
          </a:xfrm>
          <a:prstGeom prst="rect">
            <a:avLst/>
          </a:prstGeom>
          <a:solidFill>
            <a:srgbClr val="00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77824" y="114300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14300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Graph: A–B, A–C, B–D, B–E, C–F.  Start: A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4320" y="1783080"/>
            <a:ext cx="566928" cy="56692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7830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77824" y="178308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78308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1: Visit A.  Visited={A}.  Neighbors of A: B, C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4320" y="2423160"/>
            <a:ext cx="566928" cy="56692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42316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77824" y="242316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42316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2: Visit B (first unvisited neighbor of A).  Visited={A,B}.  Neighbors: A,D,E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4320" y="3063240"/>
            <a:ext cx="566928" cy="566928"/>
          </a:xfrm>
          <a:prstGeom prst="rect">
            <a:avLst/>
          </a:prstGeom>
          <a:solidFill>
            <a:srgbClr val="FF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0632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77824" y="306324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8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06324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3: Visit D (first unvisited neighbor of B).  Visited={A,B,D}.  D has no unvisited neighbors → BACKTRACK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74320" y="3703320"/>
            <a:ext cx="566928" cy="566928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7033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77824" y="370332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70332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4: Back at B.  Next unvisited neighbor: E.  Visit E.  Visited={A,B,D,E}.  E: no unvisited neighbors → BACKTRACK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74320" y="4343400"/>
            <a:ext cx="566928" cy="5669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43434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77824" y="434340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34340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5: Back at B.  No more unvisited neighbors → BACKTRACK to A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74320" y="4983480"/>
            <a:ext cx="566928" cy="56692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49834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7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77824" y="498348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98348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6: Back at A.  Next unvisited neighbor: C.  Visit C.  Visited={A,B,D,E,C}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74320" y="5623560"/>
            <a:ext cx="566928" cy="566928"/>
          </a:xfrm>
          <a:prstGeom prst="rect">
            <a:avLst/>
          </a:prstGeom>
          <a:solidFill>
            <a:srgbClr val="1A2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562356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8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77824" y="562356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2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562356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Step 7: Visit F (neighbor of C).  Visited={A,B,D,E,C,F}. Done!</a:t>
            </a:r>
            <a:endParaRPr sz="1700" b="0" i="0">
              <a:solidFill>
                <a:srgbClr val="1A236A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74320" y="6263640"/>
            <a:ext cx="566928" cy="566928"/>
          </a:xfrm>
          <a:prstGeom prst="rect">
            <a:avLst/>
          </a:prstGeom>
          <a:solidFill>
            <a:srgbClr val="00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2636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9</a:t>
            </a:r>
            <a:endParaRPr sz="2200" b="1" i="0">
              <a:solidFill>
                <a:srgbClr val="FFFFFF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877824" y="6263640"/>
            <a:ext cx="10972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6263640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36A"/>
                </a:solidFill>
              </a:rPr>
              <a:t>DFS Order: A → B → D → E → C → F</a:t>
            </a:r>
            <a:endParaRPr sz="1700" b="0" i="0">
              <a:solidFill>
                <a:srgbClr val="1A236A"/>
              </a:solidFill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320040"/>
            <a:ext cx="11567160" cy="621792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DFS - Trace Example - Step 1/7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Start at A. Visit A.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641080" y="640080"/>
            <a:ext cx="297180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0" y="822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869680" y="12344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A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869680" y="1920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A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869680" y="2240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Stack: [  ]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69680" y="28803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A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69680" y="4526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887968" y="4800600"/>
            <a:ext cx="146304" cy="146304"/>
          </a:xfrm>
          <a:prstGeom prst="ellipse">
            <a:avLst/>
          </a:prstGeom>
          <a:solidFill>
            <a:srgbClr val="ECEFF1"/>
          </a:solidFill>
          <a:ln>
            <a:solidFill>
              <a:srgbClr val="ECEF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0848" y="4773168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887968" y="5056632"/>
            <a:ext cx="146304" cy="146304"/>
          </a:xfrm>
          <a:prstGeom prst="ellipse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0848" y="502920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In stack/queue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887968" y="5312664"/>
            <a:ext cx="146304" cy="146304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0848" y="528523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 node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8887968" y="5568696"/>
            <a:ext cx="146304" cy="146304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5541264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02920" y="1783080"/>
            <a:ext cx="7955279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>
            <a:off x="1920240" y="2377440"/>
            <a:ext cx="822960" cy="914400"/>
          </a:xfrm>
          <a:prstGeom prst="line">
            <a:avLst/>
          </a:prstGeom>
          <a:ln w="2540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743200" y="2377440"/>
            <a:ext cx="822960" cy="914400"/>
          </a:xfrm>
          <a:prstGeom prst="line">
            <a:avLst/>
          </a:prstGeom>
          <a:ln w="2540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371600" y="3291840"/>
            <a:ext cx="548640" cy="1097280"/>
          </a:xfrm>
          <a:prstGeom prst="line">
            <a:avLst/>
          </a:prstGeom>
          <a:ln w="2540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920240" y="3291840"/>
            <a:ext cx="548640" cy="1097280"/>
          </a:xfrm>
          <a:prstGeom prst="line">
            <a:avLst/>
          </a:prstGeom>
          <a:ln w="2540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566160" y="3291840"/>
            <a:ext cx="548640" cy="1097280"/>
          </a:xfrm>
          <a:prstGeom prst="line">
            <a:avLst/>
          </a:prstGeom>
          <a:ln w="2540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2569464" y="2203704"/>
            <a:ext cx="347472" cy="347472"/>
          </a:xfrm>
          <a:prstGeom prst="ellipse">
            <a:avLst/>
          </a:prstGeom>
          <a:solidFill>
            <a:srgbClr val="FFB74D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51760" y="229514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A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8" name="Oval 27"/>
          <p:cNvSpPr/>
          <p:nvPr/>
        </p:nvSpPr>
        <p:spPr>
          <a:xfrm>
            <a:off x="1746504" y="3118104"/>
            <a:ext cx="347472" cy="347472"/>
          </a:xfrm>
          <a:prstGeom prst="ellipse">
            <a:avLst/>
          </a:prstGeom>
          <a:solidFill>
            <a:srgbClr val="ECEFF1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0" y="320954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B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3392424" y="3118104"/>
            <a:ext cx="347472" cy="347472"/>
          </a:xfrm>
          <a:prstGeom prst="ellipse">
            <a:avLst/>
          </a:prstGeom>
          <a:solidFill>
            <a:srgbClr val="ECEFF1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320954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C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1197864" y="4215383"/>
            <a:ext cx="347472" cy="347472"/>
          </a:xfrm>
          <a:prstGeom prst="ellipse">
            <a:avLst/>
          </a:prstGeom>
          <a:solidFill>
            <a:srgbClr val="ECEFF1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430682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D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4" name="Oval 33"/>
          <p:cNvSpPr/>
          <p:nvPr/>
        </p:nvSpPr>
        <p:spPr>
          <a:xfrm>
            <a:off x="2295144" y="4215383"/>
            <a:ext cx="347472" cy="347472"/>
          </a:xfrm>
          <a:prstGeom prst="ellipse">
            <a:avLst/>
          </a:prstGeom>
          <a:solidFill>
            <a:srgbClr val="ECEFF1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77440" y="430682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E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6" name="Oval 35"/>
          <p:cNvSpPr/>
          <p:nvPr/>
        </p:nvSpPr>
        <p:spPr>
          <a:xfrm>
            <a:off x="3941063" y="4215383"/>
            <a:ext cx="347472" cy="347472"/>
          </a:xfrm>
          <a:prstGeom prst="ellipse">
            <a:avLst/>
          </a:prstGeom>
          <a:solidFill>
            <a:srgbClr val="ECEFF1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23360" y="430682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320040"/>
            <a:ext cx="11567160" cy="621792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DFS - Trace Example - Step 2/7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Move to B, the first neighbor of A.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641080" y="640080"/>
            <a:ext cx="297180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0" y="822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869680" y="12344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A, B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869680" y="1920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B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869680" y="2240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Stack: [  ]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69680" y="28803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A -&gt; B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69680" y="4526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887968" y="4800600"/>
            <a:ext cx="146304" cy="146304"/>
          </a:xfrm>
          <a:prstGeom prst="ellipse">
            <a:avLst/>
          </a:prstGeom>
          <a:solidFill>
            <a:srgbClr val="ECEFF1"/>
          </a:solidFill>
          <a:ln>
            <a:solidFill>
              <a:srgbClr val="ECEF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0848" y="4773168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887968" y="5056632"/>
            <a:ext cx="146304" cy="146304"/>
          </a:xfrm>
          <a:prstGeom prst="ellipse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0848" y="502920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In stack/queue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887968" y="5312664"/>
            <a:ext cx="146304" cy="146304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0848" y="528523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 node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8887968" y="5568696"/>
            <a:ext cx="146304" cy="146304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5541264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02920" y="1783080"/>
            <a:ext cx="7955279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>
            <a:off x="1920240" y="2377440"/>
            <a:ext cx="822960" cy="914400"/>
          </a:xfrm>
          <a:prstGeom prst="line">
            <a:avLst/>
          </a:prstGeom>
          <a:ln w="2540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743200" y="2377440"/>
            <a:ext cx="822960" cy="914400"/>
          </a:xfrm>
          <a:prstGeom prst="line">
            <a:avLst/>
          </a:prstGeom>
          <a:ln w="2540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371600" y="3291840"/>
            <a:ext cx="548640" cy="1097280"/>
          </a:xfrm>
          <a:prstGeom prst="line">
            <a:avLst/>
          </a:prstGeom>
          <a:ln w="2540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920240" y="3291840"/>
            <a:ext cx="548640" cy="1097280"/>
          </a:xfrm>
          <a:prstGeom prst="line">
            <a:avLst/>
          </a:prstGeom>
          <a:ln w="2540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566160" y="3291840"/>
            <a:ext cx="548640" cy="1097280"/>
          </a:xfrm>
          <a:prstGeom prst="line">
            <a:avLst/>
          </a:prstGeom>
          <a:ln w="2540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2569464" y="2203704"/>
            <a:ext cx="347472" cy="347472"/>
          </a:xfrm>
          <a:prstGeom prst="ellipse">
            <a:avLst/>
          </a:prstGeom>
          <a:solidFill>
            <a:srgbClr val="66BB6A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51760" y="229514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A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8" name="Oval 27"/>
          <p:cNvSpPr/>
          <p:nvPr/>
        </p:nvSpPr>
        <p:spPr>
          <a:xfrm>
            <a:off x="1746504" y="3118104"/>
            <a:ext cx="347472" cy="347472"/>
          </a:xfrm>
          <a:prstGeom prst="ellipse">
            <a:avLst/>
          </a:prstGeom>
          <a:solidFill>
            <a:srgbClr val="FFB74D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0" y="320954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B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3392424" y="3118104"/>
            <a:ext cx="347472" cy="347472"/>
          </a:xfrm>
          <a:prstGeom prst="ellipse">
            <a:avLst/>
          </a:prstGeom>
          <a:solidFill>
            <a:srgbClr val="ECEFF1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320954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C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1197864" y="4215383"/>
            <a:ext cx="347472" cy="347472"/>
          </a:xfrm>
          <a:prstGeom prst="ellipse">
            <a:avLst/>
          </a:prstGeom>
          <a:solidFill>
            <a:srgbClr val="ECEFF1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430682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D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4" name="Oval 33"/>
          <p:cNvSpPr/>
          <p:nvPr/>
        </p:nvSpPr>
        <p:spPr>
          <a:xfrm>
            <a:off x="2295144" y="4215383"/>
            <a:ext cx="347472" cy="347472"/>
          </a:xfrm>
          <a:prstGeom prst="ellipse">
            <a:avLst/>
          </a:prstGeom>
          <a:solidFill>
            <a:srgbClr val="ECEFF1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77440" y="430682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E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6" name="Oval 35"/>
          <p:cNvSpPr/>
          <p:nvPr/>
        </p:nvSpPr>
        <p:spPr>
          <a:xfrm>
            <a:off x="3941063" y="4215383"/>
            <a:ext cx="347472" cy="347472"/>
          </a:xfrm>
          <a:prstGeom prst="ellipse">
            <a:avLst/>
          </a:prstGeom>
          <a:solidFill>
            <a:srgbClr val="ECEFF1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23360" y="430682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320040"/>
            <a:ext cx="11567160" cy="621792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DFS - Trace Example - Step 3/7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From B, move to D.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641080" y="640080"/>
            <a:ext cx="297180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0" y="822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869680" y="12344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A, B, D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869680" y="1920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D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869680" y="2240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Stack: [  ]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69680" y="28803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A -&gt; B -&gt; D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69680" y="4526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887968" y="4800600"/>
            <a:ext cx="146304" cy="146304"/>
          </a:xfrm>
          <a:prstGeom prst="ellipse">
            <a:avLst/>
          </a:prstGeom>
          <a:solidFill>
            <a:srgbClr val="ECEFF1"/>
          </a:solidFill>
          <a:ln>
            <a:solidFill>
              <a:srgbClr val="ECEF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0848" y="4773168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887968" y="5056632"/>
            <a:ext cx="146304" cy="146304"/>
          </a:xfrm>
          <a:prstGeom prst="ellipse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0848" y="502920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In stack/queue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887968" y="5312664"/>
            <a:ext cx="146304" cy="146304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0848" y="528523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 node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8887968" y="5568696"/>
            <a:ext cx="146304" cy="146304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5541264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02920" y="1783080"/>
            <a:ext cx="7955279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>
            <a:off x="1920240" y="2377440"/>
            <a:ext cx="822960" cy="914400"/>
          </a:xfrm>
          <a:prstGeom prst="line">
            <a:avLst/>
          </a:prstGeom>
          <a:ln w="2540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743200" y="2377440"/>
            <a:ext cx="822960" cy="914400"/>
          </a:xfrm>
          <a:prstGeom prst="line">
            <a:avLst/>
          </a:prstGeom>
          <a:ln w="2540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371600" y="3291840"/>
            <a:ext cx="548640" cy="1097280"/>
          </a:xfrm>
          <a:prstGeom prst="line">
            <a:avLst/>
          </a:prstGeom>
          <a:ln w="2540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920240" y="3291840"/>
            <a:ext cx="548640" cy="1097280"/>
          </a:xfrm>
          <a:prstGeom prst="line">
            <a:avLst/>
          </a:prstGeom>
          <a:ln w="2540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566160" y="3291840"/>
            <a:ext cx="548640" cy="1097280"/>
          </a:xfrm>
          <a:prstGeom prst="line">
            <a:avLst/>
          </a:prstGeom>
          <a:ln w="2540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2569464" y="2203704"/>
            <a:ext cx="347472" cy="347472"/>
          </a:xfrm>
          <a:prstGeom prst="ellipse">
            <a:avLst/>
          </a:prstGeom>
          <a:solidFill>
            <a:srgbClr val="66BB6A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51760" y="229514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A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8" name="Oval 27"/>
          <p:cNvSpPr/>
          <p:nvPr/>
        </p:nvSpPr>
        <p:spPr>
          <a:xfrm>
            <a:off x="1746504" y="3118104"/>
            <a:ext cx="347472" cy="347472"/>
          </a:xfrm>
          <a:prstGeom prst="ellipse">
            <a:avLst/>
          </a:prstGeom>
          <a:solidFill>
            <a:srgbClr val="66BB6A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0" y="320954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B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3392424" y="3118104"/>
            <a:ext cx="347472" cy="347472"/>
          </a:xfrm>
          <a:prstGeom prst="ellipse">
            <a:avLst/>
          </a:prstGeom>
          <a:solidFill>
            <a:srgbClr val="ECEFF1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320954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C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1197864" y="4215383"/>
            <a:ext cx="347472" cy="347472"/>
          </a:xfrm>
          <a:prstGeom prst="ellipse">
            <a:avLst/>
          </a:prstGeom>
          <a:solidFill>
            <a:srgbClr val="FFB74D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430682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D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4" name="Oval 33"/>
          <p:cNvSpPr/>
          <p:nvPr/>
        </p:nvSpPr>
        <p:spPr>
          <a:xfrm>
            <a:off x="2295144" y="4215383"/>
            <a:ext cx="347472" cy="347472"/>
          </a:xfrm>
          <a:prstGeom prst="ellipse">
            <a:avLst/>
          </a:prstGeom>
          <a:solidFill>
            <a:srgbClr val="ECEFF1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77440" y="430682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E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6" name="Oval 35"/>
          <p:cNvSpPr/>
          <p:nvPr/>
        </p:nvSpPr>
        <p:spPr>
          <a:xfrm>
            <a:off x="3941063" y="4215383"/>
            <a:ext cx="347472" cy="347472"/>
          </a:xfrm>
          <a:prstGeom prst="ellipse">
            <a:avLst/>
          </a:prstGeom>
          <a:solidFill>
            <a:srgbClr val="ECEFF1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23360" y="430682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320040"/>
            <a:ext cx="11567160" cy="621792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DFS - Trace Example - Step 4/7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Backtrack and visit E.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641080" y="640080"/>
            <a:ext cx="297180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0" y="822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869680" y="12344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A, B, D, E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869680" y="1920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E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869680" y="2240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Stack: [  ]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69680" y="28803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A -&gt; B -&gt; D -&gt; E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69680" y="4526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887968" y="4800600"/>
            <a:ext cx="146304" cy="146304"/>
          </a:xfrm>
          <a:prstGeom prst="ellipse">
            <a:avLst/>
          </a:prstGeom>
          <a:solidFill>
            <a:srgbClr val="ECEFF1"/>
          </a:solidFill>
          <a:ln>
            <a:solidFill>
              <a:srgbClr val="ECEF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0848" y="4773168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887968" y="5056632"/>
            <a:ext cx="146304" cy="146304"/>
          </a:xfrm>
          <a:prstGeom prst="ellipse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0848" y="502920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In stack/queue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887968" y="5312664"/>
            <a:ext cx="146304" cy="146304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0848" y="528523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 node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8887968" y="5568696"/>
            <a:ext cx="146304" cy="146304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5541264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02920" y="1783080"/>
            <a:ext cx="7955279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>
            <a:off x="1920240" y="2377440"/>
            <a:ext cx="822960" cy="914400"/>
          </a:xfrm>
          <a:prstGeom prst="line">
            <a:avLst/>
          </a:prstGeom>
          <a:ln w="2540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743200" y="2377440"/>
            <a:ext cx="822960" cy="914400"/>
          </a:xfrm>
          <a:prstGeom prst="line">
            <a:avLst/>
          </a:prstGeom>
          <a:ln w="2540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371600" y="3291840"/>
            <a:ext cx="548640" cy="1097280"/>
          </a:xfrm>
          <a:prstGeom prst="line">
            <a:avLst/>
          </a:prstGeom>
          <a:ln w="2540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920240" y="3291840"/>
            <a:ext cx="548640" cy="1097280"/>
          </a:xfrm>
          <a:prstGeom prst="line">
            <a:avLst/>
          </a:prstGeom>
          <a:ln w="2540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566160" y="3291840"/>
            <a:ext cx="548640" cy="1097280"/>
          </a:xfrm>
          <a:prstGeom prst="line">
            <a:avLst/>
          </a:prstGeom>
          <a:ln w="2540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2569464" y="2203704"/>
            <a:ext cx="347472" cy="347472"/>
          </a:xfrm>
          <a:prstGeom prst="ellipse">
            <a:avLst/>
          </a:prstGeom>
          <a:solidFill>
            <a:srgbClr val="66BB6A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51760" y="229514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A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8" name="Oval 27"/>
          <p:cNvSpPr/>
          <p:nvPr/>
        </p:nvSpPr>
        <p:spPr>
          <a:xfrm>
            <a:off x="1746504" y="3118104"/>
            <a:ext cx="347472" cy="347472"/>
          </a:xfrm>
          <a:prstGeom prst="ellipse">
            <a:avLst/>
          </a:prstGeom>
          <a:solidFill>
            <a:srgbClr val="66BB6A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0" y="320954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B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3392424" y="3118104"/>
            <a:ext cx="347472" cy="347472"/>
          </a:xfrm>
          <a:prstGeom prst="ellipse">
            <a:avLst/>
          </a:prstGeom>
          <a:solidFill>
            <a:srgbClr val="ECEFF1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320954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C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1197864" y="4215383"/>
            <a:ext cx="347472" cy="347472"/>
          </a:xfrm>
          <a:prstGeom prst="ellipse">
            <a:avLst/>
          </a:prstGeom>
          <a:solidFill>
            <a:srgbClr val="66BB6A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430682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D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4" name="Oval 33"/>
          <p:cNvSpPr/>
          <p:nvPr/>
        </p:nvSpPr>
        <p:spPr>
          <a:xfrm>
            <a:off x="2295144" y="4215383"/>
            <a:ext cx="347472" cy="347472"/>
          </a:xfrm>
          <a:prstGeom prst="ellipse">
            <a:avLst/>
          </a:prstGeom>
          <a:solidFill>
            <a:srgbClr val="FFB74D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77440" y="430682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E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6" name="Oval 35"/>
          <p:cNvSpPr/>
          <p:nvPr/>
        </p:nvSpPr>
        <p:spPr>
          <a:xfrm>
            <a:off x="3941063" y="4215383"/>
            <a:ext cx="347472" cy="347472"/>
          </a:xfrm>
          <a:prstGeom prst="ellipse">
            <a:avLst/>
          </a:prstGeom>
          <a:solidFill>
            <a:srgbClr val="ECEFF1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23360" y="430682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320040"/>
            <a:ext cx="11567160" cy="621792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DFS - Trace Example - Step 5/7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Backtrack to A and visit C.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641080" y="640080"/>
            <a:ext cx="297180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0" y="822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869680" y="12344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A, B, D, E, C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869680" y="1920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C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869680" y="2240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Stack: [  ]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69680" y="28803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A -&gt; B -&gt; D -&gt; E -&gt; C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69680" y="4526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887968" y="4800600"/>
            <a:ext cx="146304" cy="146304"/>
          </a:xfrm>
          <a:prstGeom prst="ellipse">
            <a:avLst/>
          </a:prstGeom>
          <a:solidFill>
            <a:srgbClr val="ECEFF1"/>
          </a:solidFill>
          <a:ln>
            <a:solidFill>
              <a:srgbClr val="ECEF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0848" y="4773168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887968" y="5056632"/>
            <a:ext cx="146304" cy="146304"/>
          </a:xfrm>
          <a:prstGeom prst="ellipse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0848" y="502920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In stack/queue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887968" y="5312664"/>
            <a:ext cx="146304" cy="146304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0848" y="528523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 node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8887968" y="5568696"/>
            <a:ext cx="146304" cy="146304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5541264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02920" y="1783080"/>
            <a:ext cx="7955279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>
            <a:off x="1920240" y="2377440"/>
            <a:ext cx="822960" cy="914400"/>
          </a:xfrm>
          <a:prstGeom prst="line">
            <a:avLst/>
          </a:prstGeom>
          <a:ln w="2540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743200" y="2377440"/>
            <a:ext cx="822960" cy="914400"/>
          </a:xfrm>
          <a:prstGeom prst="line">
            <a:avLst/>
          </a:prstGeom>
          <a:ln w="2540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371600" y="3291840"/>
            <a:ext cx="548640" cy="1097280"/>
          </a:xfrm>
          <a:prstGeom prst="line">
            <a:avLst/>
          </a:prstGeom>
          <a:ln w="2540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920240" y="3291840"/>
            <a:ext cx="548640" cy="1097280"/>
          </a:xfrm>
          <a:prstGeom prst="line">
            <a:avLst/>
          </a:prstGeom>
          <a:ln w="2540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566160" y="3291840"/>
            <a:ext cx="548640" cy="1097280"/>
          </a:xfrm>
          <a:prstGeom prst="line">
            <a:avLst/>
          </a:prstGeom>
          <a:ln w="2540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2569464" y="2203704"/>
            <a:ext cx="347472" cy="347472"/>
          </a:xfrm>
          <a:prstGeom prst="ellipse">
            <a:avLst/>
          </a:prstGeom>
          <a:solidFill>
            <a:srgbClr val="66BB6A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51760" y="229514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A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8" name="Oval 27"/>
          <p:cNvSpPr/>
          <p:nvPr/>
        </p:nvSpPr>
        <p:spPr>
          <a:xfrm>
            <a:off x="1746504" y="3118104"/>
            <a:ext cx="347472" cy="347472"/>
          </a:xfrm>
          <a:prstGeom prst="ellipse">
            <a:avLst/>
          </a:prstGeom>
          <a:solidFill>
            <a:srgbClr val="66BB6A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0" y="320954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B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3392424" y="3118104"/>
            <a:ext cx="347472" cy="347472"/>
          </a:xfrm>
          <a:prstGeom prst="ellipse">
            <a:avLst/>
          </a:prstGeom>
          <a:solidFill>
            <a:srgbClr val="FFB74D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320954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C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1197864" y="4215383"/>
            <a:ext cx="347472" cy="347472"/>
          </a:xfrm>
          <a:prstGeom prst="ellipse">
            <a:avLst/>
          </a:prstGeom>
          <a:solidFill>
            <a:srgbClr val="66BB6A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430682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D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4" name="Oval 33"/>
          <p:cNvSpPr/>
          <p:nvPr/>
        </p:nvSpPr>
        <p:spPr>
          <a:xfrm>
            <a:off x="2295144" y="4215383"/>
            <a:ext cx="347472" cy="347472"/>
          </a:xfrm>
          <a:prstGeom prst="ellipse">
            <a:avLst/>
          </a:prstGeom>
          <a:solidFill>
            <a:srgbClr val="66BB6A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77440" y="430682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E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6" name="Oval 35"/>
          <p:cNvSpPr/>
          <p:nvPr/>
        </p:nvSpPr>
        <p:spPr>
          <a:xfrm>
            <a:off x="3941063" y="4215383"/>
            <a:ext cx="347472" cy="347472"/>
          </a:xfrm>
          <a:prstGeom prst="ellipse">
            <a:avLst/>
          </a:prstGeom>
          <a:solidFill>
            <a:srgbClr val="ECEFF1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23360" y="430682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320040"/>
            <a:ext cx="11567160" cy="621792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DFS - Trace Example - Step 6/7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From C, visit F.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641080" y="640080"/>
            <a:ext cx="297180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0" y="822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869680" y="12344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A, B, D, E, C, F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869680" y="1920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F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869680" y="2240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Stack: [  ]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69680" y="28803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A -&gt; B -&gt; D -&gt; E -&gt; C -&gt; F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69680" y="4526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887968" y="4800600"/>
            <a:ext cx="146304" cy="146304"/>
          </a:xfrm>
          <a:prstGeom prst="ellipse">
            <a:avLst/>
          </a:prstGeom>
          <a:solidFill>
            <a:srgbClr val="ECEFF1"/>
          </a:solidFill>
          <a:ln>
            <a:solidFill>
              <a:srgbClr val="ECEF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0848" y="4773168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887968" y="5056632"/>
            <a:ext cx="146304" cy="146304"/>
          </a:xfrm>
          <a:prstGeom prst="ellipse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0848" y="502920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In stack/queue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887968" y="5312664"/>
            <a:ext cx="146304" cy="146304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0848" y="528523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 node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8887968" y="5568696"/>
            <a:ext cx="146304" cy="146304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5541264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02920" y="1783080"/>
            <a:ext cx="7955279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>
            <a:off x="1920240" y="2377440"/>
            <a:ext cx="822960" cy="914400"/>
          </a:xfrm>
          <a:prstGeom prst="line">
            <a:avLst/>
          </a:prstGeom>
          <a:ln w="2540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743200" y="2377440"/>
            <a:ext cx="822960" cy="914400"/>
          </a:xfrm>
          <a:prstGeom prst="line">
            <a:avLst/>
          </a:prstGeom>
          <a:ln w="2540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371600" y="3291840"/>
            <a:ext cx="548640" cy="1097280"/>
          </a:xfrm>
          <a:prstGeom prst="line">
            <a:avLst/>
          </a:prstGeom>
          <a:ln w="2540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920240" y="3291840"/>
            <a:ext cx="548640" cy="1097280"/>
          </a:xfrm>
          <a:prstGeom prst="line">
            <a:avLst/>
          </a:prstGeom>
          <a:ln w="2540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566160" y="3291840"/>
            <a:ext cx="548640" cy="1097280"/>
          </a:xfrm>
          <a:prstGeom prst="line">
            <a:avLst/>
          </a:prstGeom>
          <a:ln w="2540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2569464" y="2203704"/>
            <a:ext cx="347472" cy="347472"/>
          </a:xfrm>
          <a:prstGeom prst="ellipse">
            <a:avLst/>
          </a:prstGeom>
          <a:solidFill>
            <a:srgbClr val="66BB6A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51760" y="229514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A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8" name="Oval 27"/>
          <p:cNvSpPr/>
          <p:nvPr/>
        </p:nvSpPr>
        <p:spPr>
          <a:xfrm>
            <a:off x="1746504" y="3118104"/>
            <a:ext cx="347472" cy="347472"/>
          </a:xfrm>
          <a:prstGeom prst="ellipse">
            <a:avLst/>
          </a:prstGeom>
          <a:solidFill>
            <a:srgbClr val="66BB6A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0" y="320954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B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3392424" y="3118104"/>
            <a:ext cx="347472" cy="347472"/>
          </a:xfrm>
          <a:prstGeom prst="ellipse">
            <a:avLst/>
          </a:prstGeom>
          <a:solidFill>
            <a:srgbClr val="66BB6A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320954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C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1197864" y="4215383"/>
            <a:ext cx="347472" cy="347472"/>
          </a:xfrm>
          <a:prstGeom prst="ellipse">
            <a:avLst/>
          </a:prstGeom>
          <a:solidFill>
            <a:srgbClr val="66BB6A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430682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D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4" name="Oval 33"/>
          <p:cNvSpPr/>
          <p:nvPr/>
        </p:nvSpPr>
        <p:spPr>
          <a:xfrm>
            <a:off x="2295144" y="4215383"/>
            <a:ext cx="347472" cy="347472"/>
          </a:xfrm>
          <a:prstGeom prst="ellipse">
            <a:avLst/>
          </a:prstGeom>
          <a:solidFill>
            <a:srgbClr val="66BB6A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77440" y="430682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E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6" name="Oval 35"/>
          <p:cNvSpPr/>
          <p:nvPr/>
        </p:nvSpPr>
        <p:spPr>
          <a:xfrm>
            <a:off x="3941063" y="4215383"/>
            <a:ext cx="347472" cy="347472"/>
          </a:xfrm>
          <a:prstGeom prst="ellipse">
            <a:avLst/>
          </a:prstGeom>
          <a:solidFill>
            <a:srgbClr val="FFB74D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23360" y="430682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320040"/>
            <a:ext cx="11567160" cy="621792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DFS - Trace Example - Step 7/7</a:t>
            </a:r>
            <a:endParaRPr sz="2000" b="1">
              <a:solidFill>
                <a:srgbClr val="0D47A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DFS complete. Order: A -&gt; B -&gt; D -&gt; E -&gt; C -&gt; F.</a:t>
            </a:r>
            <a:endParaRPr sz="1400" b="0">
              <a:solidFill>
                <a:srgbClr val="141414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641080" y="640080"/>
            <a:ext cx="297180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0" y="822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869680" y="12344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Visited: { A, B, D, E, C, F }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869680" y="1920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Current: F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869680" y="2240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Stack: [  ]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69680" y="28803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414"/>
                </a:solidFill>
              </a:rPr>
              <a:t>Order: A -&gt; B -&gt; D -&gt; E -&gt; C -&gt; F</a:t>
            </a:r>
            <a:endParaRPr sz="12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69680" y="4526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887968" y="4800600"/>
            <a:ext cx="146304" cy="146304"/>
          </a:xfrm>
          <a:prstGeom prst="ellipse">
            <a:avLst/>
          </a:prstGeom>
          <a:solidFill>
            <a:srgbClr val="ECEFF1"/>
          </a:solidFill>
          <a:ln>
            <a:solidFill>
              <a:srgbClr val="ECEF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0848" y="4773168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887968" y="5056632"/>
            <a:ext cx="146304" cy="146304"/>
          </a:xfrm>
          <a:prstGeom prst="ellipse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0848" y="502920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In stack/queue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8887968" y="5312664"/>
            <a:ext cx="146304" cy="146304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0848" y="528523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 node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8887968" y="5568696"/>
            <a:ext cx="146304" cy="146304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5541264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02920" y="1783080"/>
            <a:ext cx="7955279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>
            <a:off x="1920240" y="2377440"/>
            <a:ext cx="822960" cy="914400"/>
          </a:xfrm>
          <a:prstGeom prst="line">
            <a:avLst/>
          </a:prstGeom>
          <a:ln w="2540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743200" y="2377440"/>
            <a:ext cx="822960" cy="914400"/>
          </a:xfrm>
          <a:prstGeom prst="line">
            <a:avLst/>
          </a:prstGeom>
          <a:ln w="2540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371600" y="3291840"/>
            <a:ext cx="548640" cy="1097280"/>
          </a:xfrm>
          <a:prstGeom prst="line">
            <a:avLst/>
          </a:prstGeom>
          <a:ln w="2540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920240" y="3291840"/>
            <a:ext cx="548640" cy="1097280"/>
          </a:xfrm>
          <a:prstGeom prst="line">
            <a:avLst/>
          </a:prstGeom>
          <a:ln w="2540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566160" y="3291840"/>
            <a:ext cx="548640" cy="1097280"/>
          </a:xfrm>
          <a:prstGeom prst="line">
            <a:avLst/>
          </a:prstGeom>
          <a:ln w="2540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2569464" y="2203704"/>
            <a:ext cx="347472" cy="347472"/>
          </a:xfrm>
          <a:prstGeom prst="ellipse">
            <a:avLst/>
          </a:prstGeom>
          <a:solidFill>
            <a:srgbClr val="66BB6A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51760" y="229514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A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8" name="Oval 27"/>
          <p:cNvSpPr/>
          <p:nvPr/>
        </p:nvSpPr>
        <p:spPr>
          <a:xfrm>
            <a:off x="1746504" y="3118104"/>
            <a:ext cx="347472" cy="347472"/>
          </a:xfrm>
          <a:prstGeom prst="ellipse">
            <a:avLst/>
          </a:prstGeom>
          <a:solidFill>
            <a:srgbClr val="66BB6A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0" y="320954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B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3392424" y="3118104"/>
            <a:ext cx="347472" cy="347472"/>
          </a:xfrm>
          <a:prstGeom prst="ellipse">
            <a:avLst/>
          </a:prstGeom>
          <a:solidFill>
            <a:srgbClr val="66BB6A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320954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C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1197864" y="4215383"/>
            <a:ext cx="347472" cy="347472"/>
          </a:xfrm>
          <a:prstGeom prst="ellipse">
            <a:avLst/>
          </a:prstGeom>
          <a:solidFill>
            <a:srgbClr val="66BB6A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430682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D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4" name="Oval 33"/>
          <p:cNvSpPr/>
          <p:nvPr/>
        </p:nvSpPr>
        <p:spPr>
          <a:xfrm>
            <a:off x="2295144" y="4215383"/>
            <a:ext cx="347472" cy="347472"/>
          </a:xfrm>
          <a:prstGeom prst="ellipse">
            <a:avLst/>
          </a:prstGeom>
          <a:solidFill>
            <a:srgbClr val="66BB6A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77440" y="430682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E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6" name="Oval 35"/>
          <p:cNvSpPr/>
          <p:nvPr/>
        </p:nvSpPr>
        <p:spPr>
          <a:xfrm>
            <a:off x="3941063" y="4215383"/>
            <a:ext cx="347472" cy="347472"/>
          </a:xfrm>
          <a:prstGeom prst="ellipse">
            <a:avLst/>
          </a:prstGeom>
          <a:solidFill>
            <a:srgbClr val="FFB74D"/>
          </a:solidFill>
          <a:ln w="1587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23360" y="430682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28600"/>
            <a:ext cx="11612880" cy="635508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172A"/>
                </a:solidFill>
              </a:rPr>
              <a:t>DFS - C Function (week13_graph_dfs.c)</a:t>
            </a:r>
            <a:endParaRPr sz="2200" b="1">
              <a:solidFill>
                <a:srgbClr val="0F172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E40AF"/>
                </a:solidFill>
              </a:rPr>
              <a:t>Inserted after DFS example</a:t>
            </a:r>
            <a:endParaRPr sz="1200" b="1">
              <a:solidFill>
                <a:srgbClr val="1E40A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E40AF"/>
                </a:solidFill>
              </a:rPr>
              <a:t>Graph construction: createGraph()</a:t>
            </a:r>
            <a:endParaRPr sz="1100" b="1">
              <a:solidFill>
                <a:srgbClr val="1E40A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426464"/>
            <a:ext cx="107899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11827"/>
                </a:solidFill>
                <a:latin typeface="Consolas" panose="020B0609020204030204"/>
              </a:rPr>
              <a:t>/* Function not found */</a:t>
            </a:r>
            <a:endParaRPr sz="900">
              <a:solidFill>
                <a:srgbClr val="111827"/>
              </a:solidFill>
              <a:latin typeface="Consolas" panose="020B0609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745361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E40AF"/>
                </a:solidFill>
              </a:rPr>
              <a:t>Graph construction: addEdge()</a:t>
            </a:r>
            <a:endParaRPr sz="1100" b="1">
              <a:solidFill>
                <a:srgbClr val="1E40A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2067687"/>
            <a:ext cx="107899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11827"/>
                </a:solidFill>
                <a:latin typeface="Consolas" panose="020B0609020204030204"/>
              </a:rPr>
              <a:t>void addEdge(struct Graph* g, int u, int v) {
    g-&gt;adjMatrix[u][v] = 1;
    g-&gt;adjMatrix[v][u] = 1;
}</a:t>
            </a:r>
            <a:endParaRPr sz="900">
              <a:solidFill>
                <a:srgbClr val="111827"/>
              </a:solidFill>
              <a:latin typeface="Consolas" panose="020B0609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2918079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E40AF"/>
                </a:solidFill>
              </a:rPr>
              <a:t>Graph construction: sample edge setup</a:t>
            </a:r>
            <a:endParaRPr sz="1100" b="1">
              <a:solidFill>
                <a:srgbClr val="1E40A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3394710"/>
            <a:ext cx="107899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11827"/>
                </a:solidFill>
                <a:latin typeface="Consolas" panose="020B0609020204030204"/>
              </a:rPr>
              <a:t>/* Sample graph construction (week13/week14 main style) */
struct Graph* g = createGraph(6);
addEdge(g, 0, 1);
addEdge(g, 0, 2);
addEdge(g, 1, 3);
addEdge(g, 1, 4);
addEdge(g, 2, 4);
addEdge(g, 3, 5);
addEdge(g, 4, 5);</a:t>
            </a:r>
            <a:endParaRPr sz="900">
              <a:solidFill>
                <a:srgbClr val="111827"/>
              </a:solidFill>
              <a:latin typeface="Consolas" panose="020B0609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96840" y="1981327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E40AF"/>
                </a:solidFill>
              </a:rPr>
              <a:t>dfsRecursive()</a:t>
            </a:r>
            <a:endParaRPr sz="1100" b="1">
              <a:solidFill>
                <a:srgbClr val="1E40A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978400" y="2631313"/>
            <a:ext cx="107899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11827"/>
                </a:solidFill>
                <a:latin typeface="Consolas" panose="020B0609020204030204"/>
              </a:rPr>
              <a:t>void dfsRecursive(struct Graph* g, int vertex) {
    visited[vertex] = 1;
    result[resultSize++] = vertex;   /* Store visited vertex in result array */
    int u;
    for (u = 0; u &lt; g-&gt;numV; u++) {
        if (g-&gt;adjMatrix[vertex][u] == 1 &amp;&amp; visited[u] == 0)
            dfsRecursive(g, u);
    }
}</a:t>
            </a:r>
            <a:endParaRPr sz="900">
              <a:solidFill>
                <a:srgbClr val="111827"/>
              </a:solidFill>
              <a:latin typeface="Consolas" panose="020B0609020204030204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28600"/>
            <a:ext cx="11612880" cy="635508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172A"/>
                </a:solidFill>
              </a:rPr>
              <a:t>BFS - C Function (week14_graph_bfs.c)</a:t>
            </a:r>
            <a:endParaRPr sz="2200" b="1">
              <a:solidFill>
                <a:srgbClr val="0F172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E40AF"/>
                </a:solidFill>
              </a:rPr>
              <a:t>Inserted after BFS example</a:t>
            </a:r>
            <a:endParaRPr sz="1200" b="1">
              <a:solidFill>
                <a:srgbClr val="1E40A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E40AF"/>
                </a:solidFill>
              </a:rPr>
              <a:t>Graph construction: createGraph()</a:t>
            </a:r>
            <a:endParaRPr sz="1100" b="1">
              <a:solidFill>
                <a:srgbClr val="1E40A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426464"/>
            <a:ext cx="107899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11827"/>
                </a:solidFill>
                <a:latin typeface="Consolas" panose="020B0609020204030204"/>
              </a:rPr>
              <a:t>/* Function not found */</a:t>
            </a:r>
            <a:endParaRPr sz="900">
              <a:solidFill>
                <a:srgbClr val="111827"/>
              </a:solidFill>
              <a:latin typeface="Consolas" panose="020B0609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053971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E40AF"/>
                </a:solidFill>
              </a:rPr>
              <a:t>Graph construction: addEdge()</a:t>
            </a:r>
            <a:endParaRPr sz="1100" b="1">
              <a:solidFill>
                <a:srgbClr val="1E40A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2324862"/>
            <a:ext cx="107899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11827"/>
                </a:solidFill>
                <a:latin typeface="Consolas" panose="020B0609020204030204"/>
              </a:rPr>
              <a:t>void addEdge(struct Graph* g, int u, int v) {
    g-&gt;adjMatrix[u][v] = 1;
    g-&gt;adjMatrix[v][u] = 1;
}</a:t>
            </a:r>
            <a:endParaRPr sz="900">
              <a:solidFill>
                <a:srgbClr val="111827"/>
              </a:solidFill>
              <a:latin typeface="Consolas" panose="020B0609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00380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E40AF"/>
                </a:solidFill>
              </a:rPr>
              <a:t>Graph construction: sample edge setup</a:t>
            </a:r>
            <a:endParaRPr sz="1100" b="1">
              <a:solidFill>
                <a:srgbClr val="1E40A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107899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11827"/>
                </a:solidFill>
                <a:latin typeface="Consolas" panose="020B0609020204030204"/>
              </a:rPr>
              <a:t>/* Sample graph construction (week13/week14 main style) */
struct Graph* g = createGraph(6);
addEdge(g, 0, 1);
addEdge(g, 0, 2);
addEdge(g, 1, 3);
addEdge(g, 1, 4);
addEdge(g, 2, 4);
addEdge(g, 3, 5);
addEdge(g, 4, 5);</a:t>
            </a:r>
            <a:endParaRPr sz="900">
              <a:solidFill>
                <a:srgbClr val="111827"/>
              </a:solidFill>
              <a:latin typeface="Consolas" panose="020B0609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92675" y="1554607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E40AF"/>
                </a:solidFill>
              </a:rPr>
              <a:t>bfs()</a:t>
            </a:r>
            <a:endParaRPr sz="1100" b="1">
              <a:solidFill>
                <a:srgbClr val="1E40A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92675" y="2031873"/>
            <a:ext cx="107899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11827"/>
                </a:solidFill>
                <a:latin typeface="Consolas" panose="020B0609020204030204"/>
              </a:rPr>
              <a:t>void bfs(struct Graph* g, int start, int *result, int *resultSize) {
    int visited[MAX_V] = {0};
    int queue[MAX_V];            /* Array used as queue */
    int front = 0, rear = 0;
    visited[start] = 1;
    queue[rear++] = start;
    while (front &lt; rear) {
        int vertex = queue[front++];          /* Dequeue */
        result[(*resultSize)++] = vertex;     /* Store in result array */
        int u;
        for (u = 0; u &lt; g-&gt;numV; u++) {
            if (g-&gt;adjMatrix[vertex][u] == 1 &amp;&amp; visited[u] == 0) {
                visited[u] = 1;
                queue[rear++] = u;            /* Enqueue */
            }
        }
    }
}</a:t>
            </a:r>
            <a:endParaRPr sz="900">
              <a:solidFill>
                <a:srgbClr val="111827"/>
              </a:solidFill>
              <a:latin typeface="Consolas" panose="020B0609020204030204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2188825" cy="9144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Additional DFS/BFS Worked Examples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41414"/>
                </a:solidFill>
              </a:rPr>
              <a:t>2 different DFS examples and 2 different BFS examples, each shown step-by-step with diagrams</a:t>
            </a:r>
            <a:endParaRPr sz="1800" b="0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47A1"/>
                </a:solidFill>
              </a:rPr>
              <a:t>Additional DFS/BFS - DFS Example 1</a:t>
            </a:r>
            <a:endParaRPr sz="2800" b="1">
              <a:solidFill>
                <a:srgbClr val="0D47A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Step-by-step traversal with diagram updates in each slide</a:t>
            </a:r>
            <a:endParaRPr sz="1400" b="0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47A1"/>
                </a:solidFill>
              </a:rPr>
              <a:t>Additional DFS/BFS - DFS Example 1 - Step 1/6</a:t>
            </a:r>
            <a:endParaRPr sz="19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414"/>
                </a:solidFill>
              </a:rPr>
              <a:t>Visit A.</a:t>
            </a:r>
            <a:endParaRPr sz="13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Visited: { A }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920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Current: A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Stack: [  ]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292608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Order: A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7824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8796528" y="4846320"/>
            <a:ext cx="146304" cy="146304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7696" y="48188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8796528" y="5102352"/>
            <a:ext cx="146304" cy="146304"/>
          </a:xfrm>
          <a:prstGeom prst="ellipse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7696" y="50749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In stack/queue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8796528" y="5358383"/>
            <a:ext cx="146304" cy="146304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7696" y="533095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8796528" y="5614416"/>
            <a:ext cx="146304" cy="146304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7696" y="558698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>
            <a:off x="1828800" y="201168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3200" y="201168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280160" y="2926080"/>
            <a:ext cx="54864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0" y="2926080"/>
            <a:ext cx="54864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657600" y="2926080"/>
            <a:ext cx="36576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560320" y="1828800"/>
            <a:ext cx="365760" cy="365760"/>
          </a:xfrm>
          <a:prstGeom prst="ellipse">
            <a:avLst/>
          </a:prstGeom>
          <a:solidFill>
            <a:srgbClr val="FFB74D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19202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A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B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C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1097280" y="393192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19" y="40233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D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194560" y="393192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40233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E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3840480" y="393192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0" y="40233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47A1"/>
                </a:solidFill>
              </a:rPr>
              <a:t>Additional DFS/BFS - DFS Example 1 - Step 2/6</a:t>
            </a:r>
            <a:endParaRPr sz="19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414"/>
                </a:solidFill>
              </a:rPr>
              <a:t>Go to B.</a:t>
            </a:r>
            <a:endParaRPr sz="13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Visited: { A, B }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920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Current: B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Stack: [  ]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292608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Order: A -&gt; B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7824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8796528" y="4846320"/>
            <a:ext cx="146304" cy="146304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7696" y="48188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8796528" y="5102352"/>
            <a:ext cx="146304" cy="146304"/>
          </a:xfrm>
          <a:prstGeom prst="ellipse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7696" y="50749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In stack/queue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8796528" y="5358383"/>
            <a:ext cx="146304" cy="146304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7696" y="533095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8796528" y="5614416"/>
            <a:ext cx="146304" cy="146304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7696" y="558698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>
            <a:off x="1828800" y="201168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3200" y="201168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280160" y="2926080"/>
            <a:ext cx="54864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0" y="2926080"/>
            <a:ext cx="54864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657600" y="2926080"/>
            <a:ext cx="36576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560320" y="182880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19202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A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FFB74D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B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C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1097280" y="393192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19" y="40233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D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194560" y="393192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40233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E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3840480" y="393192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0" y="40233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47A1"/>
                </a:solidFill>
              </a:rPr>
              <a:t>Additional DFS/BFS - DFS Example 1 - Step 3/6</a:t>
            </a:r>
            <a:endParaRPr sz="19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414"/>
                </a:solidFill>
              </a:rPr>
              <a:t>Go to D.</a:t>
            </a:r>
            <a:endParaRPr sz="13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Visited: { A, B, D }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920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Current: D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Stack: [  ]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292608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Order: A -&gt; B -&gt; D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7824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8796528" y="4846320"/>
            <a:ext cx="146304" cy="146304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7696" y="48188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8796528" y="5102352"/>
            <a:ext cx="146304" cy="146304"/>
          </a:xfrm>
          <a:prstGeom prst="ellipse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7696" y="50749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In stack/queue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8796528" y="5358383"/>
            <a:ext cx="146304" cy="146304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7696" y="533095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8796528" y="5614416"/>
            <a:ext cx="146304" cy="146304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7696" y="558698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>
            <a:off x="1828800" y="201168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3200" y="201168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280160" y="2926080"/>
            <a:ext cx="54864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0" y="2926080"/>
            <a:ext cx="54864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657600" y="2926080"/>
            <a:ext cx="36576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560320" y="182880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19202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A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B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C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1097280" y="3931920"/>
            <a:ext cx="365760" cy="365760"/>
          </a:xfrm>
          <a:prstGeom prst="ellipse">
            <a:avLst/>
          </a:prstGeom>
          <a:solidFill>
            <a:srgbClr val="FFB74D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19" y="40233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D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194560" y="393192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40233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E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3840480" y="393192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0" y="40233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47A1"/>
                </a:solidFill>
              </a:rPr>
              <a:t>Additional DFS/BFS - DFS Example 1 - Step 4/6</a:t>
            </a:r>
            <a:endParaRPr sz="19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414"/>
                </a:solidFill>
              </a:rPr>
              <a:t>Backtrack, then visit E.</a:t>
            </a:r>
            <a:endParaRPr sz="13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Visited: { A, B, D, E }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920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Current: E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Stack: [  ]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292608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Order: A -&gt; B -&gt; D -&gt; E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7824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8796528" y="4846320"/>
            <a:ext cx="146304" cy="146304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7696" y="48188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8796528" y="5102352"/>
            <a:ext cx="146304" cy="146304"/>
          </a:xfrm>
          <a:prstGeom prst="ellipse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7696" y="50749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In stack/queue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8796528" y="5358383"/>
            <a:ext cx="146304" cy="146304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7696" y="533095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8796528" y="5614416"/>
            <a:ext cx="146304" cy="146304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7696" y="558698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>
            <a:off x="1828800" y="201168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3200" y="201168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280160" y="2926080"/>
            <a:ext cx="54864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0" y="2926080"/>
            <a:ext cx="54864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657600" y="2926080"/>
            <a:ext cx="36576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560320" y="182880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19202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A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B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C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1097280" y="393192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19" y="40233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D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194560" y="3931920"/>
            <a:ext cx="365760" cy="365760"/>
          </a:xfrm>
          <a:prstGeom prst="ellipse">
            <a:avLst/>
          </a:prstGeom>
          <a:solidFill>
            <a:srgbClr val="FFB74D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40233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E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3840480" y="393192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0" y="40233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47A1"/>
                </a:solidFill>
              </a:rPr>
              <a:t>Additional DFS/BFS - DFS Example 1 - Step 5/6</a:t>
            </a:r>
            <a:endParaRPr sz="19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414"/>
                </a:solidFill>
              </a:rPr>
              <a:t>Backtrack to A, visit C.</a:t>
            </a:r>
            <a:endParaRPr sz="13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Visited: { A, B, D, E, C }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920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Current: C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Stack: [  ]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292608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Order: A -&gt; B -&gt; D -&gt; E -&gt; C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7824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8796528" y="4846320"/>
            <a:ext cx="146304" cy="146304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7696" y="48188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8796528" y="5102352"/>
            <a:ext cx="146304" cy="146304"/>
          </a:xfrm>
          <a:prstGeom prst="ellipse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7696" y="50749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In stack/queue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8796528" y="5358383"/>
            <a:ext cx="146304" cy="146304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7696" y="533095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8796528" y="5614416"/>
            <a:ext cx="146304" cy="146304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7696" y="558698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>
            <a:off x="1828800" y="201168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3200" y="201168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280160" y="2926080"/>
            <a:ext cx="54864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0" y="2926080"/>
            <a:ext cx="54864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657600" y="2926080"/>
            <a:ext cx="36576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560320" y="182880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19202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A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B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FFB74D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C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1097280" y="393192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19" y="40233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D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194560" y="393192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40233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E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3840480" y="393192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0" y="40233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47A1"/>
                </a:solidFill>
              </a:rPr>
              <a:t>Additional DFS/BFS - DFS Example 1 - Step 6/6</a:t>
            </a:r>
            <a:endParaRPr sz="19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414"/>
                </a:solidFill>
              </a:rPr>
              <a:t>Visit F.</a:t>
            </a:r>
            <a:endParaRPr sz="13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Visited: { A, B, D, E, C, F }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920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Current: F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Stack: [  ]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292608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Order: A -&gt; B -&gt; D -&gt; E -&gt; C -&gt; F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7824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8796528" y="4846320"/>
            <a:ext cx="146304" cy="146304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7696" y="48188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8796528" y="5102352"/>
            <a:ext cx="146304" cy="146304"/>
          </a:xfrm>
          <a:prstGeom prst="ellipse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7696" y="50749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In stack/queue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8796528" y="5358383"/>
            <a:ext cx="146304" cy="146304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7696" y="533095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8796528" y="5614416"/>
            <a:ext cx="146304" cy="146304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7696" y="558698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>
            <a:off x="1828800" y="201168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3200" y="201168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280160" y="2926080"/>
            <a:ext cx="54864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0" y="2926080"/>
            <a:ext cx="54864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657600" y="2926080"/>
            <a:ext cx="36576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560320" y="182880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19202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A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B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C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1097280" y="393192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19" y="40233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D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194560" y="393192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40233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E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3840480" y="3931920"/>
            <a:ext cx="365760" cy="365760"/>
          </a:xfrm>
          <a:prstGeom prst="ellipse">
            <a:avLst/>
          </a:prstGeom>
          <a:solidFill>
            <a:srgbClr val="FFB74D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0" y="40233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47A1"/>
                </a:solidFill>
              </a:rPr>
              <a:t>Additional DFS/BFS - DFS Example 2</a:t>
            </a:r>
            <a:endParaRPr sz="2800" b="1">
              <a:solidFill>
                <a:srgbClr val="0D47A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Step-by-step traversal with diagram updates in each slide</a:t>
            </a:r>
            <a:endParaRPr sz="1400" b="0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47A1"/>
                </a:solidFill>
              </a:rPr>
              <a:t>Additional DFS/BFS - DFS Example 2 - Step 1/6</a:t>
            </a:r>
            <a:endParaRPr sz="19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414"/>
                </a:solidFill>
              </a:rPr>
              <a:t>Visit P.</a:t>
            </a:r>
            <a:endParaRPr sz="13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Visited: { P }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920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Current: P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Stack: [  ]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292608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Order: P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7824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8796528" y="4846320"/>
            <a:ext cx="146304" cy="146304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7696" y="48188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8796528" y="5102352"/>
            <a:ext cx="146304" cy="146304"/>
          </a:xfrm>
          <a:prstGeom prst="ellipse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7696" y="50749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In stack/queue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8796528" y="5358383"/>
            <a:ext cx="146304" cy="146304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7696" y="533095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8796528" y="5614416"/>
            <a:ext cx="146304" cy="146304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7696" y="558698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>
            <a:off x="1828800" y="192024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3200" y="192024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371600" y="2834640"/>
            <a:ext cx="45720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3474720" y="2834640"/>
            <a:ext cx="18288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474720" y="4023360"/>
            <a:ext cx="731520" cy="82296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FFB74D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P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1645920" y="265176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0" y="27432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Q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3474720" y="265176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27432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R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1188720" y="384048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016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S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291839" y="384048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T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023359" y="466344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0" y="475488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U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47A1"/>
                </a:solidFill>
              </a:rPr>
              <a:t>Additional DFS/BFS - DFS Example 2 - Step 2/6</a:t>
            </a:r>
            <a:endParaRPr sz="19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414"/>
                </a:solidFill>
              </a:rPr>
              <a:t>Go to Q.</a:t>
            </a:r>
            <a:endParaRPr sz="13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Visited: { P, Q }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920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Current: Q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Stack: [  ]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292608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Order: P -&gt; Q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7824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8796528" y="4846320"/>
            <a:ext cx="146304" cy="146304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7696" y="48188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8796528" y="5102352"/>
            <a:ext cx="146304" cy="146304"/>
          </a:xfrm>
          <a:prstGeom prst="ellipse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7696" y="50749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In stack/queue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8796528" y="5358383"/>
            <a:ext cx="146304" cy="146304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7696" y="533095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8796528" y="5614416"/>
            <a:ext cx="146304" cy="146304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7696" y="558698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>
            <a:off x="1828800" y="192024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3200" y="192024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371600" y="2834640"/>
            <a:ext cx="45720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3474720" y="2834640"/>
            <a:ext cx="18288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474720" y="4023360"/>
            <a:ext cx="731520" cy="82296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P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1645920" y="2651760"/>
            <a:ext cx="365760" cy="365760"/>
          </a:xfrm>
          <a:prstGeom prst="ellipse">
            <a:avLst/>
          </a:prstGeom>
          <a:solidFill>
            <a:srgbClr val="FFB74D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0" y="27432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Q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3474720" y="265176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27432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R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1188720" y="384048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016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S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291839" y="384048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T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023359" y="466344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0" y="475488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U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47A1"/>
                </a:solidFill>
              </a:rPr>
              <a:t>Additional DFS/BFS - DFS Example 2 - Step 3/6</a:t>
            </a:r>
            <a:endParaRPr sz="19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414"/>
                </a:solidFill>
              </a:rPr>
              <a:t>Go to S.</a:t>
            </a:r>
            <a:endParaRPr sz="13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Visited: { P, Q, S }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920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Current: S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Stack: [  ]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292608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Order: P -&gt; Q -&gt; S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7824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8796528" y="4846320"/>
            <a:ext cx="146304" cy="146304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7696" y="48188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8796528" y="5102352"/>
            <a:ext cx="146304" cy="146304"/>
          </a:xfrm>
          <a:prstGeom prst="ellipse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7696" y="50749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In stack/queue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8796528" y="5358383"/>
            <a:ext cx="146304" cy="146304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7696" y="533095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8796528" y="5614416"/>
            <a:ext cx="146304" cy="146304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7696" y="558698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>
            <a:off x="1828800" y="192024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3200" y="192024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371600" y="2834640"/>
            <a:ext cx="45720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3474720" y="2834640"/>
            <a:ext cx="18288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474720" y="4023360"/>
            <a:ext cx="731520" cy="82296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P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1645920" y="265176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0" y="27432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Q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3474720" y="265176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27432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R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1188720" y="3840480"/>
            <a:ext cx="365760" cy="365760"/>
          </a:xfrm>
          <a:prstGeom prst="ellipse">
            <a:avLst/>
          </a:prstGeom>
          <a:solidFill>
            <a:srgbClr val="FFB74D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016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S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291839" y="384048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T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023359" y="466344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0" y="475488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U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47A1"/>
                </a:solidFill>
              </a:rPr>
              <a:t>Additional DFS/BFS - DFS Example 2 - Step 4/6</a:t>
            </a:r>
            <a:endParaRPr sz="19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414"/>
                </a:solidFill>
              </a:rPr>
              <a:t>Backtrack to P, then go to R.</a:t>
            </a:r>
            <a:endParaRPr sz="13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Visited: { P, Q, S, R }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920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Current: R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Stack: [  ]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292608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Order: P -&gt; Q -&gt; S -&gt; R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7824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8796528" y="4846320"/>
            <a:ext cx="146304" cy="146304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7696" y="48188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8796528" y="5102352"/>
            <a:ext cx="146304" cy="146304"/>
          </a:xfrm>
          <a:prstGeom prst="ellipse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7696" y="50749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In stack/queue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8796528" y="5358383"/>
            <a:ext cx="146304" cy="146304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7696" y="533095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8796528" y="5614416"/>
            <a:ext cx="146304" cy="146304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7696" y="558698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>
            <a:off x="1828800" y="192024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3200" y="192024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371600" y="2834640"/>
            <a:ext cx="45720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3474720" y="2834640"/>
            <a:ext cx="18288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474720" y="4023360"/>
            <a:ext cx="731520" cy="82296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P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1645920" y="265176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0" y="27432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Q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3474720" y="2651760"/>
            <a:ext cx="365760" cy="365760"/>
          </a:xfrm>
          <a:prstGeom prst="ellipse">
            <a:avLst/>
          </a:prstGeom>
          <a:solidFill>
            <a:srgbClr val="FFB74D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27432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R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1188720" y="384048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016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S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291839" y="384048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T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023359" y="466344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0" y="475488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U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47A1"/>
                </a:solidFill>
              </a:rPr>
              <a:t>Additional DFS/BFS - DFS Example 2 - Step 5/6</a:t>
            </a:r>
            <a:endParaRPr sz="19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414"/>
                </a:solidFill>
              </a:rPr>
              <a:t>Go to T.</a:t>
            </a:r>
            <a:endParaRPr sz="13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Visited: { P, Q, S, R, T }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920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Current: T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Stack: [  ]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292608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Order: P -&gt; Q -&gt; S -&gt; R -&gt; T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7824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8796528" y="4846320"/>
            <a:ext cx="146304" cy="146304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7696" y="48188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8796528" y="5102352"/>
            <a:ext cx="146304" cy="146304"/>
          </a:xfrm>
          <a:prstGeom prst="ellipse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7696" y="50749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In stack/queue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8796528" y="5358383"/>
            <a:ext cx="146304" cy="146304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7696" y="533095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8796528" y="5614416"/>
            <a:ext cx="146304" cy="146304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7696" y="558698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>
            <a:off x="1828800" y="192024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3200" y="192024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371600" y="2834640"/>
            <a:ext cx="45720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3474720" y="2834640"/>
            <a:ext cx="18288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474720" y="4023360"/>
            <a:ext cx="731520" cy="82296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P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1645920" y="265176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0" y="27432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Q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3474720" y="265176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27432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R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1188720" y="384048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016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S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291839" y="3840480"/>
            <a:ext cx="365760" cy="365760"/>
          </a:xfrm>
          <a:prstGeom prst="ellipse">
            <a:avLst/>
          </a:prstGeom>
          <a:solidFill>
            <a:srgbClr val="FFB74D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T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023359" y="466344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0" y="475488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U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47A1"/>
                </a:solidFill>
              </a:rPr>
              <a:t>Additional DFS/BFS - DFS Example 2 - Step 6/6</a:t>
            </a:r>
            <a:endParaRPr sz="19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414"/>
                </a:solidFill>
              </a:rPr>
              <a:t>Go to U.</a:t>
            </a:r>
            <a:endParaRPr sz="13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Visited: { P, Q, S, R, T, U }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920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Current: U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Stack: [  ]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292608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Order: P -&gt; Q -&gt; S -&gt; R -&gt; T -&gt; U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7824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8796528" y="4846320"/>
            <a:ext cx="146304" cy="146304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7696" y="48188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8796528" y="5102352"/>
            <a:ext cx="146304" cy="146304"/>
          </a:xfrm>
          <a:prstGeom prst="ellipse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7696" y="50749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In stack/queue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8796528" y="5358383"/>
            <a:ext cx="146304" cy="146304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7696" y="533095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8796528" y="5614416"/>
            <a:ext cx="146304" cy="146304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7696" y="558698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>
            <a:off x="1828800" y="192024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3200" y="192024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371600" y="2834640"/>
            <a:ext cx="45720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3474720" y="2834640"/>
            <a:ext cx="18288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474720" y="4023360"/>
            <a:ext cx="731520" cy="82296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P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1645920" y="265176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0" y="27432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Q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3474720" y="265176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27432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R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1188720" y="384048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016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S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291839" y="384048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T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023359" y="4663440"/>
            <a:ext cx="365760" cy="365760"/>
          </a:xfrm>
          <a:prstGeom prst="ellipse">
            <a:avLst/>
          </a:prstGeom>
          <a:solidFill>
            <a:srgbClr val="FFB74D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0" y="475488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U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47A1"/>
                </a:solidFill>
              </a:rPr>
              <a:t>Additional DFS/BFS - BFS Example 1</a:t>
            </a:r>
            <a:endParaRPr sz="2800" b="1">
              <a:solidFill>
                <a:srgbClr val="0D47A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Step-by-step traversal with diagram updates in each slide</a:t>
            </a:r>
            <a:endParaRPr sz="1400" b="0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47A1"/>
                </a:solidFill>
              </a:rPr>
              <a:t>Additional DFS/BFS - BFS Example 1 - Step 1/6</a:t>
            </a:r>
            <a:endParaRPr sz="19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414"/>
                </a:solidFill>
              </a:rPr>
              <a:t>Enqueue A.</a:t>
            </a:r>
            <a:endParaRPr sz="13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Visited: { A }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920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Current: A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Queue: [ A ]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292608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Order: 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7824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8796528" y="4846320"/>
            <a:ext cx="146304" cy="146304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7696" y="48188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8796528" y="5102352"/>
            <a:ext cx="146304" cy="146304"/>
          </a:xfrm>
          <a:prstGeom prst="ellipse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7696" y="50749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In stack/queue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8796528" y="5358383"/>
            <a:ext cx="146304" cy="146304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7696" y="533095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8796528" y="5614416"/>
            <a:ext cx="146304" cy="146304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7696" y="558698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>
            <a:off x="1828800" y="201168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3200" y="201168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280160" y="2926080"/>
            <a:ext cx="54864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0" y="2926080"/>
            <a:ext cx="54864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657600" y="2926080"/>
            <a:ext cx="36576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560320" y="1828800"/>
            <a:ext cx="365760" cy="365760"/>
          </a:xfrm>
          <a:prstGeom prst="ellipse">
            <a:avLst/>
          </a:prstGeom>
          <a:solidFill>
            <a:srgbClr val="FFB74D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19202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A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B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C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1097280" y="393192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19" y="40233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D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194560" y="393192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40233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E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3840480" y="393192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0" y="40233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47A1"/>
                </a:solidFill>
              </a:rPr>
              <a:t>Additional DFS/BFS - BFS Example 1 - Step 2/6</a:t>
            </a:r>
            <a:endParaRPr sz="19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414"/>
                </a:solidFill>
              </a:rPr>
              <a:t>Dequeue A, enqueue B,C.</a:t>
            </a:r>
            <a:endParaRPr sz="13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Visited: { A, B, C }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920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Current: A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Queue: [ B, C ]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292608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Order: A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7824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8796528" y="4846320"/>
            <a:ext cx="146304" cy="146304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7696" y="48188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8796528" y="5102352"/>
            <a:ext cx="146304" cy="146304"/>
          </a:xfrm>
          <a:prstGeom prst="ellipse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7696" y="50749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In stack/queue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8796528" y="5358383"/>
            <a:ext cx="146304" cy="146304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7696" y="533095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8796528" y="5614416"/>
            <a:ext cx="146304" cy="146304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7696" y="558698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>
            <a:off x="1828800" y="201168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3200" y="201168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280160" y="2926080"/>
            <a:ext cx="54864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0" y="2926080"/>
            <a:ext cx="54864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657600" y="2926080"/>
            <a:ext cx="36576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560320" y="1828800"/>
            <a:ext cx="365760" cy="365760"/>
          </a:xfrm>
          <a:prstGeom prst="ellipse">
            <a:avLst/>
          </a:prstGeom>
          <a:solidFill>
            <a:srgbClr val="FFB74D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19202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A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42A5F5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B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42A5F5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C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1097280" y="393192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19" y="40233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D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194560" y="393192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40233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E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3840480" y="393192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0" y="40233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47A1"/>
                </a:solidFill>
              </a:rPr>
              <a:t>Additional DFS/BFS - BFS Example 1 - Step 3/6</a:t>
            </a:r>
            <a:endParaRPr sz="19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414"/>
                </a:solidFill>
              </a:rPr>
              <a:t>Dequeue B, enqueue D,E.</a:t>
            </a:r>
            <a:endParaRPr sz="13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Visited: { A, B, C, D, E }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920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Current: B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Queue: [ C, D, E ]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292608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Order: A -&gt; B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7824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8796528" y="4846320"/>
            <a:ext cx="146304" cy="146304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7696" y="48188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8796528" y="5102352"/>
            <a:ext cx="146304" cy="146304"/>
          </a:xfrm>
          <a:prstGeom prst="ellipse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7696" y="50749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In stack/queue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8796528" y="5358383"/>
            <a:ext cx="146304" cy="146304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7696" y="533095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8796528" y="5614416"/>
            <a:ext cx="146304" cy="146304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7696" y="558698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>
            <a:off x="1828800" y="201168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3200" y="201168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280160" y="2926080"/>
            <a:ext cx="54864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0" y="2926080"/>
            <a:ext cx="54864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657600" y="2926080"/>
            <a:ext cx="36576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560320" y="182880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19202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A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FFB74D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B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42A5F5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C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1097280" y="3931920"/>
            <a:ext cx="365760" cy="365760"/>
          </a:xfrm>
          <a:prstGeom prst="ellipse">
            <a:avLst/>
          </a:prstGeom>
          <a:solidFill>
            <a:srgbClr val="42A5F5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19" y="40233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D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194560" y="3931920"/>
            <a:ext cx="365760" cy="365760"/>
          </a:xfrm>
          <a:prstGeom prst="ellipse">
            <a:avLst/>
          </a:prstGeom>
          <a:solidFill>
            <a:srgbClr val="42A5F5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40233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E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3840480" y="393192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0" y="40233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47A1"/>
                </a:solidFill>
              </a:rPr>
              <a:t>Additional DFS/BFS - BFS Example 1 - Step 4/6</a:t>
            </a:r>
            <a:endParaRPr sz="19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414"/>
                </a:solidFill>
              </a:rPr>
              <a:t>Dequeue C, enqueue F.</a:t>
            </a:r>
            <a:endParaRPr sz="13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Visited: { A, B, C, D, E, F }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920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Current: C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Queue: [ D, E, F ]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292608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Order: A -&gt; B -&gt; C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7824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8796528" y="4846320"/>
            <a:ext cx="146304" cy="146304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7696" y="48188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8796528" y="5102352"/>
            <a:ext cx="146304" cy="146304"/>
          </a:xfrm>
          <a:prstGeom prst="ellipse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7696" y="50749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In stack/queue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8796528" y="5358383"/>
            <a:ext cx="146304" cy="146304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7696" y="533095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8796528" y="5614416"/>
            <a:ext cx="146304" cy="146304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7696" y="558698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>
            <a:off x="1828800" y="201168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3200" y="201168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280160" y="2926080"/>
            <a:ext cx="54864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0" y="2926080"/>
            <a:ext cx="54864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657600" y="2926080"/>
            <a:ext cx="36576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560320" y="182880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19202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A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B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FFB74D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C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1097280" y="3931920"/>
            <a:ext cx="365760" cy="365760"/>
          </a:xfrm>
          <a:prstGeom prst="ellipse">
            <a:avLst/>
          </a:prstGeom>
          <a:solidFill>
            <a:srgbClr val="42A5F5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19" y="40233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D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194560" y="3931920"/>
            <a:ext cx="365760" cy="365760"/>
          </a:xfrm>
          <a:prstGeom prst="ellipse">
            <a:avLst/>
          </a:prstGeom>
          <a:solidFill>
            <a:srgbClr val="42A5F5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40233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E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3840480" y="3931920"/>
            <a:ext cx="365760" cy="365760"/>
          </a:xfrm>
          <a:prstGeom prst="ellipse">
            <a:avLst/>
          </a:prstGeom>
          <a:solidFill>
            <a:srgbClr val="42A5F5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0" y="40233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47A1"/>
                </a:solidFill>
              </a:rPr>
              <a:t>Additional DFS/BFS - BFS Example 1 - Step 5/6</a:t>
            </a:r>
            <a:endParaRPr sz="19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414"/>
                </a:solidFill>
              </a:rPr>
              <a:t>Visit D then E.</a:t>
            </a:r>
            <a:endParaRPr sz="13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Visited: { A, B, C, D, E, F }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920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Current: E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Queue: [ F ]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292608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Order: A -&gt; B -&gt; C -&gt; D -&gt; E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7824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8796528" y="4846320"/>
            <a:ext cx="146304" cy="146304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7696" y="48188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8796528" y="5102352"/>
            <a:ext cx="146304" cy="146304"/>
          </a:xfrm>
          <a:prstGeom prst="ellipse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7696" y="50749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In stack/queue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8796528" y="5358383"/>
            <a:ext cx="146304" cy="146304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7696" y="533095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8796528" y="5614416"/>
            <a:ext cx="146304" cy="146304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7696" y="558698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>
            <a:off x="1828800" y="201168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3200" y="201168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280160" y="2926080"/>
            <a:ext cx="54864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0" y="2926080"/>
            <a:ext cx="54864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657600" y="2926080"/>
            <a:ext cx="36576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560320" y="182880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19202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A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B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C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1097280" y="393192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19" y="40233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D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194560" y="3931920"/>
            <a:ext cx="365760" cy="365760"/>
          </a:xfrm>
          <a:prstGeom prst="ellipse">
            <a:avLst/>
          </a:prstGeom>
          <a:solidFill>
            <a:srgbClr val="FFB74D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40233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E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3840480" y="3931920"/>
            <a:ext cx="365760" cy="365760"/>
          </a:xfrm>
          <a:prstGeom prst="ellipse">
            <a:avLst/>
          </a:prstGeom>
          <a:solidFill>
            <a:srgbClr val="42A5F5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0" y="40233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47A1"/>
                </a:solidFill>
              </a:rPr>
              <a:t>Additional DFS/BFS - BFS Example 1 - Step 6/6</a:t>
            </a:r>
            <a:endParaRPr sz="19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414"/>
                </a:solidFill>
              </a:rPr>
              <a:t>Visit F. Done.</a:t>
            </a:r>
            <a:endParaRPr sz="13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Visited: { A, B, C, D, E, F }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920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Current: F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Queue: [  ]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292608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Order: A -&gt; B -&gt; C -&gt; D -&gt; E -&gt; F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7824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8796528" y="4846320"/>
            <a:ext cx="146304" cy="146304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7696" y="48188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8796528" y="5102352"/>
            <a:ext cx="146304" cy="146304"/>
          </a:xfrm>
          <a:prstGeom prst="ellipse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7696" y="50749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In stack/queue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8796528" y="5358383"/>
            <a:ext cx="146304" cy="146304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7696" y="533095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8796528" y="5614416"/>
            <a:ext cx="146304" cy="146304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7696" y="558698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>
            <a:off x="1828800" y="201168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3200" y="201168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280160" y="2926080"/>
            <a:ext cx="54864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0" y="2926080"/>
            <a:ext cx="54864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657600" y="2926080"/>
            <a:ext cx="36576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560320" y="182880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19202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A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B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3474720" y="274320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28346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C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1097280" y="393192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19" y="40233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D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194560" y="393192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40233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E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3840480" y="3931920"/>
            <a:ext cx="365760" cy="365760"/>
          </a:xfrm>
          <a:prstGeom prst="ellipse">
            <a:avLst/>
          </a:prstGeom>
          <a:solidFill>
            <a:srgbClr val="FFB74D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0" y="40233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F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47A1"/>
                </a:solidFill>
              </a:rPr>
              <a:t>Additional DFS/BFS - BFS Example 2</a:t>
            </a:r>
            <a:endParaRPr sz="2800" b="1">
              <a:solidFill>
                <a:srgbClr val="0D47A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</a:rPr>
              <a:t>Step-by-step traversal with diagram updates in each slide</a:t>
            </a:r>
            <a:endParaRPr sz="1400" b="0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47A1"/>
                </a:solidFill>
              </a:rPr>
              <a:t>Additional DFS/BFS - BFS Example 2 - Step 1/7</a:t>
            </a:r>
            <a:endParaRPr sz="19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414"/>
                </a:solidFill>
              </a:rPr>
              <a:t>Enqueue P.</a:t>
            </a:r>
            <a:endParaRPr sz="13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Visited: { P }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920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Current: P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Queue: [ P ]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292608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Order: 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7824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8796528" y="4846320"/>
            <a:ext cx="146304" cy="146304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7696" y="48188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8796528" y="5102352"/>
            <a:ext cx="146304" cy="146304"/>
          </a:xfrm>
          <a:prstGeom prst="ellipse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7696" y="50749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In stack/queue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8796528" y="5358383"/>
            <a:ext cx="146304" cy="146304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7696" y="533095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8796528" y="5614416"/>
            <a:ext cx="146304" cy="146304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7696" y="558698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>
            <a:off x="1828800" y="192024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3200" y="192024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371600" y="2834640"/>
            <a:ext cx="45720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3474720" y="2834640"/>
            <a:ext cx="18288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474720" y="4023360"/>
            <a:ext cx="731520" cy="82296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FFB74D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P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1645920" y="265176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0" y="27432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Q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3474720" y="265176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27432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R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1188720" y="384048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016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S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291839" y="384048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T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023359" y="466344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0" y="475488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U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47A1"/>
                </a:solidFill>
              </a:rPr>
              <a:t>Additional DFS/BFS - BFS Example 2 - Step 2/7</a:t>
            </a:r>
            <a:endParaRPr sz="19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414"/>
                </a:solidFill>
              </a:rPr>
              <a:t>Dequeue P, enqueue Q,R.</a:t>
            </a:r>
            <a:endParaRPr sz="13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Visited: { P, Q, R }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920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Current: P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Queue: [ Q, R ]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292608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Order: P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7824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8796528" y="4846320"/>
            <a:ext cx="146304" cy="146304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7696" y="48188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8796528" y="5102352"/>
            <a:ext cx="146304" cy="146304"/>
          </a:xfrm>
          <a:prstGeom prst="ellipse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7696" y="50749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In stack/queue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8796528" y="5358383"/>
            <a:ext cx="146304" cy="146304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7696" y="533095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8796528" y="5614416"/>
            <a:ext cx="146304" cy="146304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7696" y="558698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>
            <a:off x="1828800" y="192024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3200" y="192024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371600" y="2834640"/>
            <a:ext cx="45720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3474720" y="2834640"/>
            <a:ext cx="18288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474720" y="4023360"/>
            <a:ext cx="731520" cy="82296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FFB74D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P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1645920" y="2651760"/>
            <a:ext cx="365760" cy="365760"/>
          </a:xfrm>
          <a:prstGeom prst="ellipse">
            <a:avLst/>
          </a:prstGeom>
          <a:solidFill>
            <a:srgbClr val="42A5F5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0" y="27432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Q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3474720" y="2651760"/>
            <a:ext cx="365760" cy="365760"/>
          </a:xfrm>
          <a:prstGeom prst="ellipse">
            <a:avLst/>
          </a:prstGeom>
          <a:solidFill>
            <a:srgbClr val="42A5F5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27432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R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1188720" y="384048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016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S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291839" y="384048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T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023359" y="466344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0" y="475488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U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47A1"/>
                </a:solidFill>
              </a:rPr>
              <a:t>Additional DFS/BFS - BFS Example 2 - Step 3/7</a:t>
            </a:r>
            <a:endParaRPr sz="19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414"/>
                </a:solidFill>
              </a:rPr>
              <a:t>Dequeue Q, enqueue S.</a:t>
            </a:r>
            <a:endParaRPr sz="13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Visited: { P, Q, R, S }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920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Current: Q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Queue: [ R, S ]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292608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Order: P -&gt; Q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7824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8796528" y="4846320"/>
            <a:ext cx="146304" cy="146304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7696" y="48188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8796528" y="5102352"/>
            <a:ext cx="146304" cy="146304"/>
          </a:xfrm>
          <a:prstGeom prst="ellipse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7696" y="50749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In stack/queue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8796528" y="5358383"/>
            <a:ext cx="146304" cy="146304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7696" y="533095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8796528" y="5614416"/>
            <a:ext cx="146304" cy="146304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7696" y="558698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>
            <a:off x="1828800" y="192024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3200" y="192024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371600" y="2834640"/>
            <a:ext cx="45720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3474720" y="2834640"/>
            <a:ext cx="18288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474720" y="4023360"/>
            <a:ext cx="731520" cy="82296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P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1645920" y="2651760"/>
            <a:ext cx="365760" cy="365760"/>
          </a:xfrm>
          <a:prstGeom prst="ellipse">
            <a:avLst/>
          </a:prstGeom>
          <a:solidFill>
            <a:srgbClr val="FFB74D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0" y="27432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Q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3474720" y="2651760"/>
            <a:ext cx="365760" cy="365760"/>
          </a:xfrm>
          <a:prstGeom prst="ellipse">
            <a:avLst/>
          </a:prstGeom>
          <a:solidFill>
            <a:srgbClr val="42A5F5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27432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R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1188720" y="3840480"/>
            <a:ext cx="365760" cy="365760"/>
          </a:xfrm>
          <a:prstGeom prst="ellipse">
            <a:avLst/>
          </a:prstGeom>
          <a:solidFill>
            <a:srgbClr val="42A5F5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016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S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291839" y="384048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T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023359" y="466344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0" y="475488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U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47A1"/>
                </a:solidFill>
              </a:rPr>
              <a:t>Additional DFS/BFS - BFS Example 2 - Step 4/7</a:t>
            </a:r>
            <a:endParaRPr sz="19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414"/>
                </a:solidFill>
              </a:rPr>
              <a:t>Dequeue R, enqueue T.</a:t>
            </a:r>
            <a:endParaRPr sz="13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Visited: { P, Q, R, S, T }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920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Current: R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Queue: [ S, T ]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292608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Order: P -&gt; Q -&gt; R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7824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8796528" y="4846320"/>
            <a:ext cx="146304" cy="146304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7696" y="48188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8796528" y="5102352"/>
            <a:ext cx="146304" cy="146304"/>
          </a:xfrm>
          <a:prstGeom prst="ellipse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7696" y="50749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In stack/queue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8796528" y="5358383"/>
            <a:ext cx="146304" cy="146304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7696" y="533095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8796528" y="5614416"/>
            <a:ext cx="146304" cy="146304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7696" y="558698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>
            <a:off x="1828800" y="192024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3200" y="192024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371600" y="2834640"/>
            <a:ext cx="45720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3474720" y="2834640"/>
            <a:ext cx="18288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474720" y="4023360"/>
            <a:ext cx="731520" cy="82296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P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1645920" y="265176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0" y="27432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Q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3474720" y="2651760"/>
            <a:ext cx="365760" cy="365760"/>
          </a:xfrm>
          <a:prstGeom prst="ellipse">
            <a:avLst/>
          </a:prstGeom>
          <a:solidFill>
            <a:srgbClr val="FFB74D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27432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R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1188720" y="3840480"/>
            <a:ext cx="365760" cy="365760"/>
          </a:xfrm>
          <a:prstGeom prst="ellipse">
            <a:avLst/>
          </a:prstGeom>
          <a:solidFill>
            <a:srgbClr val="42A5F5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016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S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291839" y="3840480"/>
            <a:ext cx="365760" cy="365760"/>
          </a:xfrm>
          <a:prstGeom prst="ellipse">
            <a:avLst/>
          </a:prstGeom>
          <a:solidFill>
            <a:srgbClr val="42A5F5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T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023359" y="466344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0" y="475488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U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47A1"/>
                </a:solidFill>
              </a:rPr>
              <a:t>Additional DFS/BFS - BFS Example 2 - Step 5/7</a:t>
            </a:r>
            <a:endParaRPr sz="19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414"/>
                </a:solidFill>
              </a:rPr>
              <a:t>Dequeue S (no new).</a:t>
            </a:r>
            <a:endParaRPr sz="13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Visited: { P, Q, R, S, T }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920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Current: S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Queue: [ T ]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292608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Order: P -&gt; Q -&gt; R -&gt; S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7824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8796528" y="4846320"/>
            <a:ext cx="146304" cy="146304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7696" y="48188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8796528" y="5102352"/>
            <a:ext cx="146304" cy="146304"/>
          </a:xfrm>
          <a:prstGeom prst="ellipse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7696" y="50749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In stack/queue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8796528" y="5358383"/>
            <a:ext cx="146304" cy="146304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7696" y="533095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8796528" y="5614416"/>
            <a:ext cx="146304" cy="146304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7696" y="558698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>
            <a:off x="1828800" y="192024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3200" y="192024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371600" y="2834640"/>
            <a:ext cx="45720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3474720" y="2834640"/>
            <a:ext cx="18288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474720" y="4023360"/>
            <a:ext cx="731520" cy="82296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P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1645920" y="265176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0" y="27432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Q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3474720" y="265176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27432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R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1188720" y="3840480"/>
            <a:ext cx="365760" cy="365760"/>
          </a:xfrm>
          <a:prstGeom prst="ellipse">
            <a:avLst/>
          </a:prstGeom>
          <a:solidFill>
            <a:srgbClr val="FFB74D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016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S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291839" y="3840480"/>
            <a:ext cx="365760" cy="365760"/>
          </a:xfrm>
          <a:prstGeom prst="ellipse">
            <a:avLst/>
          </a:prstGeom>
          <a:solidFill>
            <a:srgbClr val="42A5F5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T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023359" y="4663440"/>
            <a:ext cx="365760" cy="365760"/>
          </a:xfrm>
          <a:prstGeom prst="ellipse">
            <a:avLst/>
          </a:prstGeom>
          <a:solidFill>
            <a:srgbClr val="E6EBF0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0" y="475488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U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47A1"/>
                </a:solidFill>
              </a:rPr>
              <a:t>Additional DFS/BFS - BFS Example 2 - Step 6/7</a:t>
            </a:r>
            <a:endParaRPr sz="19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414"/>
                </a:solidFill>
              </a:rPr>
              <a:t>Dequeue T, enqueue U.</a:t>
            </a:r>
            <a:endParaRPr sz="13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Visited: { P, Q, R, S, T, U }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920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Current: T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Queue: [ U ]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292608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Order: P -&gt; Q -&gt; R -&gt; S -&gt; T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7824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8796528" y="4846320"/>
            <a:ext cx="146304" cy="146304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7696" y="48188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8796528" y="5102352"/>
            <a:ext cx="146304" cy="146304"/>
          </a:xfrm>
          <a:prstGeom prst="ellipse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7696" y="50749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In stack/queue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8796528" y="5358383"/>
            <a:ext cx="146304" cy="146304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7696" y="533095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8796528" y="5614416"/>
            <a:ext cx="146304" cy="146304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7696" y="558698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>
            <a:off x="1828800" y="192024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3200" y="192024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371600" y="2834640"/>
            <a:ext cx="45720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3474720" y="2834640"/>
            <a:ext cx="18288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474720" y="4023360"/>
            <a:ext cx="731520" cy="82296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P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1645920" y="265176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0" y="27432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Q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3474720" y="265176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27432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R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1188720" y="384048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016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S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291839" y="3840480"/>
            <a:ext cx="365760" cy="365760"/>
          </a:xfrm>
          <a:prstGeom prst="ellipse">
            <a:avLst/>
          </a:prstGeom>
          <a:solidFill>
            <a:srgbClr val="FFB74D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T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023359" y="4663440"/>
            <a:ext cx="365760" cy="365760"/>
          </a:xfrm>
          <a:prstGeom prst="ellipse">
            <a:avLst/>
          </a:prstGeom>
          <a:solidFill>
            <a:srgbClr val="42A5F5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0" y="475488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U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1612880" cy="6309360"/>
          </a:xfrm>
          <a:prstGeom prst="roundRect">
            <a:avLst/>
          </a:prstGeom>
          <a:solidFill>
            <a:srgbClr val="F5F7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D47A1"/>
                </a:solidFill>
              </a:rPr>
              <a:t>Additional DFS/BFS - BFS Example 2 - Step 7/7</a:t>
            </a:r>
            <a:endParaRPr sz="1900" b="1">
              <a:solidFill>
                <a:srgbClr val="0D47A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414"/>
                </a:solidFill>
              </a:rPr>
              <a:t>Dequeue U. Done.</a:t>
            </a:r>
            <a:endParaRPr sz="1300" b="0">
              <a:solidFill>
                <a:srgbClr val="14141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49640" y="640080"/>
            <a:ext cx="31089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822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Traversal Status</a:t>
            </a:r>
            <a:endParaRPr sz="1400" b="1">
              <a:solidFill>
                <a:srgbClr val="0D47A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0" y="12344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Visited: { P, Q, R, S, T, U }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0" y="1920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Current: U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Queue: [  ]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0" y="292608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414"/>
                </a:solidFill>
              </a:rPr>
              <a:t>Order: P -&gt; Q -&gt; R -&gt; S -&gt; T -&gt; U</a:t>
            </a:r>
            <a:endParaRPr sz="1100" b="0">
              <a:solidFill>
                <a:srgbClr val="141414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78240" y="4572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Legend</a:t>
            </a:r>
            <a:endParaRPr sz="1200" b="1">
              <a:solidFill>
                <a:srgbClr val="0D47A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8796528" y="4846320"/>
            <a:ext cx="146304" cy="146304"/>
          </a:xfrm>
          <a:prstGeom prst="ellipse">
            <a:avLst/>
          </a:prstGeom>
          <a:solidFill>
            <a:srgbClr val="E6EBF0"/>
          </a:solidFill>
          <a:ln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7696" y="48188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Not 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8796528" y="5102352"/>
            <a:ext cx="146304" cy="146304"/>
          </a:xfrm>
          <a:prstGeom prst="ellipse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7696" y="50749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In stack/queue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8796528" y="5358383"/>
            <a:ext cx="146304" cy="146304"/>
          </a:xfrm>
          <a:prstGeom prst="ellipse">
            <a:avLst/>
          </a:prstGeom>
          <a:solidFill>
            <a:srgbClr val="FFB74D"/>
          </a:solidFill>
          <a:ln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7696" y="533095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Current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8796528" y="5614416"/>
            <a:ext cx="146304" cy="146304"/>
          </a:xfrm>
          <a:prstGeom prst="ellipse">
            <a:avLst/>
          </a:prstGeom>
          <a:solidFill>
            <a:srgbClr val="66BB6A"/>
          </a:solidFill>
          <a:ln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7696" y="558698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</a:rPr>
              <a:t>Visited</a:t>
            </a:r>
            <a:endParaRPr sz="1000" b="0">
              <a:solidFill>
                <a:srgbClr val="141414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2920" y="1737360"/>
            <a:ext cx="7909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>
            <a:off x="1828800" y="192024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3200" y="1920240"/>
            <a:ext cx="914400" cy="91440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371600" y="2834640"/>
            <a:ext cx="45720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3474720" y="2834640"/>
            <a:ext cx="182880" cy="118872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474720" y="4023360"/>
            <a:ext cx="731520" cy="822960"/>
          </a:xfrm>
          <a:prstGeom prst="line">
            <a:avLst/>
          </a:prstGeom>
          <a:ln w="254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560320" y="173736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18288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P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1645920" y="265176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0" y="27432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Q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3474720" y="265176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274320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R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1188720" y="384048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0160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S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291839" y="3840480"/>
            <a:ext cx="365760" cy="365760"/>
          </a:xfrm>
          <a:prstGeom prst="ellipse">
            <a:avLst/>
          </a:prstGeom>
          <a:solidFill>
            <a:srgbClr val="66BB6A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79" y="393192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T</a:t>
            </a:r>
            <a:endParaRPr sz="1100" b="1">
              <a:solidFill>
                <a:srgbClr val="141414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023359" y="4663440"/>
            <a:ext cx="365760" cy="365760"/>
          </a:xfrm>
          <a:prstGeom prst="ellipse">
            <a:avLst/>
          </a:prstGeom>
          <a:solidFill>
            <a:srgbClr val="FFB74D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0" y="475488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41414"/>
                </a:solidFill>
              </a:rPr>
              <a:t>U</a:t>
            </a:r>
            <a:endParaRPr sz="1100" b="1">
              <a:solidFill>
                <a:srgbClr val="141414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79005</Words>
  <Application>WPS Presentation</Application>
  <PresentationFormat>On-screen Show (4:3)</PresentationFormat>
  <Paragraphs>6941</Paragraphs>
  <Slides>236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236</vt:i4>
      </vt:variant>
    </vt:vector>
  </HeadingPairs>
  <TitlesOfParts>
    <vt:vector size="247" baseType="lpstr">
      <vt:lpstr>Arial</vt:lpstr>
      <vt:lpstr>SimSun</vt:lpstr>
      <vt:lpstr>Wingdings</vt:lpstr>
      <vt:lpstr>Arial</vt:lpstr>
      <vt:lpstr>Courier New</vt:lpstr>
      <vt:lpstr>Calibri</vt:lpstr>
      <vt:lpstr>Microsoft YaHei</vt:lpstr>
      <vt:lpstr>Arial Unicode MS</vt:lpstr>
      <vt:lpstr>Consolas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Ramakrishna gandi</cp:lastModifiedBy>
  <cp:revision>15</cp:revision>
  <dcterms:created xsi:type="dcterms:W3CDTF">2013-01-27T09:14:00Z</dcterms:created>
  <dcterms:modified xsi:type="dcterms:W3CDTF">2026-06-07T10:58:40Z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693F6ADA6031490095B9E9602494F9F2_12</vt:lpwstr>
  </property>
  <property fmtid="{D5CDD505-2E9C-101B-9397-08002B2CF9AE}" pid="3" name="KSOProductBuildVer">
    <vt:lpwstr>1033-12.1.0.26880</vt:lpwstr>
  </property>
</Properties>
</file>